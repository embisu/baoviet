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Quốc khánh 02/09</a:t>
            </a:r>
            <a:endParaRPr lang="en-US" sz="1550" dirty="0"/>
          </a:p>
        </p:txBody>
      </p:sp>
      <p:sp>
        <p:nvSpPr>
          <p:cNvPr id="10" name="Text 7"/>
          <p:cNvSpPr/>
          <p:nvPr/>
        </p:nvSpPr>
        <p:spPr>
          <a:xfrm>
            <a:off x="1024128" y="2816352"/>
            <a:ext cx="2048256"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9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Huế - thành phố của ký ức</a:t>
            </a:r>
            <a:endParaRPr lang="en-US" sz="1550" dirty="0"/>
          </a:p>
        </p:txBody>
      </p:sp>
      <p:sp>
        <p:nvSpPr>
          <p:cNvPr id="15" name="Text 12"/>
          <p:cNvSpPr/>
          <p:nvPr/>
        </p:nvSpPr>
        <p:spPr>
          <a:xfrm>
            <a:off x="3694176" y="2816352"/>
            <a:ext cx="2048256"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9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Đua ghe có visual power</a:t>
            </a:r>
            <a:endParaRPr lang="en-US" sz="1550" dirty="0"/>
          </a:p>
        </p:txBody>
      </p:sp>
      <p:sp>
        <p:nvSpPr>
          <p:cNvPr id="20" name="Text 17"/>
          <p:cNvSpPr/>
          <p:nvPr/>
        </p:nvSpPr>
        <p:spPr>
          <a:xfrm>
            <a:off x="6364224" y="2816352"/>
            <a:ext cx="2048256"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9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Bảo Việt Nhân Thọ có right to play</a:t>
            </a:r>
            <a:endParaRPr lang="en-US" sz="1550" dirty="0"/>
          </a:p>
        </p:txBody>
      </p:sp>
      <p:sp>
        <p:nvSpPr>
          <p:cNvPr id="25" name="Text 22"/>
          <p:cNvSpPr/>
          <p:nvPr/>
        </p:nvSpPr>
        <p:spPr>
          <a:xfrm>
            <a:off x="9034272" y="2816352"/>
            <a:ext cx="2157984"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9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Livestream multi-layer</a:t>
            </a:r>
            <a:endParaRPr lang="en-US" sz="1550" dirty="0"/>
          </a:p>
        </p:txBody>
      </p:sp>
      <p:sp>
        <p:nvSpPr>
          <p:cNvPr id="10" name="Text 7"/>
          <p:cNvSpPr/>
          <p:nvPr/>
        </p:nvSpPr>
        <p:spPr>
          <a:xfrm>
            <a:off x="1024128" y="2852928"/>
            <a:ext cx="1993392"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Có MC, visual package và narrative thương hiệu.</a:t>
            </a:r>
            <a:endParaRPr lang="en-US" sz="9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Instant newsroom</a:t>
            </a:r>
            <a:endParaRPr lang="en-US" sz="1550" dirty="0"/>
          </a:p>
        </p:txBody>
      </p:sp>
      <p:sp>
        <p:nvSpPr>
          <p:cNvPr id="15" name="Text 12"/>
          <p:cNvSpPr/>
          <p:nvPr/>
        </p:nvSpPr>
        <p:spPr>
          <a:xfrm>
            <a:off x="3621024" y="2852928"/>
            <a:ext cx="1993392"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Ảnh nhanh, clip nhanh, quote nhanh cho báo chí.</a:t>
            </a:r>
            <a:endParaRPr lang="en-US" sz="9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Reels / TikTok</a:t>
            </a:r>
            <a:endParaRPr lang="en-US" sz="1550" dirty="0"/>
          </a:p>
        </p:txBody>
      </p:sp>
      <p:sp>
        <p:nvSpPr>
          <p:cNvPr id="20" name="Text 17"/>
          <p:cNvSpPr/>
          <p:nvPr/>
        </p:nvSpPr>
        <p:spPr>
          <a:xfrm>
            <a:off x="6217920" y="2852928"/>
            <a:ext cx="1993392"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Cắt ngay từ opening ritual, tăng tốc, trao cúp.</a:t>
            </a:r>
            <a:endParaRPr lang="en-US" sz="9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Local x national</a:t>
            </a:r>
            <a:endParaRPr lang="en-US" sz="1550" dirty="0"/>
          </a:p>
        </p:txBody>
      </p:sp>
      <p:sp>
        <p:nvSpPr>
          <p:cNvPr id="25" name="Text 22"/>
          <p:cNvSpPr/>
          <p:nvPr/>
        </p:nvSpPr>
        <p:spPr>
          <a:xfrm>
            <a:off x="8814816" y="2852928"/>
            <a:ext cx="2368296"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Travel, culture, family, sports creators.</a:t>
            </a:r>
            <a:endParaRPr lang="en-US" sz="9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Awareness + trust</a:t>
            </a:r>
            <a:endParaRPr lang="en-US" sz="1550" dirty="0"/>
          </a:p>
        </p:txBody>
      </p:sp>
      <p:sp>
        <p:nvSpPr>
          <p:cNvPr id="10" name="Text 7"/>
          <p:cNvSpPr/>
          <p:nvPr/>
        </p:nvSpPr>
        <p:spPr>
          <a:xfrm>
            <a:off x="1024128" y="2816352"/>
            <a:ext cx="2066544"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Độ phủ lớn đi cùng chiều sâu cảm nhận.</a:t>
            </a:r>
            <a:endParaRPr lang="en-US" sz="9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Relevance + pride</a:t>
            </a:r>
            <a:endParaRPr lang="en-US" sz="1550" dirty="0"/>
          </a:p>
        </p:txBody>
      </p:sp>
      <p:sp>
        <p:nvSpPr>
          <p:cNvPr id="15" name="Text 12"/>
          <p:cNvSpPr/>
          <p:nvPr/>
        </p:nvSpPr>
        <p:spPr>
          <a:xfrm>
            <a:off x="3675888" y="2816352"/>
            <a:ext cx="2066544"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Thương hiệu hiện diện như người gìn giữ.</a:t>
            </a:r>
            <a:endParaRPr lang="en-US" sz="9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237744"/>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Lead + momentum</a:t>
            </a:r>
            <a:endParaRPr lang="en-US" sz="1550" dirty="0"/>
          </a:p>
        </p:txBody>
      </p:sp>
      <p:sp>
        <p:nvSpPr>
          <p:cNvPr id="20" name="Text 17"/>
          <p:cNvSpPr/>
          <p:nvPr/>
        </p:nvSpPr>
        <p:spPr>
          <a:xfrm>
            <a:off x="6327648" y="2816352"/>
            <a:ext cx="2066544" cy="182880"/>
          </a:xfrm>
          <a:prstGeom prst="rect">
            <a:avLst/>
          </a:prstGeom>
          <a:noFill/>
          <a:ln/>
        </p:spPr>
        <p:txBody>
          <a:bodyPr wrap="square" lIns="0" tIns="0" rIns="0" bIns="0" rtlCol="0" anchor="t"/>
          <a:lstStyle/>
          <a:p>
            <a:pPr algn="l" indent="0" marL="0">
              <a:buNone/>
            </a:pPr>
            <a:r>
              <a:rPr lang="en-US" sz="980" dirty="0">
                <a:solidFill>
                  <a:srgbClr val="203040"/>
                </a:solidFill>
                <a:latin typeface="Barlow" pitchFamily="34" charset="0"/>
                <a:ea typeface="Barlow" pitchFamily="34" charset="-122"/>
                <a:cs typeface="Barlow" pitchFamily="34" charset="-120"/>
              </a:rPr>
              <a:t>Tạo quan tâm chất lượng thay vì lead thô.</a:t>
            </a:r>
            <a:endParaRPr lang="en-US" sz="980" dirty="0"/>
          </a:p>
        </p:txBody>
      </p:sp>
      <p:sp>
        <p:nvSpPr>
          <p:cNvPr id="21" name="Shape 18"/>
          <p:cNvSpPr/>
          <p:nvPr/>
        </p:nvSpPr>
        <p:spPr>
          <a:xfrm>
            <a:off x="822960" y="3255264"/>
            <a:ext cx="5349240" cy="2148840"/>
          </a:xfrm>
          <a:prstGeom prst="roundRect">
            <a:avLst>
              <a:gd name="adj" fmla="val 2128"/>
            </a:avLst>
          </a:prstGeom>
          <a:solidFill>
            <a:srgbClr val="EEF5FB"/>
          </a:solidFill>
          <a:ln w="12700">
            <a:solidFill>
              <a:srgbClr val="D8E0E8"/>
            </a:solidFill>
            <a:prstDash val="solid"/>
          </a:ln>
        </p:spPr>
      </p:sp>
      <p:sp>
        <p:nvSpPr>
          <p:cNvPr id="22" name="Text 19"/>
          <p:cNvSpPr/>
          <p:nvPr/>
        </p:nvSpPr>
        <p:spPr>
          <a:xfrm>
            <a:off x="1078992" y="3511296"/>
            <a:ext cx="201168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IMPACT ACROSS THE FUNNEL</a:t>
            </a:r>
            <a:endParaRPr lang="en-US" sz="950" dirty="0"/>
          </a:p>
        </p:txBody>
      </p:sp>
      <p:sp>
        <p:nvSpPr>
          <p:cNvPr id="23" name="Text 20"/>
          <p:cNvSpPr/>
          <p:nvPr/>
        </p:nvSpPr>
        <p:spPr>
          <a:xfrm>
            <a:off x="1078992" y="3840480"/>
            <a:ext cx="4480560" cy="530352"/>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Awareness mạnh hơn. Trust sâu hơn. Relevance văn hóa rõ hơn.</a:t>
            </a:r>
            <a:endParaRPr lang="en-US" sz="2200" dirty="0"/>
          </a:p>
        </p:txBody>
      </p:sp>
      <p:sp>
        <p:nvSpPr>
          <p:cNvPr id="24" name="Text 21"/>
          <p:cNvSpPr/>
          <p:nvPr/>
        </p:nvSpPr>
        <p:spPr>
          <a:xfrm>
            <a:off x="1078992" y="4590288"/>
            <a:ext cx="4526280" cy="42062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Đề xuất này không chỉ tạo độ phủ cho ngày đua, mà còn giúp thương hiệu được nhớ bằng một vai trò có ý nghĩa và có khả năng tích lũy.</a:t>
            </a:r>
            <a:endParaRPr lang="en-US" sz="1110" dirty="0"/>
          </a:p>
        </p:txBody>
      </p:sp>
      <p:sp>
        <p:nvSpPr>
          <p:cNvPr id="25" name="Shape 22"/>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6" name="Text 23"/>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7" name="Text 24"/>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8" name="Text 25"/>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9" name="Text 26"/>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KPI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Đo theo ba lớp: sức lan tỏa, chất lượng cảm nhận và động lực kinh doanh.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KPI cần đủ executive để boardroom đọc nhanh, nhưng vẫn đủ rõ để đội triển khai bám vào.</a:t>
            </a:r>
            <a:endParaRPr lang="en-US" sz="1100" dirty="0"/>
          </a:p>
        </p:txBody>
      </p:sp>
      <p:sp>
        <p:nvSpPr>
          <p:cNvPr id="6" name="Shape 3"/>
          <p:cNvSpPr/>
          <p:nvPr/>
        </p:nvSpPr>
        <p:spPr>
          <a:xfrm>
            <a:off x="822960" y="2048256"/>
            <a:ext cx="5074920" cy="3328416"/>
          </a:xfrm>
          <a:prstGeom prst="roundRect">
            <a:avLst>
              <a:gd name="adj" fmla="val 1374"/>
            </a:avLst>
          </a:prstGeom>
          <a:solidFill>
            <a:srgbClr val="FFFFFF"/>
          </a:solidFill>
          <a:ln w="12700">
            <a:solidFill>
              <a:srgbClr val="D8E0E8"/>
            </a:solidFill>
            <a:prstDash val="solid"/>
          </a:ln>
        </p:spPr>
      </p:sp>
      <p:sp>
        <p:nvSpPr>
          <p:cNvPr id="7" name="Text 4"/>
          <p:cNvSpPr/>
          <p:nvPr/>
        </p:nvSpPr>
        <p:spPr>
          <a:xfrm>
            <a:off x="1060704" y="2304288"/>
            <a:ext cx="109728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KPI</a:t>
            </a:r>
            <a:endParaRPr lang="en-US" sz="1000" dirty="0"/>
          </a:p>
        </p:txBody>
      </p:sp>
      <p:sp>
        <p:nvSpPr>
          <p:cNvPr id="8" name="Shape 5"/>
          <p:cNvSpPr/>
          <p:nvPr/>
        </p:nvSpPr>
        <p:spPr>
          <a:xfrm>
            <a:off x="1060704" y="2651760"/>
            <a:ext cx="4599432" cy="621792"/>
          </a:xfrm>
          <a:prstGeom prst="roundRect">
            <a:avLst>
              <a:gd name="adj" fmla="val 7353"/>
            </a:avLst>
          </a:prstGeom>
          <a:solidFill>
            <a:srgbClr val="FFFFFF"/>
          </a:solidFill>
          <a:ln w="12700">
            <a:solidFill>
              <a:srgbClr val="D8E0E8"/>
            </a:solidFill>
            <a:prstDash val="solid"/>
          </a:ln>
        </p:spPr>
      </p:sp>
      <p:sp>
        <p:nvSpPr>
          <p:cNvPr id="9" name="Text 6"/>
          <p:cNvSpPr/>
          <p:nvPr/>
        </p:nvSpPr>
        <p:spPr>
          <a:xfrm>
            <a:off x="1261872" y="2798064"/>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Visibility</a:t>
            </a:r>
            <a:endParaRPr lang="en-US" sz="1300" dirty="0"/>
          </a:p>
        </p:txBody>
      </p:sp>
      <p:sp>
        <p:nvSpPr>
          <p:cNvPr id="10" name="Text 7"/>
          <p:cNvSpPr/>
          <p:nvPr/>
        </p:nvSpPr>
        <p:spPr>
          <a:xfrm>
            <a:off x="1261872" y="2999232"/>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Reach, impressions, PR mentions, livestream views</a:t>
            </a:r>
            <a:endParaRPr lang="en-US" sz="1060" dirty="0"/>
          </a:p>
        </p:txBody>
      </p:sp>
      <p:sp>
        <p:nvSpPr>
          <p:cNvPr id="11" name="Shape 8"/>
          <p:cNvSpPr/>
          <p:nvPr/>
        </p:nvSpPr>
        <p:spPr>
          <a:xfrm>
            <a:off x="1060704" y="3493008"/>
            <a:ext cx="4599432" cy="621792"/>
          </a:xfrm>
          <a:prstGeom prst="roundRect">
            <a:avLst>
              <a:gd name="adj" fmla="val 7353"/>
            </a:avLst>
          </a:prstGeom>
          <a:solidFill>
            <a:srgbClr val="EEF5FB"/>
          </a:solidFill>
          <a:ln w="12700">
            <a:solidFill>
              <a:srgbClr val="D8E0E8"/>
            </a:solidFill>
            <a:prstDash val="solid"/>
          </a:ln>
        </p:spPr>
      </p:sp>
      <p:sp>
        <p:nvSpPr>
          <p:cNvPr id="12" name="Text 9"/>
          <p:cNvSpPr/>
          <p:nvPr/>
        </p:nvSpPr>
        <p:spPr>
          <a:xfrm>
            <a:off x="1261872" y="3639312"/>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Trust &amp; message fit</a:t>
            </a:r>
            <a:endParaRPr lang="en-US" sz="1300" dirty="0"/>
          </a:p>
        </p:txBody>
      </p:sp>
      <p:sp>
        <p:nvSpPr>
          <p:cNvPr id="13" name="Text 10"/>
          <p:cNvSpPr/>
          <p:nvPr/>
        </p:nvSpPr>
        <p:spPr>
          <a:xfrm>
            <a:off x="1261872" y="3840480"/>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Sentiment, message association, share of positive voice</a:t>
            </a:r>
            <a:endParaRPr lang="en-US" sz="1060" dirty="0"/>
          </a:p>
        </p:txBody>
      </p:sp>
      <p:sp>
        <p:nvSpPr>
          <p:cNvPr id="14" name="Shape 11"/>
          <p:cNvSpPr/>
          <p:nvPr/>
        </p:nvSpPr>
        <p:spPr>
          <a:xfrm>
            <a:off x="1060704" y="4334256"/>
            <a:ext cx="4599432" cy="621792"/>
          </a:xfrm>
          <a:prstGeom prst="roundRect">
            <a:avLst>
              <a:gd name="adj" fmla="val 7353"/>
            </a:avLst>
          </a:prstGeom>
          <a:solidFill>
            <a:srgbClr val="FFFFFF"/>
          </a:solidFill>
          <a:ln w="12700">
            <a:solidFill>
              <a:srgbClr val="D8E0E8"/>
            </a:solidFill>
            <a:prstDash val="solid"/>
          </a:ln>
        </p:spPr>
      </p:sp>
      <p:sp>
        <p:nvSpPr>
          <p:cNvPr id="15" name="Text 12"/>
          <p:cNvSpPr/>
          <p:nvPr/>
        </p:nvSpPr>
        <p:spPr>
          <a:xfrm>
            <a:off x="1261872" y="4480560"/>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Engagement quality</a:t>
            </a:r>
            <a:endParaRPr lang="en-US" sz="1300" dirty="0"/>
          </a:p>
        </p:txBody>
      </p:sp>
      <p:sp>
        <p:nvSpPr>
          <p:cNvPr id="16" name="Text 13"/>
          <p:cNvSpPr/>
          <p:nvPr/>
        </p:nvSpPr>
        <p:spPr>
          <a:xfrm>
            <a:off x="1261872" y="4681728"/>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UGC volume, completion rate, dwell time, participation</a:t>
            </a:r>
            <a:endParaRPr lang="en-US" sz="1060" dirty="0"/>
          </a:p>
        </p:txBody>
      </p:sp>
      <p:sp>
        <p:nvSpPr>
          <p:cNvPr id="17" name="Shape 14"/>
          <p:cNvSpPr/>
          <p:nvPr/>
        </p:nvSpPr>
        <p:spPr>
          <a:xfrm>
            <a:off x="6236208" y="2048256"/>
            <a:ext cx="5148072" cy="3328416"/>
          </a:xfrm>
          <a:prstGeom prst="roundRect">
            <a:avLst>
              <a:gd name="adj" fmla="val 1374"/>
            </a:avLst>
          </a:prstGeom>
          <a:solidFill>
            <a:srgbClr val="EEF5FB"/>
          </a:solidFill>
          <a:ln w="12700">
            <a:solidFill>
              <a:srgbClr val="D8E0E8"/>
            </a:solidFill>
            <a:prstDash val="solid"/>
          </a:ln>
        </p:spPr>
      </p:sp>
      <p:sp>
        <p:nvSpPr>
          <p:cNvPr id="18" name="Text 15"/>
          <p:cNvSpPr/>
          <p:nvPr/>
        </p:nvSpPr>
        <p:spPr>
          <a:xfrm>
            <a:off x="6473952" y="2304288"/>
            <a:ext cx="182880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BUSINESS &amp; PROPERTY KPI</a:t>
            </a:r>
            <a:endParaRPr lang="en-US" sz="1000" dirty="0"/>
          </a:p>
        </p:txBody>
      </p:sp>
      <p:sp>
        <p:nvSpPr>
          <p:cNvPr id="19" name="Shape 16"/>
          <p:cNvSpPr/>
          <p:nvPr/>
        </p:nvSpPr>
        <p:spPr>
          <a:xfrm>
            <a:off x="6473952" y="2651760"/>
            <a:ext cx="4672584" cy="621792"/>
          </a:xfrm>
          <a:prstGeom prst="roundRect">
            <a:avLst>
              <a:gd name="adj" fmla="val 7353"/>
            </a:avLst>
          </a:prstGeom>
          <a:solidFill>
            <a:srgbClr val="FFFFFF"/>
          </a:solidFill>
          <a:ln w="12700">
            <a:solidFill>
              <a:srgbClr val="D8E0E8"/>
            </a:solidFill>
            <a:prstDash val="solid"/>
          </a:ln>
        </p:spPr>
      </p:sp>
      <p:sp>
        <p:nvSpPr>
          <p:cNvPr id="20" name="Text 17"/>
          <p:cNvSpPr/>
          <p:nvPr/>
        </p:nvSpPr>
        <p:spPr>
          <a:xfrm>
            <a:off x="6675120" y="2798064"/>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Commercial momentum</a:t>
            </a:r>
            <a:endParaRPr lang="en-US" sz="1300" dirty="0"/>
          </a:p>
        </p:txBody>
      </p:sp>
      <p:sp>
        <p:nvSpPr>
          <p:cNvPr id="21" name="Text 18"/>
          <p:cNvSpPr/>
          <p:nvPr/>
        </p:nvSpPr>
        <p:spPr>
          <a:xfrm>
            <a:off x="6675120" y="2999232"/>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Lead capture, qualified lead, consultation request</a:t>
            </a:r>
            <a:endParaRPr lang="en-US" sz="1060" dirty="0"/>
          </a:p>
        </p:txBody>
      </p:sp>
      <p:sp>
        <p:nvSpPr>
          <p:cNvPr id="22" name="Shape 19"/>
          <p:cNvSpPr/>
          <p:nvPr/>
        </p:nvSpPr>
        <p:spPr>
          <a:xfrm>
            <a:off x="6473952" y="3493008"/>
            <a:ext cx="4672584" cy="621792"/>
          </a:xfrm>
          <a:prstGeom prst="roundRect">
            <a:avLst>
              <a:gd name="adj" fmla="val 7353"/>
            </a:avLst>
          </a:prstGeom>
          <a:solidFill>
            <a:srgbClr val="F8F3E8"/>
          </a:solidFill>
          <a:ln w="12700">
            <a:solidFill>
              <a:srgbClr val="D8E0E8"/>
            </a:solidFill>
            <a:prstDash val="solid"/>
          </a:ln>
        </p:spPr>
      </p:sp>
      <p:sp>
        <p:nvSpPr>
          <p:cNvPr id="23" name="Text 20"/>
          <p:cNvSpPr/>
          <p:nvPr/>
        </p:nvSpPr>
        <p:spPr>
          <a:xfrm>
            <a:off x="6675120" y="3639312"/>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Property strength</a:t>
            </a:r>
            <a:endParaRPr lang="en-US" sz="1300" dirty="0"/>
          </a:p>
        </p:txBody>
      </p:sp>
      <p:sp>
        <p:nvSpPr>
          <p:cNvPr id="24" name="Text 21"/>
          <p:cNvSpPr/>
          <p:nvPr/>
        </p:nvSpPr>
        <p:spPr>
          <a:xfrm>
            <a:off x="6675120" y="3840480"/>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Partner interest, return intent, year-2 sponsorship premium</a:t>
            </a:r>
            <a:endParaRPr lang="en-US" sz="1060" dirty="0"/>
          </a:p>
        </p:txBody>
      </p:sp>
      <p:sp>
        <p:nvSpPr>
          <p:cNvPr id="25" name="Shape 22"/>
          <p:cNvSpPr/>
          <p:nvPr/>
        </p:nvSpPr>
        <p:spPr>
          <a:xfrm>
            <a:off x="6473952" y="4334256"/>
            <a:ext cx="4672584" cy="621792"/>
          </a:xfrm>
          <a:prstGeom prst="roundRect">
            <a:avLst>
              <a:gd name="adj" fmla="val 7353"/>
            </a:avLst>
          </a:prstGeom>
          <a:solidFill>
            <a:srgbClr val="F8F3E8"/>
          </a:solidFill>
          <a:ln w="12700">
            <a:solidFill>
              <a:srgbClr val="D8E0E8"/>
            </a:solidFill>
            <a:prstDash val="solid"/>
          </a:ln>
        </p:spPr>
      </p:sp>
      <p:sp>
        <p:nvSpPr>
          <p:cNvPr id="26" name="Text 23"/>
          <p:cNvSpPr/>
          <p:nvPr/>
        </p:nvSpPr>
        <p:spPr>
          <a:xfrm>
            <a:off x="6675120" y="4480560"/>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Success definition</a:t>
            </a:r>
            <a:endParaRPr lang="en-US" sz="1300" dirty="0"/>
          </a:p>
        </p:txBody>
      </p:sp>
      <p:sp>
        <p:nvSpPr>
          <p:cNvPr id="27" name="Text 24"/>
          <p:cNvSpPr/>
          <p:nvPr/>
        </p:nvSpPr>
        <p:spPr>
          <a:xfrm>
            <a:off x="6675120" y="4681728"/>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Brand được gắn với vai trò giữ nhịp gia đình và tạo quan tâm thực sự</a:t>
            </a:r>
            <a:endParaRPr lang="en-US" sz="106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ANNUAL SIGNATURE PROPERTY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signature property mạnh sẽ làm điều mà media buy không làm được: càng lặp lại càng có giá trị.</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Nếu được xây đúng từ năm đầu, giải đua này có thể trở thành tài sản văn hóa thường niên mang tên Bảo Việt Nhân Thọ.</a:t>
            </a:r>
            <a:endParaRPr lang="en-US" sz="1100" dirty="0"/>
          </a:p>
        </p:txBody>
      </p:sp>
      <p:sp>
        <p:nvSpPr>
          <p:cNvPr id="6" name="Shape 3"/>
          <p:cNvSpPr/>
          <p:nvPr/>
        </p:nvSpPr>
        <p:spPr>
          <a:xfrm>
            <a:off x="822960" y="2139696"/>
            <a:ext cx="3246120"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86000"/>
            <a:ext cx="2953512" cy="45720"/>
          </a:xfrm>
          <a:prstGeom prst="rect">
            <a:avLst/>
          </a:prstGeom>
          <a:solidFill>
            <a:srgbClr val="C99211"/>
          </a:solidFill>
          <a:ln w="12700">
            <a:solidFill>
              <a:srgbClr val="C99211"/>
            </a:solidFill>
            <a:prstDash val="solid"/>
          </a:ln>
        </p:spPr>
      </p:sp>
      <p:sp>
        <p:nvSpPr>
          <p:cNvPr id="8" name="Text 5"/>
          <p:cNvSpPr/>
          <p:nvPr/>
        </p:nvSpPr>
        <p:spPr>
          <a:xfrm>
            <a:off x="10241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1</a:t>
            </a:r>
            <a:endParaRPr lang="en-US" sz="920" dirty="0"/>
          </a:p>
        </p:txBody>
      </p:sp>
      <p:sp>
        <p:nvSpPr>
          <p:cNvPr id="9" name="Text 6"/>
          <p:cNvSpPr/>
          <p:nvPr/>
        </p:nvSpPr>
        <p:spPr>
          <a:xfrm>
            <a:off x="10241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Birth</a:t>
            </a:r>
            <a:endParaRPr lang="en-US" sz="1700" dirty="0"/>
          </a:p>
        </p:txBody>
      </p:sp>
      <p:sp>
        <p:nvSpPr>
          <p:cNvPr id="10" name="Text 7"/>
          <p:cNvSpPr/>
          <p:nvPr/>
        </p:nvSpPr>
        <p:spPr>
          <a:xfrm>
            <a:off x="10241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naming rights, sinh ra Big Idea và 3 WOW moments, tạo cảm nhận rằng đây là cuộc chơi nghiêm túc và xứng tầm.</a:t>
            </a:r>
            <a:endParaRPr lang="en-US" sz="1080" dirty="0"/>
          </a:p>
        </p:txBody>
      </p:sp>
      <p:sp>
        <p:nvSpPr>
          <p:cNvPr id="11" name="Shape 8"/>
          <p:cNvSpPr/>
          <p:nvPr/>
        </p:nvSpPr>
        <p:spPr>
          <a:xfrm>
            <a:off x="4480560" y="2139696"/>
            <a:ext cx="3246120"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626864" y="2286000"/>
            <a:ext cx="2953512" cy="45720"/>
          </a:xfrm>
          <a:prstGeom prst="rect">
            <a:avLst/>
          </a:prstGeom>
          <a:solidFill>
            <a:srgbClr val="0B6CB8"/>
          </a:solidFill>
          <a:ln w="12700">
            <a:solidFill>
              <a:srgbClr val="0B6CB8"/>
            </a:solidFill>
            <a:prstDash val="solid"/>
          </a:ln>
        </p:spPr>
      </p:sp>
      <p:sp>
        <p:nvSpPr>
          <p:cNvPr id="13" name="Text 10"/>
          <p:cNvSpPr/>
          <p:nvPr/>
        </p:nvSpPr>
        <p:spPr>
          <a:xfrm>
            <a:off x="4681728" y="2414016"/>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YEAR 2</a:t>
            </a:r>
            <a:endParaRPr lang="en-US" sz="920" dirty="0"/>
          </a:p>
        </p:txBody>
      </p:sp>
      <p:sp>
        <p:nvSpPr>
          <p:cNvPr id="14" name="Text 11"/>
          <p:cNvSpPr/>
          <p:nvPr/>
        </p:nvSpPr>
        <p:spPr>
          <a:xfrm>
            <a:off x="46817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Scale</a:t>
            </a:r>
            <a:endParaRPr lang="en-US" sz="1700" dirty="0"/>
          </a:p>
        </p:txBody>
      </p:sp>
      <p:sp>
        <p:nvSpPr>
          <p:cNvPr id="15" name="Text 12"/>
          <p:cNvSpPr/>
          <p:nvPr/>
        </p:nvSpPr>
        <p:spPr>
          <a:xfrm>
            <a:off x="46817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Mở rộng thành cultural week, tourism tie-in, family content platform và định giá lại premium tài trợ.</a:t>
            </a:r>
            <a:endParaRPr lang="en-US" sz="1080" dirty="0"/>
          </a:p>
        </p:txBody>
      </p:sp>
      <p:sp>
        <p:nvSpPr>
          <p:cNvPr id="16" name="Shape 13"/>
          <p:cNvSpPr/>
          <p:nvPr/>
        </p:nvSpPr>
        <p:spPr>
          <a:xfrm>
            <a:off x="8138160" y="2139696"/>
            <a:ext cx="3246120"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84464" y="2286000"/>
            <a:ext cx="2953512" cy="45720"/>
          </a:xfrm>
          <a:prstGeom prst="rect">
            <a:avLst/>
          </a:prstGeom>
          <a:solidFill>
            <a:srgbClr val="C99211"/>
          </a:solidFill>
          <a:ln w="12700">
            <a:solidFill>
              <a:srgbClr val="C99211"/>
            </a:solidFill>
            <a:prstDash val="solid"/>
          </a:ln>
        </p:spPr>
      </p:sp>
      <p:sp>
        <p:nvSpPr>
          <p:cNvPr id="18" name="Text 15"/>
          <p:cNvSpPr/>
          <p:nvPr/>
        </p:nvSpPr>
        <p:spPr>
          <a:xfrm>
            <a:off x="83393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3+</a:t>
            </a:r>
            <a:endParaRPr lang="en-US" sz="920" dirty="0"/>
          </a:p>
        </p:txBody>
      </p:sp>
      <p:sp>
        <p:nvSpPr>
          <p:cNvPr id="19" name="Text 16"/>
          <p:cNvSpPr/>
          <p:nvPr/>
        </p:nvSpPr>
        <p:spPr>
          <a:xfrm>
            <a:off x="83393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Own the ritual</a:t>
            </a:r>
            <a:endParaRPr lang="en-US" sz="1700" dirty="0"/>
          </a:p>
        </p:txBody>
      </p:sp>
      <p:sp>
        <p:nvSpPr>
          <p:cNvPr id="20" name="Text 17"/>
          <p:cNvSpPr/>
          <p:nvPr/>
        </p:nvSpPr>
        <p:spPr>
          <a:xfrm>
            <a:off x="83393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event thành nghi lễ văn hóa - thương hiệu mà công chúng chờ đợi mỗi mùa Quốc khánh.</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KẾT LUẬN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498" b="1" dirty="0">
                <a:solidFill>
                  <a:srgbClr val="FFFFFF"/>
                </a:solidFill>
                <a:latin typeface="Barlow" pitchFamily="34" charset="0"/>
                <a:ea typeface="Barlow" pitchFamily="34" charset="-122"/>
                <a:cs typeface="Barlow" pitchFamily="34" charset="-120"/>
              </a:rPr>
              <a:t>Chúng ta không chỉ tài trợ một cuộc đua. Chúng ta giữ cho dòng chảy gia đình được tiếp tục.</a:t>
            </a:r>
            <a:endParaRPr lang="en-US" sz="2498"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Nếu làm đúng, Bảo Việt Nhân Thọ sẽ không chỉ hiện diện trong ngày đua 2026. Thương hiệu sẽ hiện diện trong một ký ức văn hóa sống cùng nhiều mùa tiếp theo.</a:t>
            </a:r>
            <a:endParaRPr lang="en-US" sz="1400" dirty="0"/>
          </a:p>
        </p:txBody>
      </p:sp>
      <p:sp>
        <p:nvSpPr>
          <p:cNvPr id="8" name="Shape 5"/>
          <p:cNvSpPr/>
          <p:nvPr/>
        </p:nvSpPr>
        <p:spPr>
          <a:xfrm>
            <a:off x="6547104" y="4370832"/>
            <a:ext cx="4663440" cy="658368"/>
          </a:xfrm>
          <a:prstGeom prst="roundRect">
            <a:avLst>
              <a:gd name="adj" fmla="val 6944"/>
            </a:avLst>
          </a:prstGeom>
          <a:solidFill>
            <a:srgbClr val="EEF3F8"/>
          </a:solidFill>
          <a:ln w="12700">
            <a:solidFill>
              <a:srgbClr val="D8E0E8"/>
            </a:solidFill>
            <a:prstDash val="solid"/>
          </a:ln>
        </p:spPr>
      </p:sp>
      <p:sp>
        <p:nvSpPr>
          <p:cNvPr id="9" name="Text 6"/>
          <p:cNvSpPr/>
          <p:nvPr/>
        </p:nvSpPr>
        <p:spPr>
          <a:xfrm>
            <a:off x="6784848" y="4590288"/>
            <a:ext cx="4206240" cy="201168"/>
          </a:xfrm>
          <a:prstGeom prst="rect">
            <a:avLst/>
          </a:prstGeom>
          <a:noFill/>
          <a:ln/>
        </p:spPr>
        <p:txBody>
          <a:bodyPr wrap="square" lIns="0" tIns="0" rIns="0" bIns="0" rtlCol="0" anchor="t"/>
          <a:lstStyle/>
          <a:p>
            <a:pPr algn="ctr" indent="0" marL="0">
              <a:buNone/>
            </a:pPr>
            <a:r>
              <a:rPr lang="en-US" sz="13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30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2026-03-18T04:22:13Z</dcterms:created>
  <dcterms:modified xsi:type="dcterms:W3CDTF">2026-03-18T04:22:13Z</dcterms:modified>
</cp:coreProperties>
</file>