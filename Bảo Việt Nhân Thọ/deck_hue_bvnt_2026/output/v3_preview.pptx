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Tác động dự kiến</c:v>
                </c:pt>
              </c:strCache>
            </c:strRef>
          </c:tx>
          <c:spPr>
            <a:solidFill>
              <a:srgbClr val="0B6CB8"/>
            </a:solidFill>
            <a:effectLst/>
          </c:spPr>
          <c:invertIfNegative val="0"/>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dPt>
            <c:idx val="0"/>
            <c:invertIfNegative val="0"/>
            <c:bubble3D val="0"/>
            <c:spPr>
              <a:solidFill>
                <a:srgbClr val="0B6CB8"/>
              </a:solidFill>
              <a:effectLst/>
            </c:spPr>
          </c:dPt>
          <c:dPt>
            <c:idx val="1"/>
            <c:invertIfNegative val="0"/>
            <c:bubble3D val="0"/>
            <c:spPr>
              <a:solidFill>
                <a:srgbClr val="C99211"/>
              </a:solidFill>
              <a:effectLst/>
            </c:spPr>
          </c:dPt>
          <c:dPt>
            <c:idx val="2"/>
            <c:invertIfNegative val="0"/>
            <c:bubble3D val="0"/>
            <c:spPr>
              <a:solidFill>
                <a:srgbClr val="114A7A"/>
              </a:solidFill>
              <a:effectLst/>
            </c:spPr>
          </c:dPt>
          <c:dPt>
            <c:idx val="3"/>
            <c:invertIfNegative val="0"/>
            <c:bubble3D val="0"/>
            <c:spPr>
              <a:solidFill>
                <a:srgbClr val="3E8DD1"/>
              </a:solidFill>
              <a:effectLst/>
            </c:spPr>
          </c:dPt>
          <c:dPt>
            <c:idx val="4"/>
            <c:invertIfNegative val="0"/>
            <c:bubble3D val="0"/>
            <c:spPr>
              <a:solidFill>
                <a:srgbClr val="9F720C"/>
              </a:solidFill>
              <a:effectLst/>
            </c:spPr>
          </c:dPt>
          <c:cat>
            <c:multiLvlStrRef>
              <c:f>Sheet1!$A$2:$A$6</c:f>
              <c:multiLvlStrCache>
                <c:ptCount val="5"/>
                <c:lvl>
                  <c:pt idx="0">
                    <c:v>Awareness</c:v>
                  </c:pt>
                  <c:pt idx="1">
                    <c:v>Trust</c:v>
                  </c:pt>
                  <c:pt idx="2">
                    <c:v>Cultural relevance</c:v>
                  </c:pt>
                  <c:pt idx="3">
                    <c:v>Social buzz</c:v>
                  </c:pt>
                  <c:pt idx="4">
                    <c:v>Lead interest</c:v>
                  </c:pt>
                </c:lvl>
              </c:multiLvlStrCache>
            </c:multiLvlStrRef>
          </c:cat>
          <c:val>
            <c:numRef>
              <c:f>Sheet1!$B$2:$B$6</c:f>
              <c:numCache>
                <c:formatCode>General</c:formatCode>
                <c:ptCount val="5"/>
                <c:pt idx="0">
                  <c:v>88</c:v>
                </c:pt>
                <c:pt idx="1">
                  <c:v>83</c:v>
                </c:pt>
                <c:pt idx="2">
                  <c:v>90</c:v>
                </c:pt>
                <c:pt idx="3">
                  <c:v>86</c:v>
                </c:pt>
                <c:pt idx="4">
                  <c:v>72</c:v>
                </c:pt>
              </c:numCache>
            </c:numRef>
          </c:val>
        </c:ser>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2-1.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graphicFrame>
        <p:nvGraphicFramePr>
          <p:cNvPr id="21" name="Chart 0" descr=""/>
          <p:cNvGraphicFramePr/>
          <p:nvPr/>
        </p:nvGraphicFramePr>
        <p:xfrm>
          <a:off x="868680" y="3255264"/>
          <a:ext cx="5349240" cy="214884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3" name="Text 19"/>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4" name="Text 20"/>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5" name="Text 21"/>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6"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ANNUAL SIGNATURE PROPERTY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Nếu được xây đúng từ năm đầu, giải đua này có thể trở thành tài sản văn hóa thường niên mang tên Bảo Việt Nhân Thọ.</a:t>
            </a:r>
            <a:endParaRPr lang="en-US" sz="1100" dirty="0"/>
          </a:p>
        </p:txBody>
      </p:sp>
      <p:sp>
        <p:nvSpPr>
          <p:cNvPr id="6" name="Shape 3"/>
          <p:cNvSpPr/>
          <p:nvPr/>
        </p:nvSpPr>
        <p:spPr>
          <a:xfrm>
            <a:off x="822960" y="2139696"/>
            <a:ext cx="3246120"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86000"/>
            <a:ext cx="2953512" cy="45720"/>
          </a:xfrm>
          <a:prstGeom prst="rect">
            <a:avLst/>
          </a:prstGeom>
          <a:solidFill>
            <a:srgbClr val="C99211"/>
          </a:solidFill>
          <a:ln w="12700">
            <a:solidFill>
              <a:srgbClr val="C99211"/>
            </a:solidFill>
            <a:prstDash val="solid"/>
          </a:ln>
        </p:spPr>
      </p:sp>
      <p:sp>
        <p:nvSpPr>
          <p:cNvPr id="8" name="Text 5"/>
          <p:cNvSpPr/>
          <p:nvPr/>
        </p:nvSpPr>
        <p:spPr>
          <a:xfrm>
            <a:off x="10241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1</a:t>
            </a:r>
            <a:endParaRPr lang="en-US" sz="920" dirty="0"/>
          </a:p>
        </p:txBody>
      </p:sp>
      <p:sp>
        <p:nvSpPr>
          <p:cNvPr id="9" name="Text 6"/>
          <p:cNvSpPr/>
          <p:nvPr/>
        </p:nvSpPr>
        <p:spPr>
          <a:xfrm>
            <a:off x="10241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Birth</a:t>
            </a:r>
            <a:endParaRPr lang="en-US" sz="1700" dirty="0"/>
          </a:p>
        </p:txBody>
      </p:sp>
      <p:sp>
        <p:nvSpPr>
          <p:cNvPr id="10" name="Text 7"/>
          <p:cNvSpPr/>
          <p:nvPr/>
        </p:nvSpPr>
        <p:spPr>
          <a:xfrm>
            <a:off x="10241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naming rights, sinh ra Big Idea và 3 WOW moments, tạo cảm nhận rằng đây là cuộc chơi nghiêm túc và xứng tầm.</a:t>
            </a:r>
            <a:endParaRPr lang="en-US" sz="1080" dirty="0"/>
          </a:p>
        </p:txBody>
      </p:sp>
      <p:sp>
        <p:nvSpPr>
          <p:cNvPr id="11" name="Shape 8"/>
          <p:cNvSpPr/>
          <p:nvPr/>
        </p:nvSpPr>
        <p:spPr>
          <a:xfrm>
            <a:off x="4480560" y="2139696"/>
            <a:ext cx="3246120"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626864" y="2286000"/>
            <a:ext cx="2953512" cy="45720"/>
          </a:xfrm>
          <a:prstGeom prst="rect">
            <a:avLst/>
          </a:prstGeom>
          <a:solidFill>
            <a:srgbClr val="0B6CB8"/>
          </a:solidFill>
          <a:ln w="12700">
            <a:solidFill>
              <a:srgbClr val="0B6CB8"/>
            </a:solidFill>
            <a:prstDash val="solid"/>
          </a:ln>
        </p:spPr>
      </p:sp>
      <p:sp>
        <p:nvSpPr>
          <p:cNvPr id="13" name="Text 10"/>
          <p:cNvSpPr/>
          <p:nvPr/>
        </p:nvSpPr>
        <p:spPr>
          <a:xfrm>
            <a:off x="4681728" y="2414016"/>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YEAR 2</a:t>
            </a:r>
            <a:endParaRPr lang="en-US" sz="920" dirty="0"/>
          </a:p>
        </p:txBody>
      </p:sp>
      <p:sp>
        <p:nvSpPr>
          <p:cNvPr id="14" name="Text 11"/>
          <p:cNvSpPr/>
          <p:nvPr/>
        </p:nvSpPr>
        <p:spPr>
          <a:xfrm>
            <a:off x="46817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Scale</a:t>
            </a:r>
            <a:endParaRPr lang="en-US" sz="1700" dirty="0"/>
          </a:p>
        </p:txBody>
      </p:sp>
      <p:sp>
        <p:nvSpPr>
          <p:cNvPr id="15" name="Text 12"/>
          <p:cNvSpPr/>
          <p:nvPr/>
        </p:nvSpPr>
        <p:spPr>
          <a:xfrm>
            <a:off x="46817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Mở rộng thành cultural week, tourism tie-in, family content platform và định giá lại premium tài trợ.</a:t>
            </a:r>
            <a:endParaRPr lang="en-US" sz="1080" dirty="0"/>
          </a:p>
        </p:txBody>
      </p:sp>
      <p:sp>
        <p:nvSpPr>
          <p:cNvPr id="16" name="Shape 13"/>
          <p:cNvSpPr/>
          <p:nvPr/>
        </p:nvSpPr>
        <p:spPr>
          <a:xfrm>
            <a:off x="8138160" y="2139696"/>
            <a:ext cx="3246120"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84464" y="2286000"/>
            <a:ext cx="2953512" cy="45720"/>
          </a:xfrm>
          <a:prstGeom prst="rect">
            <a:avLst/>
          </a:prstGeom>
          <a:solidFill>
            <a:srgbClr val="C99211"/>
          </a:solidFill>
          <a:ln w="12700">
            <a:solidFill>
              <a:srgbClr val="C99211"/>
            </a:solidFill>
            <a:prstDash val="solid"/>
          </a:ln>
        </p:spPr>
      </p:sp>
      <p:sp>
        <p:nvSpPr>
          <p:cNvPr id="18" name="Text 15"/>
          <p:cNvSpPr/>
          <p:nvPr/>
        </p:nvSpPr>
        <p:spPr>
          <a:xfrm>
            <a:off x="83393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3+</a:t>
            </a:r>
            <a:endParaRPr lang="en-US" sz="920" dirty="0"/>
          </a:p>
        </p:txBody>
      </p:sp>
      <p:sp>
        <p:nvSpPr>
          <p:cNvPr id="19" name="Text 16"/>
          <p:cNvSpPr/>
          <p:nvPr/>
        </p:nvSpPr>
        <p:spPr>
          <a:xfrm>
            <a:off x="83393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Own the ritual</a:t>
            </a:r>
            <a:endParaRPr lang="en-US" sz="1700" dirty="0"/>
          </a:p>
        </p:txBody>
      </p:sp>
      <p:sp>
        <p:nvSpPr>
          <p:cNvPr id="20" name="Text 17"/>
          <p:cNvSpPr/>
          <p:nvPr/>
        </p:nvSpPr>
        <p:spPr>
          <a:xfrm>
            <a:off x="83393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event thành nghi lễ văn hóa - thương hiệu mà công chúng chờ đợi mỗi mùa Quốc khánh.</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KẾT LUẬN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498" b="1" dirty="0">
                <a:solidFill>
                  <a:srgbClr val="FFFFFF"/>
                </a:solidFill>
                <a:latin typeface="Barlow" pitchFamily="34" charset="0"/>
                <a:ea typeface="Barlow" pitchFamily="34" charset="-122"/>
                <a:cs typeface="Barlow" pitchFamily="34" charset="-120"/>
              </a:rPr>
              <a:t>Chúng ta không chỉ tài trợ một cuộc đua. Chúng ta giữ cho dòng chảy gia đình được tiếp tục.</a:t>
            </a:r>
            <a:endParaRPr lang="en-US" sz="2498"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Nếu làm đúng, Bảo Việt Nhân Thọ sẽ không chỉ hiện diện trong ngày đua 2026. Thương hiệu sẽ hiện diện trong một ký ức văn hóa sống cùng nhiều mùa tiếp theo.</a:t>
            </a:r>
            <a:endParaRPr lang="en-US" sz="1400" dirty="0"/>
          </a:p>
        </p:txBody>
      </p:sp>
      <p:sp>
        <p:nvSpPr>
          <p:cNvPr id="8" name="Shape 5"/>
          <p:cNvSpPr/>
          <p:nvPr/>
        </p:nvSpPr>
        <p:spPr>
          <a:xfrm>
            <a:off x="6547104" y="4370832"/>
            <a:ext cx="4663440" cy="658368"/>
          </a:xfrm>
          <a:prstGeom prst="roundRect">
            <a:avLst>
              <a:gd name="adj" fmla="val 6944"/>
            </a:avLst>
          </a:prstGeom>
          <a:solidFill>
            <a:srgbClr val="EEF3F8"/>
          </a:solidFill>
          <a:ln w="12700">
            <a:solidFill>
              <a:srgbClr val="D8E0E8"/>
            </a:solidFill>
            <a:prstDash val="solid"/>
          </a:ln>
        </p:spPr>
      </p:sp>
      <p:sp>
        <p:nvSpPr>
          <p:cNvPr id="9" name="Text 6"/>
          <p:cNvSpPr/>
          <p:nvPr/>
        </p:nvSpPr>
        <p:spPr>
          <a:xfrm>
            <a:off x="6784848" y="4590288"/>
            <a:ext cx="4206240" cy="201168"/>
          </a:xfrm>
          <a:prstGeom prst="rect">
            <a:avLst/>
          </a:prstGeom>
          <a:noFill/>
          <a:ln/>
        </p:spPr>
        <p:txBody>
          <a:bodyPr wrap="square" lIns="0" tIns="0" rIns="0" bIns="0" rtlCol="0" anchor="t"/>
          <a:lstStyle/>
          <a:p>
            <a:pPr algn="ctr" indent="0" marL="0">
              <a:buNone/>
            </a:pPr>
            <a:r>
              <a:rPr lang="en-US" sz="13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30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2026-03-18T03:48:40Z</dcterms:created>
  <dcterms:modified xsi:type="dcterms:W3CDTF">2026-03-18T03:48:40Z</dcterms:modified>
</cp:coreProperties>
</file>