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Tác động dự kiến</c:v>
                </c:pt>
              </c:strCache>
            </c:strRef>
          </c:tx>
          <c:spPr>
            <a:solidFill>
              <a:srgbClr val="0B6CB8"/>
            </a:solidFill>
            <a:effectLst/>
          </c:spPr>
          <c:invertIfNegative val="0"/>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dPt>
            <c:idx val="0"/>
            <c:invertIfNegative val="0"/>
            <c:bubble3D val="0"/>
            <c:spPr>
              <a:solidFill>
                <a:srgbClr val="0B6CB8"/>
              </a:solidFill>
              <a:effectLst/>
            </c:spPr>
          </c:dPt>
          <c:dPt>
            <c:idx val="1"/>
            <c:invertIfNegative val="0"/>
            <c:bubble3D val="0"/>
            <c:spPr>
              <a:solidFill>
                <a:srgbClr val="C99211"/>
              </a:solidFill>
              <a:effectLst/>
            </c:spPr>
          </c:dPt>
          <c:dPt>
            <c:idx val="2"/>
            <c:invertIfNegative val="0"/>
            <c:bubble3D val="0"/>
            <c:spPr>
              <a:solidFill>
                <a:srgbClr val="114A7A"/>
              </a:solidFill>
              <a:effectLst/>
            </c:spPr>
          </c:dPt>
          <c:dPt>
            <c:idx val="3"/>
            <c:invertIfNegative val="0"/>
            <c:bubble3D val="0"/>
            <c:spPr>
              <a:solidFill>
                <a:srgbClr val="3E8DD1"/>
              </a:solidFill>
              <a:effectLst/>
            </c:spPr>
          </c:dPt>
          <c:dPt>
            <c:idx val="4"/>
            <c:invertIfNegative val="0"/>
            <c:bubble3D val="0"/>
            <c:spPr>
              <a:solidFill>
                <a:srgbClr val="9F720C"/>
              </a:solidFill>
              <a:effectLst/>
            </c:spPr>
          </c:dPt>
          <c:cat>
            <c:multiLvlStrRef>
              <c:f>Sheet1!$A$2:$A$6</c:f>
              <c:multiLvlStrCache>
                <c:ptCount val="5"/>
                <c:lvl>
                  <c:pt idx="0">
                    <c:v>Awareness</c:v>
                  </c:pt>
                  <c:pt idx="1">
                    <c:v>Trust</c:v>
                  </c:pt>
                  <c:pt idx="2">
                    <c:v>Cultural relevance</c:v>
                  </c:pt>
                  <c:pt idx="3">
                    <c:v>Social buzz</c:v>
                  </c:pt>
                  <c:pt idx="4">
                    <c:v>Lead interest</c:v>
                  </c:pt>
                </c:lvl>
              </c:multiLvlStrCache>
            </c:multiLvlStrRef>
          </c:cat>
          <c:val>
            <c:numRef>
              <c:f>Sheet1!$B$2:$B$6</c:f>
              <c:numCache>
                <c:formatCode>General</c:formatCode>
                <c:ptCount val="5"/>
                <c:pt idx="0">
                  <c:v>88</c:v>
                </c:pt>
                <c:pt idx="1">
                  <c:v>83</c:v>
                </c:pt>
                <c:pt idx="2">
                  <c:v>90</c:v>
                </c:pt>
                <c:pt idx="3">
                  <c:v>86</c:v>
                </c:pt>
                <c:pt idx="4">
                  <c:v>72</c:v>
                </c:pt>
              </c:numCache>
            </c:numRef>
          </c:val>
        </c:ser>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8-1.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901952"/>
            <a:ext cx="411480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487168"/>
            <a:ext cx="8046720" cy="1078992"/>
          </a:xfrm>
          <a:prstGeom prst="rect">
            <a:avLst/>
          </a:prstGeom>
          <a:noFill/>
          <a:ln/>
        </p:spPr>
        <p:txBody>
          <a:bodyPr wrap="square" lIns="0" tIns="0" rIns="0" bIns="0" rtlCol="0" anchor="ctr"/>
          <a:lstStyle/>
          <a:p>
            <a:pPr indent="0" marL="0">
              <a:buNone/>
            </a:pPr>
            <a:r>
              <a:rPr lang="en-US" sz="2221"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221" dirty="0"/>
          </a:p>
          <a:p>
            <a:pPr indent="0" marL="0">
              <a:buNone/>
            </a:pPr>
            <a:r>
              <a:rPr lang="en-US" sz="2221" b="1" dirty="0">
                <a:solidFill>
                  <a:srgbClr val="114A7A"/>
                </a:solidFill>
                <a:latin typeface="Barlow" pitchFamily="34" charset="0"/>
                <a:ea typeface="Barlow" pitchFamily="34" charset="-122"/>
                <a:cs typeface="Barlow" pitchFamily="34" charset="-120"/>
              </a:rPr>
              <a:t>TRANH CÚP BẢO VIỆT NHÂN THỌ</a:t>
            </a:r>
            <a:endParaRPr lang="en-US" sz="2221" dirty="0"/>
          </a:p>
        </p:txBody>
      </p:sp>
      <p:sp>
        <p:nvSpPr>
          <p:cNvPr id="5" name="Text 2"/>
          <p:cNvSpPr/>
          <p:nvPr/>
        </p:nvSpPr>
        <p:spPr>
          <a:xfrm>
            <a:off x="822960" y="3822192"/>
            <a:ext cx="4389120" cy="219456"/>
          </a:xfrm>
          <a:prstGeom prst="rect">
            <a:avLst/>
          </a:prstGeom>
          <a:noFill/>
          <a:ln/>
        </p:spPr>
        <p:txBody>
          <a:bodyPr wrap="square" lIns="0" tIns="0" rIns="0" bIns="0" rtlCol="0" anchor="t"/>
          <a:lstStyle/>
          <a:p>
            <a:pPr algn="l" indent="0" marL="0">
              <a:buNone/>
            </a:pPr>
            <a:r>
              <a:rPr lang="en-US" sz="1500" b="1" dirty="0">
                <a:solidFill>
                  <a:srgbClr val="FFFFFF"/>
                </a:solidFill>
                <a:latin typeface="Barlow" pitchFamily="34" charset="0"/>
                <a:ea typeface="Barlow" pitchFamily="34" charset="-122"/>
                <a:cs typeface="Barlow" pitchFamily="34" charset="-120"/>
              </a:rPr>
              <a:t>Big Idea đề xuất: GIỮ MÁI CHÈO DI SẢN</a:t>
            </a:r>
            <a:endParaRPr lang="en-US" sz="1500" dirty="0"/>
          </a:p>
        </p:txBody>
      </p:sp>
      <p:sp>
        <p:nvSpPr>
          <p:cNvPr id="6" name="Text 3"/>
          <p:cNvSpPr/>
          <p:nvPr/>
        </p:nvSpPr>
        <p:spPr>
          <a:xfrm>
            <a:off x="822960" y="4133088"/>
            <a:ext cx="5303520" cy="274320"/>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7" name="Shape 4"/>
          <p:cNvSpPr/>
          <p:nvPr/>
        </p:nvSpPr>
        <p:spPr>
          <a:xfrm>
            <a:off x="822960" y="4590288"/>
            <a:ext cx="2697480" cy="310896"/>
          </a:xfrm>
          <a:prstGeom prst="roundRect">
            <a:avLst>
              <a:gd name="adj" fmla="val 23529"/>
            </a:avLst>
          </a:prstGeom>
          <a:solidFill>
            <a:srgbClr val="0B6CB8">
              <a:alpha val="92000"/>
            </a:srgbClr>
          </a:solidFill>
          <a:ln w="12700">
            <a:solidFill>
              <a:srgbClr val="0B6CB8"/>
            </a:solidFill>
            <a:prstDash val="solid"/>
          </a:ln>
        </p:spPr>
      </p:sp>
      <p:sp>
        <p:nvSpPr>
          <p:cNvPr id="8" name="Text 5"/>
          <p:cNvSpPr/>
          <p:nvPr/>
        </p:nvSpPr>
        <p:spPr>
          <a:xfrm>
            <a:off x="877824" y="4663440"/>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9" name="Shape 6"/>
          <p:cNvSpPr/>
          <p:nvPr/>
        </p:nvSpPr>
        <p:spPr>
          <a:xfrm>
            <a:off x="3639312" y="4590288"/>
            <a:ext cx="2926080" cy="310896"/>
          </a:xfrm>
          <a:prstGeom prst="roundRect">
            <a:avLst>
              <a:gd name="adj" fmla="val 23529"/>
            </a:avLst>
          </a:prstGeom>
          <a:solidFill>
            <a:srgbClr val="C99211">
              <a:alpha val="92000"/>
            </a:srgbClr>
          </a:solidFill>
          <a:ln w="12700">
            <a:solidFill>
              <a:srgbClr val="C99211"/>
            </a:solidFill>
            <a:prstDash val="solid"/>
          </a:ln>
        </p:spPr>
      </p:sp>
      <p:sp>
        <p:nvSpPr>
          <p:cNvPr id="10" name="Text 7"/>
          <p:cNvSpPr/>
          <p:nvPr/>
        </p:nvSpPr>
        <p:spPr>
          <a:xfrm>
            <a:off x="3694176" y="4663440"/>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1" name="Shape 8"/>
          <p:cNvSpPr/>
          <p:nvPr/>
        </p:nvSpPr>
        <p:spPr>
          <a:xfrm>
            <a:off x="822960" y="5358384"/>
            <a:ext cx="7406640" cy="841248"/>
          </a:xfrm>
          <a:prstGeom prst="roundRect">
            <a:avLst>
              <a:gd name="adj" fmla="val 5435"/>
            </a:avLst>
          </a:prstGeom>
          <a:solidFill>
            <a:srgbClr val="F6F8FB"/>
          </a:solidFill>
          <a:ln w="12700">
            <a:solidFill>
              <a:srgbClr val="E7EDF4"/>
            </a:solidFill>
            <a:prstDash val="solid"/>
          </a:ln>
        </p:spPr>
      </p:sp>
      <p:sp>
        <p:nvSpPr>
          <p:cNvPr id="12" name="Text 9"/>
          <p:cNvSpPr/>
          <p:nvPr/>
        </p:nvSpPr>
        <p:spPr>
          <a:xfrm>
            <a:off x="1042416" y="5541264"/>
            <a:ext cx="6858000" cy="274320"/>
          </a:xfrm>
          <a:prstGeom prst="rect">
            <a:avLst/>
          </a:prstGeom>
          <a:noFill/>
          <a:ln/>
        </p:spPr>
        <p:txBody>
          <a:bodyPr wrap="square" lIns="0" tIns="0" rIns="0" bIns="0" rtlCol="0" anchor="t"/>
          <a:lstStyle/>
          <a:p>
            <a:pPr algn="l" indent="0" marL="0">
              <a:buNone/>
            </a:pPr>
            <a:r>
              <a:rPr lang="en-US" sz="1320" i="1" dirty="0">
                <a:solidFill>
                  <a:srgbClr val="114A7A"/>
                </a:solidFill>
                <a:latin typeface="Barlow" pitchFamily="34" charset="0"/>
                <a:ea typeface="Barlow" pitchFamily="34" charset="-122"/>
                <a:cs typeface="Barlow" pitchFamily="34" charset="-120"/>
              </a:rPr>
              <a:t>“Không chỉ tài trợ một cuộc đua. Đây là cơ hội để Bảo Việt Nhân Thọ sở hữu một tài sản văn hóa sống cùng gia đình Việt qua nhiều năm.”</a:t>
            </a:r>
            <a:endParaRPr lang="en-US" sz="1320" dirty="0"/>
          </a:p>
        </p:txBody>
      </p:sp>
      <p:sp>
        <p:nvSpPr>
          <p:cNvPr id="13" name="Text 10"/>
          <p:cNvSpPr/>
          <p:nvPr/>
        </p:nvSpPr>
        <p:spPr>
          <a:xfrm>
            <a:off x="1042416" y="5907024"/>
            <a:ext cx="2743200" cy="128016"/>
          </a:xfrm>
          <a:prstGeom prst="rect">
            <a:avLst/>
          </a:prstGeom>
          <a:noFill/>
          <a:ln/>
        </p:spPr>
        <p:txBody>
          <a:bodyPr wrap="square" lIns="0" tIns="0" rIns="0" bIns="0" rtlCol="0" anchor="t"/>
          <a:lstStyle/>
          <a:p>
            <a:pPr algn="l" indent="0" marL="0">
              <a:buNone/>
            </a:pPr>
            <a:r>
              <a:rPr lang="en-US" sz="900" dirty="0">
                <a:solidFill>
                  <a:srgbClr val="5C6C7B"/>
                </a:solidFill>
                <a:latin typeface="Barlow" pitchFamily="34" charset="0"/>
                <a:ea typeface="Barlow" pitchFamily="34" charset="-122"/>
                <a:cs typeface="Barlow" pitchFamily="34" charset="-120"/>
              </a:rPr>
              <a:t>Định hướng đề xuất chiến lược</a:t>
            </a:r>
            <a:endParaRPr lang="en-US" sz="9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841248" y="1847088"/>
            <a:ext cx="91440" cy="1847088"/>
          </a:xfrm>
          <a:prstGeom prst="rect">
            <a:avLst/>
          </a:prstGeom>
          <a:solidFill>
            <a:srgbClr val="0B6CB8"/>
          </a:solidFill>
          <a:ln w="12700">
            <a:solidFill>
              <a:srgbClr val="0B6CB8"/>
            </a:solidFill>
            <a:prstDash val="solid"/>
          </a:ln>
        </p:spPr>
      </p:sp>
      <p:sp>
        <p:nvSpPr>
          <p:cNvPr id="4" name="Text 1"/>
          <p:cNvSpPr/>
          <p:nvPr/>
        </p:nvSpPr>
        <p:spPr>
          <a:xfrm>
            <a:off x="1078992" y="1883664"/>
            <a:ext cx="2194560" cy="164592"/>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5" name="Text 2"/>
          <p:cNvSpPr/>
          <p:nvPr/>
        </p:nvSpPr>
        <p:spPr>
          <a:xfrm>
            <a:off x="1078992" y="2176272"/>
            <a:ext cx="7589520" cy="1005840"/>
          </a:xfrm>
          <a:prstGeom prst="rect">
            <a:avLst/>
          </a:prstGeom>
          <a:noFill/>
          <a:ln/>
        </p:spPr>
        <p:txBody>
          <a:bodyPr wrap="square" lIns="0" tIns="0" rIns="0" bIns="0" rtlCol="0" anchor="ctr"/>
          <a:lstStyle/>
          <a:p>
            <a:pPr indent="0" marL="0">
              <a:buNone/>
            </a:pPr>
            <a:r>
              <a:rPr lang="en-US" sz="2400" b="1" dirty="0">
                <a:solidFill>
                  <a:srgbClr val="FFFFFF"/>
                </a:solidFill>
                <a:latin typeface="Barlow" pitchFamily="34" charset="0"/>
                <a:ea typeface="Barlow" pitchFamily="34" charset="-122"/>
                <a:cs typeface="Barlow" pitchFamily="34" charset="-120"/>
              </a:rPr>
              <a:t>Tham vọng không dừng ở một sự kiện. Tham vọng là tạo ra tài sản văn hóa mang tên Bảo Việt Nhân Thọ.</a:t>
            </a:r>
            <a:endParaRPr lang="en-US" sz="2400" dirty="0"/>
          </a:p>
        </p:txBody>
      </p:sp>
      <p:sp>
        <p:nvSpPr>
          <p:cNvPr id="6" name="Text 3"/>
          <p:cNvSpPr/>
          <p:nvPr/>
        </p:nvSpPr>
        <p:spPr>
          <a:xfrm>
            <a:off x="1078992" y="3364992"/>
            <a:ext cx="6217920" cy="438912"/>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giải đua ghe truyền thống của Huế, nâng tầm thành điểm hẹn văn hóa - cảm xúc - cộng đồng mang sức lan tỏa quốc gia.</a:t>
            </a:r>
            <a:endParaRPr lang="en-US" sz="1400" dirty="0"/>
          </a:p>
        </p:txBody>
      </p:sp>
      <p:sp>
        <p:nvSpPr>
          <p:cNvPr id="7" name="Text 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Vì sao dự án này đáng để làm ngay lúc này</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thời điểm hiếm khi cả giá trị văn hóa, tinh thần Quốc khánh và nhu cầu thương hiệu cùng hội tụ.</a:t>
            </a:r>
            <a:endParaRPr lang="en-US" sz="1100" dirty="0"/>
          </a:p>
        </p:txBody>
      </p:sp>
      <p:sp>
        <p:nvSpPr>
          <p:cNvPr id="6" name="Shape 3"/>
          <p:cNvSpPr/>
          <p:nvPr/>
        </p:nvSpPr>
        <p:spPr>
          <a:xfrm>
            <a:off x="822960" y="2011680"/>
            <a:ext cx="2560320" cy="1115568"/>
          </a:xfrm>
          <a:prstGeom prst="roundRect">
            <a:avLst>
              <a:gd name="adj" fmla="val 4098"/>
            </a:avLst>
          </a:prstGeom>
          <a:solidFill>
            <a:srgbClr val="FFFFFF"/>
          </a:solidFill>
          <a:ln w="12700">
            <a:solidFill>
              <a:srgbClr val="D8E0E8"/>
            </a:solidFill>
            <a:prstDash val="solid"/>
          </a:ln>
        </p:spPr>
      </p:sp>
      <p:sp>
        <p:nvSpPr>
          <p:cNvPr id="7" name="Shape 4"/>
          <p:cNvSpPr/>
          <p:nvPr/>
        </p:nvSpPr>
        <p:spPr>
          <a:xfrm>
            <a:off x="950976" y="2139696"/>
            <a:ext cx="45720" cy="859536"/>
          </a:xfrm>
          <a:prstGeom prst="rect">
            <a:avLst/>
          </a:prstGeom>
          <a:solidFill>
            <a:srgbClr val="C99211"/>
          </a:solidFill>
          <a:ln w="12700">
            <a:solidFill>
              <a:srgbClr val="C99211"/>
            </a:solidFill>
            <a:prstDash val="solid"/>
          </a:ln>
        </p:spPr>
      </p:sp>
      <p:sp>
        <p:nvSpPr>
          <p:cNvPr id="8" name="Text 5"/>
          <p:cNvSpPr/>
          <p:nvPr/>
        </p:nvSpPr>
        <p:spPr>
          <a:xfrm>
            <a:off x="1078992" y="2139696"/>
            <a:ext cx="2231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Quốc khánh 02/09</a:t>
            </a:r>
            <a:endParaRPr lang="en-US" sz="920" dirty="0"/>
          </a:p>
        </p:txBody>
      </p:sp>
      <p:sp>
        <p:nvSpPr>
          <p:cNvPr id="9" name="Text 6"/>
          <p:cNvSpPr/>
          <p:nvPr/>
        </p:nvSpPr>
        <p:spPr>
          <a:xfrm>
            <a:off x="1078992" y="2359152"/>
            <a:ext cx="2231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Khoảnh khắc quốc gia</a:t>
            </a:r>
            <a:endParaRPr lang="en-US" sz="1800" dirty="0"/>
          </a:p>
        </p:txBody>
      </p:sp>
      <p:sp>
        <p:nvSpPr>
          <p:cNvPr id="10" name="Text 7"/>
          <p:cNvSpPr/>
          <p:nvPr/>
        </p:nvSpPr>
        <p:spPr>
          <a:xfrm>
            <a:off x="1078992" y="2688336"/>
            <a:ext cx="2231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Tinh thần đoàn kết và niềm tự hào cộng đồng</a:t>
            </a:r>
            <a:endParaRPr lang="en-US" sz="880" dirty="0"/>
          </a:p>
        </p:txBody>
      </p:sp>
      <p:sp>
        <p:nvSpPr>
          <p:cNvPr id="11" name="Shape 8"/>
          <p:cNvSpPr/>
          <p:nvPr/>
        </p:nvSpPr>
        <p:spPr>
          <a:xfrm>
            <a:off x="3529584" y="2011680"/>
            <a:ext cx="256032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3657600" y="2139696"/>
            <a:ext cx="45720" cy="859536"/>
          </a:xfrm>
          <a:prstGeom prst="rect">
            <a:avLst/>
          </a:prstGeom>
          <a:solidFill>
            <a:srgbClr val="0B6CB8"/>
          </a:solidFill>
          <a:ln w="12700">
            <a:solidFill>
              <a:srgbClr val="0B6CB8"/>
            </a:solidFill>
            <a:prstDash val="solid"/>
          </a:ln>
        </p:spPr>
      </p:sp>
      <p:sp>
        <p:nvSpPr>
          <p:cNvPr id="13" name="Text 10"/>
          <p:cNvSpPr/>
          <p:nvPr/>
        </p:nvSpPr>
        <p:spPr>
          <a:xfrm>
            <a:off x="3785616" y="2139696"/>
            <a:ext cx="2231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Huế</a:t>
            </a:r>
            <a:endParaRPr lang="en-US" sz="920" dirty="0"/>
          </a:p>
        </p:txBody>
      </p:sp>
      <p:sp>
        <p:nvSpPr>
          <p:cNvPr id="14" name="Text 11"/>
          <p:cNvSpPr/>
          <p:nvPr/>
        </p:nvSpPr>
        <p:spPr>
          <a:xfrm>
            <a:off x="3785616" y="2359152"/>
            <a:ext cx="2231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Di sản sống</a:t>
            </a:r>
            <a:endParaRPr lang="en-US" sz="1800" dirty="0"/>
          </a:p>
        </p:txBody>
      </p:sp>
      <p:sp>
        <p:nvSpPr>
          <p:cNvPr id="15" name="Text 12"/>
          <p:cNvSpPr/>
          <p:nvPr/>
        </p:nvSpPr>
        <p:spPr>
          <a:xfrm>
            <a:off x="3785616" y="2688336"/>
            <a:ext cx="2231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Thành phố của ký ức, kế thừa và chiều sâu cảm xúc</a:t>
            </a:r>
            <a:endParaRPr lang="en-US" sz="880" dirty="0"/>
          </a:p>
        </p:txBody>
      </p:sp>
      <p:sp>
        <p:nvSpPr>
          <p:cNvPr id="16" name="Shape 13"/>
          <p:cNvSpPr/>
          <p:nvPr/>
        </p:nvSpPr>
        <p:spPr>
          <a:xfrm>
            <a:off x="6236208" y="2011680"/>
            <a:ext cx="256032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6364224" y="2139696"/>
            <a:ext cx="45720" cy="859536"/>
          </a:xfrm>
          <a:prstGeom prst="rect">
            <a:avLst/>
          </a:prstGeom>
          <a:solidFill>
            <a:srgbClr val="C99211"/>
          </a:solidFill>
          <a:ln w="12700">
            <a:solidFill>
              <a:srgbClr val="C99211"/>
            </a:solidFill>
            <a:prstDash val="solid"/>
          </a:ln>
        </p:spPr>
      </p:sp>
      <p:sp>
        <p:nvSpPr>
          <p:cNvPr id="18" name="Text 15"/>
          <p:cNvSpPr/>
          <p:nvPr/>
        </p:nvSpPr>
        <p:spPr>
          <a:xfrm>
            <a:off x="6492240" y="2139696"/>
            <a:ext cx="2231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Đua ghe truyền thống</a:t>
            </a:r>
            <a:endParaRPr lang="en-US" sz="920" dirty="0"/>
          </a:p>
        </p:txBody>
      </p:sp>
      <p:sp>
        <p:nvSpPr>
          <p:cNvPr id="19" name="Text 16"/>
          <p:cNvSpPr/>
          <p:nvPr/>
        </p:nvSpPr>
        <p:spPr>
          <a:xfrm>
            <a:off x="6492240" y="2359152"/>
            <a:ext cx="2231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Nghi lễ cộng đồng</a:t>
            </a:r>
            <a:endParaRPr lang="en-US" sz="1800" dirty="0"/>
          </a:p>
        </p:txBody>
      </p:sp>
      <p:sp>
        <p:nvSpPr>
          <p:cNvPr id="20" name="Text 17"/>
          <p:cNvSpPr/>
          <p:nvPr/>
        </p:nvSpPr>
        <p:spPr>
          <a:xfrm>
            <a:off x="6492240" y="2688336"/>
            <a:ext cx="2231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Mang tính biểu tượng, dễ tạo spectacle hình ảnh</a:t>
            </a:r>
            <a:endParaRPr lang="en-US" sz="880" dirty="0"/>
          </a:p>
        </p:txBody>
      </p:sp>
      <p:sp>
        <p:nvSpPr>
          <p:cNvPr id="21" name="Shape 18"/>
          <p:cNvSpPr/>
          <p:nvPr/>
        </p:nvSpPr>
        <p:spPr>
          <a:xfrm>
            <a:off x="8942832" y="2011680"/>
            <a:ext cx="2423160" cy="1115568"/>
          </a:xfrm>
          <a:prstGeom prst="roundRect">
            <a:avLst>
              <a:gd name="adj" fmla="val 4098"/>
            </a:avLst>
          </a:prstGeom>
          <a:solidFill>
            <a:srgbClr val="FFFFFF"/>
          </a:solidFill>
          <a:ln w="12700">
            <a:solidFill>
              <a:srgbClr val="D8E0E8"/>
            </a:solidFill>
            <a:prstDash val="solid"/>
          </a:ln>
        </p:spPr>
      </p:sp>
      <p:sp>
        <p:nvSpPr>
          <p:cNvPr id="22" name="Shape 19"/>
          <p:cNvSpPr/>
          <p:nvPr/>
        </p:nvSpPr>
        <p:spPr>
          <a:xfrm>
            <a:off x="9070848" y="2139696"/>
            <a:ext cx="45720" cy="859536"/>
          </a:xfrm>
          <a:prstGeom prst="rect">
            <a:avLst/>
          </a:prstGeom>
          <a:solidFill>
            <a:srgbClr val="0B6CB8"/>
          </a:solidFill>
          <a:ln w="12700">
            <a:solidFill>
              <a:srgbClr val="0B6CB8"/>
            </a:solidFill>
            <a:prstDash val="solid"/>
          </a:ln>
        </p:spPr>
      </p:sp>
      <p:sp>
        <p:nvSpPr>
          <p:cNvPr id="23" name="Text 20"/>
          <p:cNvSpPr/>
          <p:nvPr/>
        </p:nvSpPr>
        <p:spPr>
          <a:xfrm>
            <a:off x="9198864" y="2139696"/>
            <a:ext cx="209397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Bảo Việt Nhân Thọ</a:t>
            </a:r>
            <a:endParaRPr lang="en-US" sz="920" dirty="0"/>
          </a:p>
        </p:txBody>
      </p:sp>
      <p:sp>
        <p:nvSpPr>
          <p:cNvPr id="24" name="Text 21"/>
          <p:cNvSpPr/>
          <p:nvPr/>
        </p:nvSpPr>
        <p:spPr>
          <a:xfrm>
            <a:off x="9198864" y="2359152"/>
            <a:ext cx="209397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Thương hiệu bảo vệ</a:t>
            </a:r>
            <a:endParaRPr lang="en-US" sz="1800" dirty="0"/>
          </a:p>
        </p:txBody>
      </p:sp>
      <p:sp>
        <p:nvSpPr>
          <p:cNvPr id="25" name="Text 22"/>
          <p:cNvSpPr/>
          <p:nvPr/>
        </p:nvSpPr>
        <p:spPr>
          <a:xfrm>
            <a:off x="9198864" y="2688336"/>
            <a:ext cx="209397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Phù hợp tự nhiên với vai trò giữ dòng chảy gia đình</a:t>
            </a:r>
            <a:endParaRPr lang="en-US" sz="880" dirty="0"/>
          </a:p>
        </p:txBody>
      </p:sp>
      <p:sp>
        <p:nvSpPr>
          <p:cNvPr id="26" name="Shape 23"/>
          <p:cNvSpPr/>
          <p:nvPr/>
        </p:nvSpPr>
        <p:spPr>
          <a:xfrm>
            <a:off x="822960" y="3429000"/>
            <a:ext cx="10561320" cy="1719072"/>
          </a:xfrm>
          <a:prstGeom prst="roundRect">
            <a:avLst>
              <a:gd name="adj" fmla="val 2660"/>
            </a:avLst>
          </a:prstGeom>
          <a:solidFill>
            <a:srgbClr val="F6F8FB"/>
          </a:solidFill>
          <a:ln w="12700">
            <a:solidFill>
              <a:srgbClr val="D8E0E8"/>
            </a:solidFill>
            <a:prstDash val="solid"/>
          </a:ln>
        </p:spPr>
      </p:sp>
      <p:sp>
        <p:nvSpPr>
          <p:cNvPr id="27" name="Text 24"/>
          <p:cNvSpPr/>
          <p:nvPr/>
        </p:nvSpPr>
        <p:spPr>
          <a:xfrm>
            <a:off x="1078992" y="3730752"/>
            <a:ext cx="8046720" cy="49377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Nếu làm như một gói tài trợ logo, giá trị sẽ dừng ở hiện diện. Nếu làm như một nền tảng văn hóa thường niên, Bảo Việt Nhân Thọ sẽ sở hữu một biểu tượng cảm xúc có khả năng tích lũy qua từng năm.</a:t>
            </a:r>
            <a:endParaRPr lang="en-US" sz="1550" dirty="0"/>
          </a:p>
        </p:txBody>
      </p:sp>
      <p:sp>
        <p:nvSpPr>
          <p:cNvPr id="28" name="Text 25"/>
          <p:cNvSpPr/>
          <p:nvPr/>
        </p:nvSpPr>
        <p:spPr>
          <a:xfrm>
            <a:off x="1078992" y="4425696"/>
            <a:ext cx="6400800" cy="182880"/>
          </a:xfrm>
          <a:prstGeom prst="rect">
            <a:avLst/>
          </a:prstGeom>
          <a:noFill/>
          <a:ln/>
        </p:spPr>
        <p:txBody>
          <a:bodyPr wrap="square" lIns="0" tIns="0" rIns="0" bIns="0" rtlCol="0" anchor="ctr"/>
          <a:lstStyle/>
          <a:p>
            <a:pPr marL="152400" indent="-152400">
              <a:buSzPct val="100000"/>
              <a:buChar char="•"/>
            </a:pPr>
            <a:r>
              <a:rPr lang="en-US" sz="1220" dirty="0">
                <a:solidFill>
                  <a:srgbClr val="203040"/>
                </a:solidFill>
                <a:latin typeface="Barlow" pitchFamily="34" charset="0"/>
                <a:ea typeface="Barlow" pitchFamily="34" charset="-122"/>
                <a:cs typeface="Barlow" pitchFamily="34" charset="-120"/>
              </a:rPr>
              <a:t>Đủ lớn để tạo trải nghiệm thực địa, livestream và PR quốc gia.</a:t>
            </a:r>
            <a:endParaRPr lang="en-US" sz="1220" dirty="0"/>
          </a:p>
        </p:txBody>
      </p:sp>
      <p:sp>
        <p:nvSpPr>
          <p:cNvPr id="29" name="Text 26"/>
          <p:cNvSpPr/>
          <p:nvPr/>
        </p:nvSpPr>
        <p:spPr>
          <a:xfrm>
            <a:off x="1078992" y="4645152"/>
            <a:ext cx="6400800" cy="182880"/>
          </a:xfrm>
          <a:prstGeom prst="rect">
            <a:avLst/>
          </a:prstGeom>
          <a:noFill/>
          <a:ln/>
        </p:spPr>
        <p:txBody>
          <a:bodyPr wrap="square" lIns="0" tIns="0" rIns="0" bIns="0" rtlCol="0" anchor="ctr"/>
          <a:lstStyle/>
          <a:p>
            <a:pPr marL="152400" indent="-152400">
              <a:buSzPct val="100000"/>
              <a:buChar char="•"/>
            </a:pPr>
            <a:r>
              <a:rPr lang="en-US" sz="1220" dirty="0">
                <a:solidFill>
                  <a:srgbClr val="203040"/>
                </a:solidFill>
                <a:latin typeface="Barlow" pitchFamily="34" charset="0"/>
                <a:ea typeface="Barlow" pitchFamily="34" charset="-122"/>
                <a:cs typeface="Barlow" pitchFamily="34" charset="-120"/>
              </a:rPr>
              <a:t>Đủ sâu về văn hóa để kể câu chuyện bảo vệ gia đình một cách tinh tế.</a:t>
            </a:r>
            <a:endParaRPr lang="en-US" sz="1220" dirty="0"/>
          </a:p>
        </p:txBody>
      </p:sp>
      <p:sp>
        <p:nvSpPr>
          <p:cNvPr id="30" name="Text 27"/>
          <p:cNvSpPr/>
          <p:nvPr/>
        </p:nvSpPr>
        <p:spPr>
          <a:xfrm>
            <a:off x="1078992" y="4864608"/>
            <a:ext cx="6400800" cy="182880"/>
          </a:xfrm>
          <a:prstGeom prst="rect">
            <a:avLst/>
          </a:prstGeom>
          <a:noFill/>
          <a:ln/>
        </p:spPr>
        <p:txBody>
          <a:bodyPr wrap="square" lIns="0" tIns="0" rIns="0" bIns="0" rtlCol="0" anchor="ctr"/>
          <a:lstStyle/>
          <a:p>
            <a:pPr marL="152400" indent="-152400">
              <a:buSzPct val="100000"/>
              <a:buChar char="•"/>
            </a:pPr>
            <a:r>
              <a:rPr lang="en-US" sz="1220" dirty="0">
                <a:solidFill>
                  <a:srgbClr val="203040"/>
                </a:solidFill>
                <a:latin typeface="Barlow" pitchFamily="34" charset="0"/>
                <a:ea typeface="Barlow" pitchFamily="34" charset="-122"/>
                <a:cs typeface="Barlow" pitchFamily="34" charset="-120"/>
              </a:rPr>
              <a:t>Đủ khác biệt để trở thành signature property thay vì activation ngắn hạn.</a:t>
            </a:r>
            <a:endParaRPr lang="en-US" sz="122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sông là ký ức, là đời sống, là nơi truyền thống được nối tiếp.</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Huế là thành phố của chiều sâu</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Ký ức đô thị gắn với sông Hương, Phu Văn Lâu, nhịp sống cố đô.</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Vẻ đẹp của Huế nằm ở sự gìn giữ, chuẩn mực và chiều sâu cảm xúc.</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Tinh thần gia phong, truyền đời và trân trọng cội nguồn rất rõ nét.</a:t>
            </a:r>
            <a:endParaRPr lang="en-US" sz="114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Shape 10"/>
          <p:cNvSpPr/>
          <p:nvPr/>
        </p:nvSpPr>
        <p:spPr>
          <a:xfrm>
            <a:off x="6455664" y="2157984"/>
            <a:ext cx="1005840" cy="45720"/>
          </a:xfrm>
          <a:prstGeom prst="rect">
            <a:avLst/>
          </a:prstGeom>
          <a:solidFill>
            <a:srgbClr val="C99211"/>
          </a:solidFill>
          <a:ln w="12700">
            <a:solidFill>
              <a:srgbClr val="C99211"/>
            </a:solidFill>
            <a:prstDash val="solid"/>
          </a:ln>
        </p:spPr>
      </p:sp>
      <p:sp>
        <p:nvSpPr>
          <p:cNvPr id="14" name="Text 11"/>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Đua ghe là nghi lễ sống</a:t>
            </a:r>
            <a:endParaRPr lang="en-US" sz="1750" dirty="0"/>
          </a:p>
        </p:txBody>
      </p:sp>
      <p:sp>
        <p:nvSpPr>
          <p:cNvPr id="15" name="Text 12"/>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Mỗi chiếc ghe vận hành như một gia đình: cùng nhịp, cùng gánh, cùng vượt sóng.</a:t>
            </a:r>
            <a:endParaRPr lang="en-US" sz="1140" dirty="0"/>
          </a:p>
        </p:txBody>
      </p:sp>
      <p:sp>
        <p:nvSpPr>
          <p:cNvPr id="16" name="Text 13"/>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Người cầm lái là biểu tượng của trách nhiệm và sự dẫn dắt.</a:t>
            </a:r>
            <a:endParaRPr lang="en-US" sz="1140" dirty="0"/>
          </a:p>
        </p:txBody>
      </p:sp>
      <p:sp>
        <p:nvSpPr>
          <p:cNvPr id="17" name="Text 14"/>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Khán giả dọc hai bờ sông tạo nên tính lễ hội xã hội rất mạnh.</a:t>
            </a:r>
            <a:endParaRPr lang="en-US" sz="114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Sâu bên trong mọi gia đình Việt luôn có một nỗi lo rất giống nhau</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Người ta không sợ sóng gió xuất hiện. Người ta sợ hành trình gia đình phải dừng lại giữa dòng.</a:t>
            </a:r>
            <a:endParaRPr lang="en-US" sz="1100" dirty="0"/>
          </a:p>
        </p:txBody>
      </p:sp>
      <p:sp>
        <p:nvSpPr>
          <p:cNvPr id="6" name="Shape 3"/>
          <p:cNvSpPr/>
          <p:nvPr/>
        </p:nvSpPr>
        <p:spPr>
          <a:xfrm>
            <a:off x="822960" y="1993392"/>
            <a:ext cx="2331720" cy="658368"/>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139696"/>
            <a:ext cx="685800" cy="128016"/>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04288"/>
            <a:ext cx="1691640" cy="146304"/>
          </a:xfrm>
          <a:prstGeom prst="rect">
            <a:avLst/>
          </a:prstGeom>
          <a:noFill/>
          <a:ln/>
        </p:spPr>
        <p:txBody>
          <a:bodyPr wrap="square" lIns="0" tIns="0" rIns="0" bIns="0" rtlCol="0" anchor="t"/>
          <a:lstStyle/>
          <a:p>
            <a:pPr algn="l" indent="0" marL="0">
              <a:buNone/>
            </a:pPr>
            <a:r>
              <a:rPr lang="en-US" sz="1400" b="1" dirty="0">
                <a:solidFill>
                  <a:srgbClr val="114A7A"/>
                </a:solidFill>
                <a:latin typeface="Barlow" pitchFamily="34" charset="0"/>
                <a:ea typeface="Barlow" pitchFamily="34" charset="-122"/>
                <a:cs typeface="Barlow" pitchFamily="34" charset="-120"/>
              </a:rPr>
              <a:t>Gia đình</a:t>
            </a:r>
            <a:endParaRPr lang="en-US" sz="1400" dirty="0"/>
          </a:p>
        </p:txBody>
      </p:sp>
      <p:sp>
        <p:nvSpPr>
          <p:cNvPr id="9" name="Shape 6"/>
          <p:cNvSpPr/>
          <p:nvPr/>
        </p:nvSpPr>
        <p:spPr>
          <a:xfrm>
            <a:off x="3474720" y="1993392"/>
            <a:ext cx="2331720" cy="658368"/>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139696"/>
            <a:ext cx="68580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04288"/>
            <a:ext cx="1691640" cy="146304"/>
          </a:xfrm>
          <a:prstGeom prst="rect">
            <a:avLst/>
          </a:prstGeom>
          <a:noFill/>
          <a:ln/>
        </p:spPr>
        <p:txBody>
          <a:bodyPr wrap="square" lIns="0" tIns="0" rIns="0" bIns="0" rtlCol="0" anchor="t"/>
          <a:lstStyle/>
          <a:p>
            <a:pPr algn="l" indent="0" marL="0">
              <a:buNone/>
            </a:pPr>
            <a:r>
              <a:rPr lang="en-US" sz="1400" b="1" dirty="0">
                <a:solidFill>
                  <a:srgbClr val="114A7A"/>
                </a:solidFill>
                <a:latin typeface="Barlow" pitchFamily="34" charset="0"/>
                <a:ea typeface="Barlow" pitchFamily="34" charset="-122"/>
                <a:cs typeface="Barlow" pitchFamily="34" charset="-120"/>
              </a:rPr>
              <a:t>Người trụ cột</a:t>
            </a:r>
            <a:endParaRPr lang="en-US" sz="1400" dirty="0"/>
          </a:p>
        </p:txBody>
      </p:sp>
      <p:sp>
        <p:nvSpPr>
          <p:cNvPr id="12" name="Shape 9"/>
          <p:cNvSpPr/>
          <p:nvPr/>
        </p:nvSpPr>
        <p:spPr>
          <a:xfrm>
            <a:off x="6126480" y="1993392"/>
            <a:ext cx="2331720" cy="658368"/>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139696"/>
            <a:ext cx="685800" cy="128016"/>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04288"/>
            <a:ext cx="1691640" cy="146304"/>
          </a:xfrm>
          <a:prstGeom prst="rect">
            <a:avLst/>
          </a:prstGeom>
          <a:noFill/>
          <a:ln/>
        </p:spPr>
        <p:txBody>
          <a:bodyPr wrap="square" lIns="0" tIns="0" rIns="0" bIns="0" rtlCol="0" anchor="t"/>
          <a:lstStyle/>
          <a:p>
            <a:pPr algn="l" indent="0" marL="0">
              <a:buNone/>
            </a:pPr>
            <a:r>
              <a:rPr lang="en-US" sz="1400" b="1" dirty="0">
                <a:solidFill>
                  <a:srgbClr val="114A7A"/>
                </a:solidFill>
                <a:latin typeface="Barlow" pitchFamily="34" charset="0"/>
                <a:ea typeface="Barlow" pitchFamily="34" charset="-122"/>
                <a:cs typeface="Barlow" pitchFamily="34" charset="-120"/>
              </a:rPr>
              <a:t>Cuộc đời</a:t>
            </a:r>
            <a:endParaRPr lang="en-US" sz="1400" dirty="0"/>
          </a:p>
        </p:txBody>
      </p:sp>
      <p:sp>
        <p:nvSpPr>
          <p:cNvPr id="15" name="Shape 12"/>
          <p:cNvSpPr/>
          <p:nvPr/>
        </p:nvSpPr>
        <p:spPr>
          <a:xfrm>
            <a:off x="8778240" y="1993392"/>
            <a:ext cx="2331720" cy="658368"/>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139696"/>
            <a:ext cx="68580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04288"/>
            <a:ext cx="1691640" cy="146304"/>
          </a:xfrm>
          <a:prstGeom prst="rect">
            <a:avLst/>
          </a:prstGeom>
          <a:noFill/>
          <a:ln/>
        </p:spPr>
        <p:txBody>
          <a:bodyPr wrap="square" lIns="0" tIns="0" rIns="0" bIns="0" rtlCol="0" anchor="t"/>
          <a:lstStyle/>
          <a:p>
            <a:pPr algn="l" indent="0" marL="0">
              <a:buNone/>
            </a:pPr>
            <a:r>
              <a:rPr lang="en-US" sz="1400" b="1" dirty="0">
                <a:solidFill>
                  <a:srgbClr val="114A7A"/>
                </a:solidFill>
                <a:latin typeface="Barlow" pitchFamily="34" charset="0"/>
                <a:ea typeface="Barlow" pitchFamily="34" charset="-122"/>
                <a:cs typeface="Barlow" pitchFamily="34" charset="-120"/>
              </a:rPr>
              <a:t>Rủi ro</a:t>
            </a:r>
            <a:endParaRPr lang="en-US" sz="1400" dirty="0"/>
          </a:p>
        </p:txBody>
      </p:sp>
      <p:sp>
        <p:nvSpPr>
          <p:cNvPr id="18" name="Shape 15"/>
          <p:cNvSpPr/>
          <p:nvPr/>
        </p:nvSpPr>
        <p:spPr>
          <a:xfrm>
            <a:off x="822960" y="2880360"/>
            <a:ext cx="6492240" cy="1920240"/>
          </a:xfrm>
          <a:prstGeom prst="roundRect">
            <a:avLst>
              <a:gd name="adj" fmla="val 2381"/>
            </a:avLst>
          </a:prstGeom>
          <a:solidFill>
            <a:srgbClr val="114A7A"/>
          </a:solidFill>
          <a:ln w="12700">
            <a:solidFill>
              <a:srgbClr val="114A7A"/>
            </a:solidFill>
            <a:prstDash val="solid"/>
          </a:ln>
        </p:spPr>
      </p:sp>
      <p:sp>
        <p:nvSpPr>
          <p:cNvPr id="19" name="Text 16"/>
          <p:cNvSpPr/>
          <p:nvPr/>
        </p:nvSpPr>
        <p:spPr>
          <a:xfrm>
            <a:off x="1060704" y="3218688"/>
            <a:ext cx="5989320" cy="82296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Khi người trụ cột gặp biến cố, nỗi lo lớn nhất là liệu gia đình có còn đi tiếp được như trước hay không.</a:t>
            </a:r>
            <a:endParaRPr lang="en-US" sz="2000" dirty="0"/>
          </a:p>
        </p:txBody>
      </p:sp>
      <p:sp>
        <p:nvSpPr>
          <p:cNvPr id="20" name="Shape 17"/>
          <p:cNvSpPr/>
          <p:nvPr/>
        </p:nvSpPr>
        <p:spPr>
          <a:xfrm>
            <a:off x="7543800" y="2880360"/>
            <a:ext cx="3840480" cy="1920240"/>
          </a:xfrm>
          <a:prstGeom prst="roundRect">
            <a:avLst>
              <a:gd name="adj" fmla="val 2381"/>
            </a:avLst>
          </a:prstGeom>
          <a:solidFill>
            <a:srgbClr val="FFFFFF"/>
          </a:solidFill>
          <a:ln w="12700">
            <a:solidFill>
              <a:srgbClr val="D8E0E8"/>
            </a:solidFill>
            <a:prstDash val="solid"/>
          </a:ln>
        </p:spPr>
      </p:sp>
      <p:sp>
        <p:nvSpPr>
          <p:cNvPr id="21" name="Text 18"/>
          <p:cNvSpPr/>
          <p:nvPr/>
        </p:nvSpPr>
        <p:spPr>
          <a:xfrm>
            <a:off x="7772400" y="3127248"/>
            <a:ext cx="256032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Ý nghĩa với Bảo Việt Nhân Thọ</a:t>
            </a:r>
            <a:endParaRPr lang="en-US" sz="1000" dirty="0"/>
          </a:p>
        </p:txBody>
      </p:sp>
      <p:sp>
        <p:nvSpPr>
          <p:cNvPr id="22" name="Text 19"/>
          <p:cNvSpPr/>
          <p:nvPr/>
        </p:nvSpPr>
        <p:spPr>
          <a:xfrm>
            <a:off x="7754112" y="3438144"/>
            <a:ext cx="3154680" cy="219456"/>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Bảo hiểm nhân thọ không chỉ là tài chính.</a:t>
            </a:r>
            <a:endParaRPr lang="en-US" sz="1140" dirty="0"/>
          </a:p>
        </p:txBody>
      </p:sp>
      <p:sp>
        <p:nvSpPr>
          <p:cNvPr id="23" name="Text 20"/>
          <p:cNvSpPr/>
          <p:nvPr/>
        </p:nvSpPr>
        <p:spPr>
          <a:xfrm>
            <a:off x="7754112" y="3749040"/>
            <a:ext cx="3154680" cy="219456"/>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Đó là lời hứa giữ cho hành trình gia đình không bị ngắt mạch.</a:t>
            </a:r>
            <a:endParaRPr lang="en-US" sz="1140" dirty="0"/>
          </a:p>
        </p:txBody>
      </p:sp>
      <p:sp>
        <p:nvSpPr>
          <p:cNvPr id="24" name="Text 21"/>
          <p:cNvSpPr/>
          <p:nvPr/>
        </p:nvSpPr>
        <p:spPr>
          <a:xfrm>
            <a:off x="7754112" y="4059936"/>
            <a:ext cx="3154680" cy="219456"/>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Đua ghe Huế là ẩn dụ Việt Nam và giàu cảm xúc nhất cho lời hứa đó.</a:t>
            </a:r>
            <a:endParaRPr lang="en-US" sz="114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OPPORTUNITY</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Bài toán thương hiệu và cơ hội mở khóa</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Nhân Thọ cần nhiều hơn nhận biết. Thương hiệu cần một không gian để củng cố niềm tin bằng cảm xúc và văn hóa.</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Brand problem</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Thông điệp bảo vệ gia đình là đúng nhưng thường nghe quen.</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Các điểm chạm truyền thông nhanh nhưng ít tài sản sở hữu lâu dài.</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Thương hiệu cần được cảm nhận như một người đồng hành đáng tin.</a:t>
            </a:r>
            <a:endParaRPr lang="en-US" sz="1140" dirty="0"/>
          </a:p>
        </p:txBody>
      </p:sp>
      <p:sp>
        <p:nvSpPr>
          <p:cNvPr id="12" name="Shape 9"/>
          <p:cNvSpPr/>
          <p:nvPr/>
        </p:nvSpPr>
        <p:spPr>
          <a:xfrm>
            <a:off x="1005840" y="4901184"/>
            <a:ext cx="4782312" cy="256032"/>
          </a:xfrm>
          <a:prstGeom prst="roundRect">
            <a:avLst>
              <a:gd name="adj" fmla="val 10714"/>
            </a:avLst>
          </a:prstGeom>
          <a:solidFill>
            <a:srgbClr val="F7F3E8"/>
          </a:solidFill>
          <a:ln w="12700">
            <a:solidFill>
              <a:srgbClr val="F7F3E8"/>
            </a:solidFill>
            <a:prstDash val="solid"/>
          </a:ln>
        </p:spPr>
      </p:sp>
      <p:sp>
        <p:nvSpPr>
          <p:cNvPr id="13" name="Text 10"/>
          <p:cNvSpPr/>
          <p:nvPr/>
        </p:nvSpPr>
        <p:spPr>
          <a:xfrm>
            <a:off x="1078992" y="4965192"/>
            <a:ext cx="4636008" cy="109728"/>
          </a:xfrm>
          <a:prstGeom prst="rect">
            <a:avLst/>
          </a:prstGeom>
          <a:noFill/>
          <a:ln/>
        </p:spPr>
        <p:txBody>
          <a:bodyPr wrap="square" lIns="0" tIns="0" rIns="0" bIns="0" rtlCol="0" anchor="t"/>
          <a:lstStyle/>
          <a:p>
            <a:pPr algn="l" indent="0" marL="0">
              <a:buNone/>
            </a:pPr>
            <a:r>
              <a:rPr lang="en-US" sz="880" b="1" dirty="0">
                <a:solidFill>
                  <a:srgbClr val="9F720C"/>
                </a:solidFill>
                <a:latin typeface="Barlow" pitchFamily="34" charset="0"/>
                <a:ea typeface="Barlow" pitchFamily="34" charset="-122"/>
                <a:cs typeface="Barlow" pitchFamily="34" charset="-120"/>
              </a:rPr>
              <a:t>Need: một platform có chiều sâu biểu tượng và khả năng lặp lại.</a:t>
            </a:r>
            <a:endParaRPr lang="en-US" sz="880" dirty="0"/>
          </a:p>
        </p:txBody>
      </p:sp>
      <p:sp>
        <p:nvSpPr>
          <p:cNvPr id="14" name="Shape 11"/>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5" name="Shape 12"/>
          <p:cNvSpPr/>
          <p:nvPr/>
        </p:nvSpPr>
        <p:spPr>
          <a:xfrm>
            <a:off x="6455664" y="2157984"/>
            <a:ext cx="1005840" cy="45720"/>
          </a:xfrm>
          <a:prstGeom prst="rect">
            <a:avLst/>
          </a:prstGeom>
          <a:solidFill>
            <a:srgbClr val="C99211"/>
          </a:solidFill>
          <a:ln w="12700">
            <a:solidFill>
              <a:srgbClr val="C99211"/>
            </a:solidFill>
            <a:prstDash val="solid"/>
          </a:ln>
        </p:spPr>
      </p:sp>
      <p:sp>
        <p:nvSpPr>
          <p:cNvPr id="16" name="Text 13"/>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Brand opportunity</a:t>
            </a:r>
            <a:endParaRPr lang="en-US" sz="1750" dirty="0"/>
          </a:p>
        </p:txBody>
      </p:sp>
      <p:sp>
        <p:nvSpPr>
          <p:cNvPr id="17" name="Text 14"/>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Trở thành người giữ nhịp cho một nghi lễ cộng đồng được mong đợi.</a:t>
            </a:r>
            <a:endParaRPr lang="en-US" sz="1140" dirty="0"/>
          </a:p>
        </p:txBody>
      </p:sp>
      <p:sp>
        <p:nvSpPr>
          <p:cNvPr id="18" name="Text 15"/>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Biến giá trị 'bảo vệ sự tiếp nối' thành trải nghiệm nhìn thấy và cảm được.</a:t>
            </a:r>
            <a:endParaRPr lang="en-US" sz="1140" dirty="0"/>
          </a:p>
        </p:txBody>
      </p:sp>
      <p:sp>
        <p:nvSpPr>
          <p:cNvPr id="19" name="Text 16"/>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Mở ra hệ IMC đủ lớn để kể câu chuyện thương hiệu ở phạm vi quốc gia.</a:t>
            </a:r>
            <a:endParaRPr lang="en-US" sz="1140" dirty="0"/>
          </a:p>
        </p:txBody>
      </p:sp>
      <p:sp>
        <p:nvSpPr>
          <p:cNvPr id="20" name="Shape 17"/>
          <p:cNvSpPr/>
          <p:nvPr/>
        </p:nvSpPr>
        <p:spPr>
          <a:xfrm>
            <a:off x="6419088" y="4901184"/>
            <a:ext cx="4782312" cy="256032"/>
          </a:xfrm>
          <a:prstGeom prst="roundRect">
            <a:avLst>
              <a:gd name="adj" fmla="val 10714"/>
            </a:avLst>
          </a:prstGeom>
          <a:solidFill>
            <a:srgbClr val="F7F3E8"/>
          </a:solidFill>
          <a:ln w="12700">
            <a:solidFill>
              <a:srgbClr val="F7F3E8"/>
            </a:solidFill>
            <a:prstDash val="solid"/>
          </a:ln>
        </p:spPr>
      </p:sp>
      <p:sp>
        <p:nvSpPr>
          <p:cNvPr id="21" name="Text 18"/>
          <p:cNvSpPr/>
          <p:nvPr/>
        </p:nvSpPr>
        <p:spPr>
          <a:xfrm>
            <a:off x="6492240" y="4965192"/>
            <a:ext cx="4636008" cy="109728"/>
          </a:xfrm>
          <a:prstGeom prst="rect">
            <a:avLst/>
          </a:prstGeom>
          <a:noFill/>
          <a:ln/>
        </p:spPr>
        <p:txBody>
          <a:bodyPr wrap="square" lIns="0" tIns="0" rIns="0" bIns="0" rtlCol="0" anchor="t"/>
          <a:lstStyle/>
          <a:p>
            <a:pPr algn="l" indent="0" marL="0">
              <a:buNone/>
            </a:pPr>
            <a:r>
              <a:rPr lang="en-US" sz="880" b="1" dirty="0">
                <a:solidFill>
                  <a:srgbClr val="9F720C"/>
                </a:solidFill>
                <a:latin typeface="Barlow" pitchFamily="34" charset="0"/>
                <a:ea typeface="Barlow" pitchFamily="34" charset="-122"/>
                <a:cs typeface="Barlow" pitchFamily="34" charset="-120"/>
              </a:rPr>
              <a:t>Outcome: từ sponsor thành cultural custodian.</a:t>
            </a:r>
            <a:endParaRPr lang="en-US" sz="8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Vai trò của Bảo Việt Nhân Thọ trong dự án này phải lớn hơn một nhà tài trợ</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là người giữ cho cuộc đua tiếp tục, cũng như giữ cho hành trình của mỗi gia đình không ngừng lại.</a:t>
            </a:r>
            <a:endParaRPr lang="en-US" sz="1100" dirty="0"/>
          </a:p>
        </p:txBody>
      </p:sp>
      <p:sp>
        <p:nvSpPr>
          <p:cNvPr id="6" name="Shape 3"/>
          <p:cNvSpPr/>
          <p:nvPr/>
        </p:nvSpPr>
        <p:spPr>
          <a:xfrm>
            <a:off x="822960" y="2057400"/>
            <a:ext cx="10561320" cy="2926080"/>
          </a:xfrm>
          <a:prstGeom prst="roundRect">
            <a:avLst>
              <a:gd name="adj" fmla="val 1563"/>
            </a:avLst>
          </a:prstGeom>
          <a:solidFill>
            <a:srgbClr val="FFFFFF"/>
          </a:solidFill>
          <a:ln w="12700">
            <a:solidFill>
              <a:srgbClr val="D8E0E8"/>
            </a:solidFill>
            <a:prstDash val="solid"/>
          </a:ln>
        </p:spPr>
      </p:sp>
      <p:sp>
        <p:nvSpPr>
          <p:cNvPr id="7" name="Shape 4"/>
          <p:cNvSpPr/>
          <p:nvPr/>
        </p:nvSpPr>
        <p:spPr>
          <a:xfrm>
            <a:off x="1051560" y="2487168"/>
            <a:ext cx="2880360" cy="1965960"/>
          </a:xfrm>
          <a:prstGeom prst="roundRect">
            <a:avLst>
              <a:gd name="adj" fmla="val 2326"/>
            </a:avLst>
          </a:prstGeom>
          <a:solidFill>
            <a:srgbClr val="F6F8FB"/>
          </a:solidFill>
          <a:ln w="12700">
            <a:solidFill>
              <a:srgbClr val="E8EEF5"/>
            </a:solidFill>
            <a:prstDash val="solid"/>
          </a:ln>
        </p:spPr>
      </p:sp>
      <p:sp>
        <p:nvSpPr>
          <p:cNvPr id="8" name="Shape 5"/>
          <p:cNvSpPr/>
          <p:nvPr/>
        </p:nvSpPr>
        <p:spPr>
          <a:xfrm>
            <a:off x="1216152" y="2651760"/>
            <a:ext cx="438912"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271016" y="2724912"/>
            <a:ext cx="329184"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01</a:t>
            </a:r>
            <a:endParaRPr lang="en-US" sz="920" dirty="0"/>
          </a:p>
        </p:txBody>
      </p:sp>
      <p:sp>
        <p:nvSpPr>
          <p:cNvPr id="10" name="Text 7"/>
          <p:cNvSpPr/>
          <p:nvPr/>
        </p:nvSpPr>
        <p:spPr>
          <a:xfrm>
            <a:off x="1216152" y="2999232"/>
            <a:ext cx="2468880" cy="21945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Title sponsor</a:t>
            </a:r>
            <a:endParaRPr lang="en-US" sz="1550" dirty="0"/>
          </a:p>
        </p:txBody>
      </p:sp>
      <p:sp>
        <p:nvSpPr>
          <p:cNvPr id="11" name="Text 8"/>
          <p:cNvSpPr/>
          <p:nvPr/>
        </p:nvSpPr>
        <p:spPr>
          <a:xfrm>
            <a:off x="1216152" y="3364992"/>
            <a:ext cx="2468880" cy="65836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Không chỉ đặt tên giải đấu mà đặt tên cho một chuẩn mực tổ chức mới.</a:t>
            </a:r>
            <a:endParaRPr lang="en-US" sz="1110" dirty="0"/>
          </a:p>
        </p:txBody>
      </p:sp>
      <p:sp>
        <p:nvSpPr>
          <p:cNvPr id="12" name="Shape 9"/>
          <p:cNvSpPr/>
          <p:nvPr/>
        </p:nvSpPr>
        <p:spPr>
          <a:xfrm>
            <a:off x="4471416" y="2487168"/>
            <a:ext cx="2880360" cy="1965960"/>
          </a:xfrm>
          <a:prstGeom prst="roundRect">
            <a:avLst>
              <a:gd name="adj" fmla="val 2326"/>
            </a:avLst>
          </a:prstGeom>
          <a:solidFill>
            <a:srgbClr val="F6F8FB"/>
          </a:solidFill>
          <a:ln w="12700">
            <a:solidFill>
              <a:srgbClr val="E8EEF5"/>
            </a:solidFill>
            <a:prstDash val="solid"/>
          </a:ln>
        </p:spPr>
      </p:sp>
      <p:sp>
        <p:nvSpPr>
          <p:cNvPr id="13" name="Shape 10"/>
          <p:cNvSpPr/>
          <p:nvPr/>
        </p:nvSpPr>
        <p:spPr>
          <a:xfrm>
            <a:off x="4636008" y="2651760"/>
            <a:ext cx="438912"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4690872" y="2724912"/>
            <a:ext cx="329184"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a:t>
            </a:r>
            <a:endParaRPr lang="en-US" sz="920" dirty="0"/>
          </a:p>
        </p:txBody>
      </p:sp>
      <p:sp>
        <p:nvSpPr>
          <p:cNvPr id="15" name="Text 12"/>
          <p:cNvSpPr/>
          <p:nvPr/>
        </p:nvSpPr>
        <p:spPr>
          <a:xfrm>
            <a:off x="4636008" y="2999232"/>
            <a:ext cx="2468880" cy="21945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Guardian of continuity</a:t>
            </a:r>
            <a:endParaRPr lang="en-US" sz="1550" dirty="0"/>
          </a:p>
        </p:txBody>
      </p:sp>
      <p:sp>
        <p:nvSpPr>
          <p:cNvPr id="16" name="Text 13"/>
          <p:cNvSpPr/>
          <p:nvPr/>
        </p:nvSpPr>
        <p:spPr>
          <a:xfrm>
            <a:off x="4636008" y="3364992"/>
            <a:ext cx="2468880" cy="65836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Bảo vệ sự tiếp nối của gia đình, cộng đồng và một di sản văn hóa sống.</a:t>
            </a:r>
            <a:endParaRPr lang="en-US" sz="1110" dirty="0"/>
          </a:p>
        </p:txBody>
      </p:sp>
      <p:sp>
        <p:nvSpPr>
          <p:cNvPr id="17" name="Shape 14"/>
          <p:cNvSpPr/>
          <p:nvPr/>
        </p:nvSpPr>
        <p:spPr>
          <a:xfrm>
            <a:off x="7891272" y="2487168"/>
            <a:ext cx="2880360" cy="1965960"/>
          </a:xfrm>
          <a:prstGeom prst="roundRect">
            <a:avLst>
              <a:gd name="adj" fmla="val 2326"/>
            </a:avLst>
          </a:prstGeom>
          <a:solidFill>
            <a:srgbClr val="F6F8FB"/>
          </a:solidFill>
          <a:ln w="12700">
            <a:solidFill>
              <a:srgbClr val="E8EEF5"/>
            </a:solidFill>
            <a:prstDash val="solid"/>
          </a:ln>
        </p:spPr>
      </p:sp>
      <p:sp>
        <p:nvSpPr>
          <p:cNvPr id="18" name="Shape 15"/>
          <p:cNvSpPr/>
          <p:nvPr/>
        </p:nvSpPr>
        <p:spPr>
          <a:xfrm>
            <a:off x="8055864" y="2651760"/>
            <a:ext cx="438912" cy="310896"/>
          </a:xfrm>
          <a:prstGeom prst="roundRect">
            <a:avLst>
              <a:gd name="adj" fmla="val 23529"/>
            </a:avLst>
          </a:prstGeom>
          <a:solidFill>
            <a:srgbClr val="0B6CB8">
              <a:alpha val="92000"/>
            </a:srgbClr>
          </a:solidFill>
          <a:ln w="12700">
            <a:solidFill>
              <a:srgbClr val="0B6CB8"/>
            </a:solidFill>
            <a:prstDash val="solid"/>
          </a:ln>
        </p:spPr>
      </p:sp>
      <p:sp>
        <p:nvSpPr>
          <p:cNvPr id="19" name="Text 16"/>
          <p:cNvSpPr/>
          <p:nvPr/>
        </p:nvSpPr>
        <p:spPr>
          <a:xfrm>
            <a:off x="8110728" y="2724912"/>
            <a:ext cx="329184"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03</a:t>
            </a:r>
            <a:endParaRPr lang="en-US" sz="920" dirty="0"/>
          </a:p>
        </p:txBody>
      </p:sp>
      <p:sp>
        <p:nvSpPr>
          <p:cNvPr id="20" name="Text 17"/>
          <p:cNvSpPr/>
          <p:nvPr/>
        </p:nvSpPr>
        <p:spPr>
          <a:xfrm>
            <a:off x="8055864" y="2999232"/>
            <a:ext cx="2468880" cy="219456"/>
          </a:xfrm>
          <a:prstGeom prst="rect">
            <a:avLst/>
          </a:prstGeom>
          <a:noFill/>
          <a:ln/>
        </p:spPr>
        <p:txBody>
          <a:bodyPr wrap="square" lIns="0" tIns="0" rIns="0" bIns="0" rtlCol="0" anchor="t"/>
          <a:lstStyle/>
          <a:p>
            <a:pPr algn="l" indent="0" marL="0">
              <a:buNone/>
            </a:pPr>
            <a:r>
              <a:rPr lang="en-US" sz="1550" b="1" dirty="0">
                <a:solidFill>
                  <a:srgbClr val="114A7A"/>
                </a:solidFill>
                <a:latin typeface="Barlow" pitchFamily="34" charset="0"/>
                <a:ea typeface="Barlow" pitchFamily="34" charset="-122"/>
                <a:cs typeface="Barlow" pitchFamily="34" charset="-120"/>
              </a:rPr>
              <a:t>Curator of cultural pride</a:t>
            </a:r>
            <a:endParaRPr lang="en-US" sz="1550" dirty="0"/>
          </a:p>
        </p:txBody>
      </p:sp>
      <p:sp>
        <p:nvSpPr>
          <p:cNvPr id="21" name="Text 18"/>
          <p:cNvSpPr/>
          <p:nvPr/>
        </p:nvSpPr>
        <p:spPr>
          <a:xfrm>
            <a:off x="8055864" y="3364992"/>
            <a:ext cx="2468880" cy="65836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Tôn vinh Huế bằng cách nâng nghi lễ truyền thống lên tầm trải nghiệm quốc gia.</a:t>
            </a:r>
            <a:endParaRPr lang="en-US" sz="1110" dirty="0"/>
          </a:p>
        </p:txBody>
      </p:sp>
      <p:sp>
        <p:nvSpPr>
          <p:cNvPr id="22" name="Shape 19"/>
          <p:cNvSpPr/>
          <p:nvPr/>
        </p:nvSpPr>
        <p:spPr>
          <a:xfrm>
            <a:off x="822960" y="5358384"/>
            <a:ext cx="7406640" cy="841248"/>
          </a:xfrm>
          <a:prstGeom prst="roundRect">
            <a:avLst>
              <a:gd name="adj" fmla="val 5435"/>
            </a:avLst>
          </a:prstGeom>
          <a:solidFill>
            <a:srgbClr val="F6F8FB"/>
          </a:solidFill>
          <a:ln w="12700">
            <a:solidFill>
              <a:srgbClr val="E7EDF4"/>
            </a:solidFill>
            <a:prstDash val="solid"/>
          </a:ln>
        </p:spPr>
      </p:sp>
      <p:sp>
        <p:nvSpPr>
          <p:cNvPr id="23" name="Text 20"/>
          <p:cNvSpPr/>
          <p:nvPr/>
        </p:nvSpPr>
        <p:spPr>
          <a:xfrm>
            <a:off x="1042416" y="5541264"/>
            <a:ext cx="6858000" cy="274320"/>
          </a:xfrm>
          <a:prstGeom prst="rect">
            <a:avLst/>
          </a:prstGeom>
          <a:noFill/>
          <a:ln/>
        </p:spPr>
        <p:txBody>
          <a:bodyPr wrap="square" lIns="0" tIns="0" rIns="0" bIns="0" rtlCol="0" anchor="t"/>
          <a:lstStyle/>
          <a:p>
            <a:pPr algn="l" indent="0" marL="0">
              <a:buNone/>
            </a:pPr>
            <a:r>
              <a:rPr lang="en-US" sz="1320" i="1" dirty="0">
                <a:solidFill>
                  <a:srgbClr val="114A7A"/>
                </a:solidFill>
                <a:latin typeface="Barlow" pitchFamily="34" charset="0"/>
                <a:ea typeface="Barlow" pitchFamily="34" charset="-122"/>
                <a:cs typeface="Barlow" pitchFamily="34" charset="-120"/>
              </a:rPr>
              <a:t>“Khi thương hiệu giữ được nhịp của một di sản, thương hiệu cũng giữ được nhịp của niềm tin.”</a:t>
            </a:r>
            <a:endParaRPr lang="en-US" sz="1320" dirty="0"/>
          </a:p>
        </p:txBody>
      </p:sp>
      <p:sp>
        <p:nvSpPr>
          <p:cNvPr id="24" name="Text 21"/>
          <p:cNvSpPr/>
          <p:nvPr/>
        </p:nvSpPr>
        <p:spPr>
          <a:xfrm>
            <a:off x="1042416" y="5907024"/>
            <a:ext cx="2743200" cy="128016"/>
          </a:xfrm>
          <a:prstGeom prst="rect">
            <a:avLst/>
          </a:prstGeom>
          <a:noFill/>
          <a:ln/>
        </p:spPr>
        <p:txBody>
          <a:bodyPr wrap="square" lIns="0" tIns="0" rIns="0" bIns="0" rtlCol="0" anchor="t"/>
          <a:lstStyle/>
          <a:p>
            <a:pPr algn="l" indent="0" marL="0">
              <a:buNone/>
            </a:pPr>
            <a:r>
              <a:rPr lang="en-US" sz="900" dirty="0">
                <a:solidFill>
                  <a:srgbClr val="5C6C7B"/>
                </a:solidFill>
                <a:latin typeface="Barlow" pitchFamily="34" charset="0"/>
                <a:ea typeface="Barlow" pitchFamily="34" charset="-122"/>
                <a:cs typeface="Barlow" pitchFamily="34" charset="-120"/>
              </a:rPr>
              <a:t>Brand role statement</a:t>
            </a:r>
            <a:endParaRPr lang="en-US" sz="90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Lãnh thổ chiến lược trung tâm</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84832"/>
            <a:ext cx="10561320" cy="2523744"/>
          </a:xfrm>
          <a:prstGeom prst="roundRect">
            <a:avLst>
              <a:gd name="adj" fmla="val 1812"/>
            </a:avLst>
          </a:prstGeom>
          <a:solidFill>
            <a:srgbClr val="114A7A"/>
          </a:solidFill>
          <a:ln w="12700">
            <a:solidFill>
              <a:srgbClr val="114A7A"/>
            </a:solidFill>
            <a:prstDash val="solid"/>
          </a:ln>
        </p:spPr>
      </p:sp>
      <p:sp>
        <p:nvSpPr>
          <p:cNvPr id="7" name="Text 4"/>
          <p:cNvSpPr/>
          <p:nvPr/>
        </p:nvSpPr>
        <p:spPr>
          <a:xfrm>
            <a:off x="1078992" y="2450592"/>
            <a:ext cx="9966960" cy="548640"/>
          </a:xfrm>
          <a:prstGeom prst="rect">
            <a:avLst/>
          </a:prstGeom>
          <a:noFill/>
          <a:ln/>
        </p:spPr>
        <p:txBody>
          <a:bodyPr wrap="square" lIns="0" tIns="0" rIns="0" bIns="0" rtlCol="0" anchor="t"/>
          <a:lstStyle/>
          <a:p>
            <a:pPr algn="l" indent="0" marL="0">
              <a:buNone/>
            </a:pPr>
            <a:r>
              <a:rPr lang="en-US" sz="1750" b="1" dirty="0">
                <a:solidFill>
                  <a:srgbClr val="FFFFFF"/>
                </a:solidFill>
                <a:latin typeface="Barlow" pitchFamily="34" charset="0"/>
                <a:ea typeface="Barlow" pitchFamily="34" charset="-122"/>
                <a:cs typeface="Barlow" pitchFamily="34" charset="-120"/>
              </a:rPr>
              <a:t>Đây là platform đủ rộng để kể câu chuyện bảo vệ gia đình, đủ sâu để chạm vào văn hóa Huế, và đủ linh hoạt để mở rộng thành tài sản thường niên của thương hiệu.</a:t>
            </a:r>
            <a:endParaRPr lang="en-US" sz="1750" dirty="0"/>
          </a:p>
        </p:txBody>
      </p:sp>
      <p:sp>
        <p:nvSpPr>
          <p:cNvPr id="8" name="Text 5"/>
          <p:cNvSpPr/>
          <p:nvPr/>
        </p:nvSpPr>
        <p:spPr>
          <a:xfrm>
            <a:off x="1078992" y="3255264"/>
            <a:ext cx="5669280" cy="182880"/>
          </a:xfrm>
          <a:prstGeom prst="rect">
            <a:avLst/>
          </a:prstGeom>
          <a:noFill/>
          <a:ln/>
        </p:spPr>
        <p:txBody>
          <a:bodyPr wrap="square" lIns="0" tIns="0" rIns="0" bIns="0" rtlCol="0" anchor="ctr"/>
          <a:lstStyle/>
          <a:p>
            <a:pPr marL="152400" indent="-152400">
              <a:buSzPct val="100000"/>
              <a:buChar char="•"/>
            </a:pPr>
            <a:r>
              <a:rPr lang="en-US" sz="1220" dirty="0">
                <a:solidFill>
                  <a:srgbClr val="FFFFFF"/>
                </a:solidFill>
                <a:latin typeface="Barlow" pitchFamily="34" charset="0"/>
                <a:ea typeface="Barlow" pitchFamily="34" charset="-122"/>
                <a:cs typeface="Barlow" pitchFamily="34" charset="-120"/>
              </a:rPr>
              <a:t>Brand truth: Bảo Việt Nhân Thọ bảo vệ sự tiếp nối.</a:t>
            </a:r>
            <a:endParaRPr lang="en-US" sz="1220" dirty="0"/>
          </a:p>
        </p:txBody>
      </p:sp>
      <p:sp>
        <p:nvSpPr>
          <p:cNvPr id="9" name="Text 6"/>
          <p:cNvSpPr/>
          <p:nvPr/>
        </p:nvSpPr>
        <p:spPr>
          <a:xfrm>
            <a:off x="1078992" y="3493008"/>
            <a:ext cx="5669280" cy="182880"/>
          </a:xfrm>
          <a:prstGeom prst="rect">
            <a:avLst/>
          </a:prstGeom>
          <a:noFill/>
          <a:ln/>
        </p:spPr>
        <p:txBody>
          <a:bodyPr wrap="square" lIns="0" tIns="0" rIns="0" bIns="0" rtlCol="0" anchor="ctr"/>
          <a:lstStyle/>
          <a:p>
            <a:pPr marL="152400" indent="-152400">
              <a:buSzPct val="100000"/>
              <a:buChar char="•"/>
            </a:pPr>
            <a:r>
              <a:rPr lang="en-US" sz="1220" dirty="0">
                <a:solidFill>
                  <a:srgbClr val="FFFFFF"/>
                </a:solidFill>
                <a:latin typeface="Barlow" pitchFamily="34" charset="0"/>
                <a:ea typeface="Barlow" pitchFamily="34" charset="-122"/>
                <a:cs typeface="Barlow" pitchFamily="34" charset="-120"/>
              </a:rPr>
              <a:t>Human truth: Gia đình luôn cần một điểm tựa để đi tiếp qua biến động.</a:t>
            </a:r>
            <a:endParaRPr lang="en-US" sz="1220" dirty="0"/>
          </a:p>
        </p:txBody>
      </p:sp>
      <p:sp>
        <p:nvSpPr>
          <p:cNvPr id="10" name="Text 7"/>
          <p:cNvSpPr/>
          <p:nvPr/>
        </p:nvSpPr>
        <p:spPr>
          <a:xfrm>
            <a:off x="1078992" y="3730752"/>
            <a:ext cx="5669280" cy="182880"/>
          </a:xfrm>
          <a:prstGeom prst="rect">
            <a:avLst/>
          </a:prstGeom>
          <a:noFill/>
          <a:ln/>
        </p:spPr>
        <p:txBody>
          <a:bodyPr wrap="square" lIns="0" tIns="0" rIns="0" bIns="0" rtlCol="0" anchor="ctr"/>
          <a:lstStyle/>
          <a:p>
            <a:pPr marL="152400" indent="-152400">
              <a:buSzPct val="100000"/>
              <a:buChar char="•"/>
            </a:pPr>
            <a:r>
              <a:rPr lang="en-US" sz="1220" dirty="0">
                <a:solidFill>
                  <a:srgbClr val="FFFFFF"/>
                </a:solidFill>
                <a:latin typeface="Barlow" pitchFamily="34" charset="0"/>
                <a:ea typeface="Barlow" pitchFamily="34" charset="-122"/>
                <a:cs typeface="Barlow" pitchFamily="34" charset="-120"/>
              </a:rPr>
              <a:t>Cultural truth: Huế tôn vinh ký ức, truyền đời và sự gìn giữ.</a:t>
            </a:r>
            <a:endParaRPr lang="en-US" sz="1220" dirty="0"/>
          </a:p>
        </p:txBody>
      </p:sp>
      <p:sp>
        <p:nvSpPr>
          <p:cNvPr id="11" name="Shape 8"/>
          <p:cNvSpPr/>
          <p:nvPr/>
        </p:nvSpPr>
        <p:spPr>
          <a:xfrm>
            <a:off x="7315200" y="3182112"/>
            <a:ext cx="1060704" cy="310896"/>
          </a:xfrm>
          <a:prstGeom prst="roundRect">
            <a:avLst>
              <a:gd name="adj" fmla="val 23529"/>
            </a:avLst>
          </a:prstGeom>
          <a:solidFill>
            <a:srgbClr val="C99211">
              <a:alpha val="92000"/>
            </a:srgbClr>
          </a:solidFill>
          <a:ln w="12700">
            <a:solidFill>
              <a:srgbClr val="C99211"/>
            </a:solidFill>
            <a:prstDash val="solid"/>
          </a:ln>
        </p:spPr>
      </p:sp>
      <p:sp>
        <p:nvSpPr>
          <p:cNvPr id="12" name="Text 9"/>
          <p:cNvSpPr/>
          <p:nvPr/>
        </p:nvSpPr>
        <p:spPr>
          <a:xfrm>
            <a:off x="7370064" y="3255264"/>
            <a:ext cx="95097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EMOTIONAL</a:t>
            </a:r>
            <a:endParaRPr lang="en-US" sz="920" dirty="0"/>
          </a:p>
        </p:txBody>
      </p:sp>
      <p:sp>
        <p:nvSpPr>
          <p:cNvPr id="13" name="Shape 10"/>
          <p:cNvSpPr/>
          <p:nvPr/>
        </p:nvSpPr>
        <p:spPr>
          <a:xfrm>
            <a:off x="8485632" y="3182112"/>
            <a:ext cx="1060704" cy="310896"/>
          </a:xfrm>
          <a:prstGeom prst="roundRect">
            <a:avLst>
              <a:gd name="adj" fmla="val 23529"/>
            </a:avLst>
          </a:prstGeom>
          <a:solidFill>
            <a:srgbClr val="0B6CB8">
              <a:alpha val="92000"/>
            </a:srgbClr>
          </a:solidFill>
          <a:ln w="12700">
            <a:solidFill>
              <a:srgbClr val="0B6CB8"/>
            </a:solidFill>
            <a:prstDash val="solid"/>
          </a:ln>
        </p:spPr>
      </p:sp>
      <p:sp>
        <p:nvSpPr>
          <p:cNvPr id="14" name="Text 11"/>
          <p:cNvSpPr/>
          <p:nvPr/>
        </p:nvSpPr>
        <p:spPr>
          <a:xfrm>
            <a:off x="8540496" y="3255264"/>
            <a:ext cx="95097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a:t>
            </a:r>
            <a:endParaRPr lang="en-US" sz="920" dirty="0"/>
          </a:p>
        </p:txBody>
      </p:sp>
      <p:sp>
        <p:nvSpPr>
          <p:cNvPr id="15" name="Shape 12"/>
          <p:cNvSpPr/>
          <p:nvPr/>
        </p:nvSpPr>
        <p:spPr>
          <a:xfrm>
            <a:off x="9656064" y="3182112"/>
            <a:ext cx="1188720" cy="310896"/>
          </a:xfrm>
          <a:prstGeom prst="roundRect">
            <a:avLst>
              <a:gd name="adj" fmla="val 23529"/>
            </a:avLst>
          </a:prstGeom>
          <a:solidFill>
            <a:srgbClr val="C99211">
              <a:alpha val="92000"/>
            </a:srgbClr>
          </a:solidFill>
          <a:ln w="12700">
            <a:solidFill>
              <a:srgbClr val="C99211"/>
            </a:solidFill>
            <a:prstDash val="solid"/>
          </a:ln>
        </p:spPr>
      </p:sp>
      <p:sp>
        <p:nvSpPr>
          <p:cNvPr id="16" name="Text 13"/>
          <p:cNvSpPr/>
          <p:nvPr/>
        </p:nvSpPr>
        <p:spPr>
          <a:xfrm>
            <a:off x="9710928" y="3255264"/>
            <a:ext cx="1078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SCALABLE</a:t>
            </a:r>
            <a:endParaRPr lang="en-US" sz="920" dirty="0"/>
          </a:p>
        </p:txBody>
      </p:sp>
      <p:sp>
        <p:nvSpPr>
          <p:cNvPr id="17" name="Text 14"/>
          <p:cNvSpPr/>
          <p:nvPr/>
        </p:nvSpPr>
        <p:spPr>
          <a:xfrm>
            <a:off x="7315200" y="3675888"/>
            <a:ext cx="2926080" cy="329184"/>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Một platform vừa bán được ý nghĩa, vừa xây được di sản thương hiệu.</a:t>
            </a:r>
            <a:endParaRPr lang="en-US" sz="12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BIG IDEA</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Big Idea đề xuất: GIỮ MÁI CHÈO DI SẢN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câu nói gói được cả gia đình, người trụ cột, di sản Huế và vai trò bảo vệ của thương hiệu.</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Vì sao mạnh</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Mái chèo đại diện cho người giữ nhịp và trách nhiệm.</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Di sản mở rộng từ di sản Huế sang di sản gia đình.</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Chữ 'giữ' rất gần với vai trò cốt lõi của bảo hiểm nhân thọ.</a:t>
            </a:r>
            <a:endParaRPr lang="en-US" sz="1140" dirty="0"/>
          </a:p>
        </p:txBody>
      </p:sp>
      <p:sp>
        <p:nvSpPr>
          <p:cNvPr id="12" name="Shape 9"/>
          <p:cNvSpPr/>
          <p:nvPr/>
        </p:nvSpPr>
        <p:spPr>
          <a:xfrm>
            <a:off x="1005840" y="4901184"/>
            <a:ext cx="4782312" cy="256032"/>
          </a:xfrm>
          <a:prstGeom prst="roundRect">
            <a:avLst>
              <a:gd name="adj" fmla="val 10714"/>
            </a:avLst>
          </a:prstGeom>
          <a:solidFill>
            <a:srgbClr val="F7F3E8"/>
          </a:solidFill>
          <a:ln w="12700">
            <a:solidFill>
              <a:srgbClr val="F7F3E8"/>
            </a:solidFill>
            <a:prstDash val="solid"/>
          </a:ln>
        </p:spPr>
      </p:sp>
      <p:sp>
        <p:nvSpPr>
          <p:cNvPr id="13" name="Text 10"/>
          <p:cNvSpPr/>
          <p:nvPr/>
        </p:nvSpPr>
        <p:spPr>
          <a:xfrm>
            <a:off x="1078992" y="4965192"/>
            <a:ext cx="4636008" cy="109728"/>
          </a:xfrm>
          <a:prstGeom prst="rect">
            <a:avLst/>
          </a:prstGeom>
          <a:noFill/>
          <a:ln/>
        </p:spPr>
        <p:txBody>
          <a:bodyPr wrap="square" lIns="0" tIns="0" rIns="0" bIns="0" rtlCol="0" anchor="t"/>
          <a:lstStyle/>
          <a:p>
            <a:pPr algn="l" indent="0" marL="0">
              <a:buNone/>
            </a:pPr>
            <a:r>
              <a:rPr lang="en-US" sz="880" b="1" dirty="0">
                <a:solidFill>
                  <a:srgbClr val="9F720C"/>
                </a:solidFill>
                <a:latin typeface="Barlow" pitchFamily="34" charset="0"/>
                <a:ea typeface="Barlow" pitchFamily="34" charset="-122"/>
                <a:cs typeface="Barlow" pitchFamily="34" charset="-120"/>
              </a:rPr>
              <a:t>Một câu có thể dùng cho event, film, social, PR và nhiều mùa sau.</a:t>
            </a:r>
            <a:endParaRPr lang="en-US" sz="880" dirty="0"/>
          </a:p>
        </p:txBody>
      </p:sp>
      <p:sp>
        <p:nvSpPr>
          <p:cNvPr id="14" name="Shape 11"/>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5" name="Shape 12"/>
          <p:cNvSpPr/>
          <p:nvPr/>
        </p:nvSpPr>
        <p:spPr>
          <a:xfrm>
            <a:off x="6455664" y="2157984"/>
            <a:ext cx="1005840" cy="45720"/>
          </a:xfrm>
          <a:prstGeom prst="rect">
            <a:avLst/>
          </a:prstGeom>
          <a:solidFill>
            <a:srgbClr val="C99211"/>
          </a:solidFill>
          <a:ln w="12700">
            <a:solidFill>
              <a:srgbClr val="C99211"/>
            </a:solidFill>
            <a:prstDash val="solid"/>
          </a:ln>
        </p:spPr>
      </p:sp>
      <p:sp>
        <p:nvSpPr>
          <p:cNvPr id="16" name="Text 13"/>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Vì sao hợp Bảo Việt</a:t>
            </a:r>
            <a:endParaRPr lang="en-US" sz="1750" dirty="0"/>
          </a:p>
        </p:txBody>
      </p:sp>
      <p:sp>
        <p:nvSpPr>
          <p:cNvPr id="17" name="Text 14"/>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Ngôn ngữ sang trọng, có chiều sâu, không phô trương bán hàng.</a:t>
            </a:r>
            <a:endParaRPr lang="en-US" sz="1140" dirty="0"/>
          </a:p>
        </p:txBody>
      </p:sp>
      <p:sp>
        <p:nvSpPr>
          <p:cNvPr id="18" name="Text 15"/>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Chạm cảm xúc gia đình mà vẫn giữ sự chuẩn mực của thương hiệu lớn.</a:t>
            </a:r>
            <a:endParaRPr lang="en-US" sz="1140" dirty="0"/>
          </a:p>
        </p:txBody>
      </p:sp>
      <p:sp>
        <p:nvSpPr>
          <p:cNvPr id="19" name="Text 16"/>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Mở ra một tài sản thương hiệu có thể sở hữu bằng naming rights.</a:t>
            </a:r>
            <a:endParaRPr lang="en-US" sz="1140" dirty="0"/>
          </a:p>
        </p:txBody>
      </p:sp>
      <p:sp>
        <p:nvSpPr>
          <p:cNvPr id="20" name="Shape 17"/>
          <p:cNvSpPr/>
          <p:nvPr/>
        </p:nvSpPr>
        <p:spPr>
          <a:xfrm>
            <a:off x="6419088" y="4901184"/>
            <a:ext cx="4782312" cy="256032"/>
          </a:xfrm>
          <a:prstGeom prst="roundRect">
            <a:avLst>
              <a:gd name="adj" fmla="val 10714"/>
            </a:avLst>
          </a:prstGeom>
          <a:solidFill>
            <a:srgbClr val="F7F3E8"/>
          </a:solidFill>
          <a:ln w="12700">
            <a:solidFill>
              <a:srgbClr val="F7F3E8"/>
            </a:solidFill>
            <a:prstDash val="solid"/>
          </a:ln>
        </p:spPr>
      </p:sp>
      <p:sp>
        <p:nvSpPr>
          <p:cNvPr id="21" name="Text 18"/>
          <p:cNvSpPr/>
          <p:nvPr/>
        </p:nvSpPr>
        <p:spPr>
          <a:xfrm>
            <a:off x="6492240" y="4965192"/>
            <a:ext cx="4636008" cy="109728"/>
          </a:xfrm>
          <a:prstGeom prst="rect">
            <a:avLst/>
          </a:prstGeom>
          <a:noFill/>
          <a:ln/>
        </p:spPr>
        <p:txBody>
          <a:bodyPr wrap="square" lIns="0" tIns="0" rIns="0" bIns="0" rtlCol="0" anchor="t"/>
          <a:lstStyle/>
          <a:p>
            <a:pPr algn="l" indent="0" marL="0">
              <a:buNone/>
            </a:pPr>
            <a:r>
              <a:rPr lang="en-US" sz="880" b="1" dirty="0">
                <a:solidFill>
                  <a:srgbClr val="9F720C"/>
                </a:solidFill>
                <a:latin typeface="Barlow" pitchFamily="34" charset="0"/>
                <a:ea typeface="Barlow" pitchFamily="34" charset="-122"/>
                <a:cs typeface="Barlow" pitchFamily="34" charset="-120"/>
              </a:rPr>
              <a:t>Đủ premium cho boardroom và đủ lan tỏa cho đại chúng.</a:t>
            </a:r>
            <a:endParaRPr lang="en-US" sz="8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Hệ thống thông điệp truyền thông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hệ message nhiều tầng để vừa có headline lớn, vừa có thông điệp triển khai theo từng touchpoint.</a:t>
            </a:r>
            <a:endParaRPr lang="en-US" sz="1100" dirty="0"/>
          </a:p>
        </p:txBody>
      </p:sp>
      <p:sp>
        <p:nvSpPr>
          <p:cNvPr id="6" name="Shape 3"/>
          <p:cNvSpPr/>
          <p:nvPr/>
        </p:nvSpPr>
        <p:spPr>
          <a:xfrm>
            <a:off x="822960" y="1956816"/>
            <a:ext cx="10561320" cy="1554480"/>
          </a:xfrm>
          <a:prstGeom prst="roundRect">
            <a:avLst>
              <a:gd name="adj" fmla="val 2941"/>
            </a:avLst>
          </a:prstGeom>
          <a:solidFill>
            <a:srgbClr val="114A7A"/>
          </a:solidFill>
          <a:ln w="12700">
            <a:solidFill>
              <a:srgbClr val="114A7A"/>
            </a:solidFill>
            <a:prstDash val="solid"/>
          </a:ln>
        </p:spPr>
      </p:sp>
      <p:sp>
        <p:nvSpPr>
          <p:cNvPr id="7" name="Text 4"/>
          <p:cNvSpPr/>
          <p:nvPr/>
        </p:nvSpPr>
        <p:spPr>
          <a:xfrm>
            <a:off x="1078992" y="2212848"/>
            <a:ext cx="1463040" cy="146304"/>
          </a:xfrm>
          <a:prstGeom prst="rect">
            <a:avLst/>
          </a:prstGeom>
          <a:noFill/>
          <a:ln/>
        </p:spPr>
        <p:txBody>
          <a:bodyPr wrap="square" lIns="0" tIns="0" rIns="0" bIns="0" rtlCol="0" anchor="t"/>
          <a:lstStyle/>
          <a:p>
            <a:pPr algn="l" indent="0" marL="0">
              <a:buNone/>
            </a:pPr>
            <a:r>
              <a:rPr lang="en-US" sz="1000" b="1" dirty="0">
                <a:solidFill>
                  <a:srgbClr val="BFD5EA"/>
                </a:solidFill>
                <a:latin typeface="Barlow" pitchFamily="34" charset="0"/>
                <a:ea typeface="Barlow" pitchFamily="34" charset="-122"/>
                <a:cs typeface="Barlow" pitchFamily="34" charset="-120"/>
              </a:rPr>
              <a:t>CORE TERRITORY</a:t>
            </a:r>
            <a:endParaRPr lang="en-US" sz="1000" dirty="0"/>
          </a:p>
        </p:txBody>
      </p:sp>
      <p:sp>
        <p:nvSpPr>
          <p:cNvPr id="8" name="Text 5"/>
          <p:cNvSpPr/>
          <p:nvPr/>
        </p:nvSpPr>
        <p:spPr>
          <a:xfrm>
            <a:off x="1078992" y="2487168"/>
            <a:ext cx="7040880" cy="347472"/>
          </a:xfrm>
          <a:prstGeom prst="rect">
            <a:avLst/>
          </a:prstGeom>
          <a:noFill/>
          <a:ln/>
        </p:spPr>
        <p:txBody>
          <a:bodyPr wrap="square" lIns="0" tIns="0" rIns="0" bIns="0" rtlCol="0" anchor="t"/>
          <a:lstStyle/>
          <a:p>
            <a:pPr algn="l" indent="0" marL="0">
              <a:buNone/>
            </a:pPr>
            <a:r>
              <a:rPr lang="en-US" sz="24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400" dirty="0"/>
          </a:p>
        </p:txBody>
      </p:sp>
      <p:sp>
        <p:nvSpPr>
          <p:cNvPr id="9" name="Text 6"/>
          <p:cNvSpPr/>
          <p:nvPr/>
        </p:nvSpPr>
        <p:spPr>
          <a:xfrm>
            <a:off x="1078992" y="2907792"/>
            <a:ext cx="5303520" cy="146304"/>
          </a:xfrm>
          <a:prstGeom prst="rect">
            <a:avLst/>
          </a:prstGeom>
          <a:noFill/>
          <a:ln/>
        </p:spPr>
        <p:txBody>
          <a:bodyPr wrap="square" lIns="0" tIns="0" rIns="0" bIns="0" rtlCol="0" anchor="t"/>
          <a:lstStyle/>
          <a:p>
            <a:pPr algn="l" indent="0" marL="0">
              <a:buNone/>
            </a:pPr>
            <a:r>
              <a:rPr lang="en-US" sz="1150" dirty="0">
                <a:solidFill>
                  <a:srgbClr val="FFFFFF"/>
                </a:solidFill>
                <a:latin typeface="Barlow" pitchFamily="34" charset="0"/>
                <a:ea typeface="Barlow" pitchFamily="34" charset="-122"/>
                <a:cs typeface="Barlow" pitchFamily="34" charset="-120"/>
              </a:rPr>
              <a:t>Lãnh thổ lớn để kể về bảo vệ, kế thừa và sự tiếp nối của gia đình Việt.</a:t>
            </a:r>
            <a:endParaRPr lang="en-US" sz="1150" dirty="0"/>
          </a:p>
        </p:txBody>
      </p:sp>
      <p:sp>
        <p:nvSpPr>
          <p:cNvPr id="10" name="Shape 7"/>
          <p:cNvSpPr/>
          <p:nvPr/>
        </p:nvSpPr>
        <p:spPr>
          <a:xfrm>
            <a:off x="822960" y="3794760"/>
            <a:ext cx="3429000" cy="1353312"/>
          </a:xfrm>
          <a:prstGeom prst="roundRect">
            <a:avLst>
              <a:gd name="adj" fmla="val 3378"/>
            </a:avLst>
          </a:prstGeom>
          <a:solidFill>
            <a:srgbClr val="FFFFFF"/>
          </a:solidFill>
          <a:ln w="12700">
            <a:solidFill>
              <a:srgbClr val="D8E0E8"/>
            </a:solidFill>
            <a:prstDash val="solid"/>
          </a:ln>
        </p:spPr>
      </p:sp>
      <p:sp>
        <p:nvSpPr>
          <p:cNvPr id="11" name="Shape 8"/>
          <p:cNvSpPr/>
          <p:nvPr/>
        </p:nvSpPr>
        <p:spPr>
          <a:xfrm>
            <a:off x="950976" y="3913632"/>
            <a:ext cx="54864" cy="960120"/>
          </a:xfrm>
          <a:prstGeom prst="rect">
            <a:avLst/>
          </a:prstGeom>
          <a:solidFill>
            <a:srgbClr val="C99211"/>
          </a:solidFill>
          <a:ln w="12700">
            <a:solidFill>
              <a:srgbClr val="C99211"/>
            </a:solidFill>
            <a:prstDash val="solid"/>
          </a:ln>
        </p:spPr>
      </p:sp>
      <p:sp>
        <p:nvSpPr>
          <p:cNvPr id="12" name="Text 9"/>
          <p:cNvSpPr/>
          <p:nvPr/>
        </p:nvSpPr>
        <p:spPr>
          <a:xfrm>
            <a:off x="1078992" y="3931920"/>
            <a:ext cx="1280160" cy="128016"/>
          </a:xfrm>
          <a:prstGeom prst="rect">
            <a:avLst/>
          </a:prstGeom>
          <a:noFill/>
          <a:ln/>
        </p:spPr>
        <p:txBody>
          <a:bodyPr wrap="square" lIns="0" tIns="0" rIns="0" bIns="0" rtlCol="0" anchor="t"/>
          <a:lstStyle/>
          <a:p>
            <a:pPr algn="l" indent="0" marL="0">
              <a:buNone/>
            </a:pPr>
            <a:r>
              <a:rPr lang="en-US" sz="920" b="1" dirty="0">
                <a:solidFill>
                  <a:srgbClr val="5C6C7B"/>
                </a:solidFill>
                <a:latin typeface="Barlow" pitchFamily="34" charset="0"/>
                <a:ea typeface="Barlow" pitchFamily="34" charset="-122"/>
                <a:cs typeface="Barlow" pitchFamily="34" charset="-120"/>
              </a:rPr>
              <a:t>BIG IDEA</a:t>
            </a:r>
            <a:endParaRPr lang="en-US" sz="920" dirty="0"/>
          </a:p>
        </p:txBody>
      </p:sp>
      <p:sp>
        <p:nvSpPr>
          <p:cNvPr id="13" name="Text 10"/>
          <p:cNvSpPr/>
          <p:nvPr/>
        </p:nvSpPr>
        <p:spPr>
          <a:xfrm>
            <a:off x="1078992" y="4187952"/>
            <a:ext cx="2834640" cy="457200"/>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Giữ mái chèo di sản</a:t>
            </a:r>
            <a:endParaRPr lang="en-US" sz="1800" dirty="0"/>
          </a:p>
        </p:txBody>
      </p:sp>
      <p:sp>
        <p:nvSpPr>
          <p:cNvPr id="14" name="Shape 11"/>
          <p:cNvSpPr/>
          <p:nvPr/>
        </p:nvSpPr>
        <p:spPr>
          <a:xfrm>
            <a:off x="4389120" y="3794760"/>
            <a:ext cx="3429000" cy="1353312"/>
          </a:xfrm>
          <a:prstGeom prst="roundRect">
            <a:avLst>
              <a:gd name="adj" fmla="val 3378"/>
            </a:avLst>
          </a:prstGeom>
          <a:solidFill>
            <a:srgbClr val="FFFFFF"/>
          </a:solidFill>
          <a:ln w="12700">
            <a:solidFill>
              <a:srgbClr val="D8E0E8"/>
            </a:solidFill>
            <a:prstDash val="solid"/>
          </a:ln>
        </p:spPr>
      </p:sp>
      <p:sp>
        <p:nvSpPr>
          <p:cNvPr id="15" name="Shape 12"/>
          <p:cNvSpPr/>
          <p:nvPr/>
        </p:nvSpPr>
        <p:spPr>
          <a:xfrm>
            <a:off x="4517136" y="3913632"/>
            <a:ext cx="54864" cy="960120"/>
          </a:xfrm>
          <a:prstGeom prst="rect">
            <a:avLst/>
          </a:prstGeom>
          <a:solidFill>
            <a:srgbClr val="0B6CB8"/>
          </a:solidFill>
          <a:ln w="12700">
            <a:solidFill>
              <a:srgbClr val="0B6CB8"/>
            </a:solidFill>
            <a:prstDash val="solid"/>
          </a:ln>
        </p:spPr>
      </p:sp>
      <p:sp>
        <p:nvSpPr>
          <p:cNvPr id="16" name="Text 13"/>
          <p:cNvSpPr/>
          <p:nvPr/>
        </p:nvSpPr>
        <p:spPr>
          <a:xfrm>
            <a:off x="4645152" y="3931920"/>
            <a:ext cx="1280160" cy="128016"/>
          </a:xfrm>
          <a:prstGeom prst="rect">
            <a:avLst/>
          </a:prstGeom>
          <a:noFill/>
          <a:ln/>
        </p:spPr>
        <p:txBody>
          <a:bodyPr wrap="square" lIns="0" tIns="0" rIns="0" bIns="0" rtlCol="0" anchor="t"/>
          <a:lstStyle/>
          <a:p>
            <a:pPr algn="l" indent="0" marL="0">
              <a:buNone/>
            </a:pPr>
            <a:r>
              <a:rPr lang="en-US" sz="920" b="1" dirty="0">
                <a:solidFill>
                  <a:srgbClr val="5C6C7B"/>
                </a:solidFill>
                <a:latin typeface="Barlow" pitchFamily="34" charset="0"/>
                <a:ea typeface="Barlow" pitchFamily="34" charset="-122"/>
                <a:cs typeface="Barlow" pitchFamily="34" charset="-120"/>
              </a:rPr>
              <a:t>SIGN-OFF</a:t>
            </a:r>
            <a:endParaRPr lang="en-US" sz="920" dirty="0"/>
          </a:p>
        </p:txBody>
      </p:sp>
      <p:sp>
        <p:nvSpPr>
          <p:cNvPr id="17" name="Text 14"/>
          <p:cNvSpPr/>
          <p:nvPr/>
        </p:nvSpPr>
        <p:spPr>
          <a:xfrm>
            <a:off x="4645152" y="4187952"/>
            <a:ext cx="2834640" cy="45720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8" name="Shape 15"/>
          <p:cNvSpPr/>
          <p:nvPr/>
        </p:nvSpPr>
        <p:spPr>
          <a:xfrm>
            <a:off x="7955280" y="3794760"/>
            <a:ext cx="3429000" cy="1353312"/>
          </a:xfrm>
          <a:prstGeom prst="roundRect">
            <a:avLst>
              <a:gd name="adj" fmla="val 3378"/>
            </a:avLst>
          </a:prstGeom>
          <a:solidFill>
            <a:srgbClr val="FFFFFF"/>
          </a:solidFill>
          <a:ln w="12700">
            <a:solidFill>
              <a:srgbClr val="D8E0E8"/>
            </a:solidFill>
            <a:prstDash val="solid"/>
          </a:ln>
        </p:spPr>
      </p:sp>
      <p:sp>
        <p:nvSpPr>
          <p:cNvPr id="19" name="Shape 16"/>
          <p:cNvSpPr/>
          <p:nvPr/>
        </p:nvSpPr>
        <p:spPr>
          <a:xfrm>
            <a:off x="8083296" y="3913632"/>
            <a:ext cx="54864" cy="960120"/>
          </a:xfrm>
          <a:prstGeom prst="rect">
            <a:avLst/>
          </a:prstGeom>
          <a:solidFill>
            <a:srgbClr val="C99211"/>
          </a:solidFill>
          <a:ln w="12700">
            <a:solidFill>
              <a:srgbClr val="C99211"/>
            </a:solidFill>
            <a:prstDash val="solid"/>
          </a:ln>
        </p:spPr>
      </p:sp>
      <p:sp>
        <p:nvSpPr>
          <p:cNvPr id="20" name="Text 17"/>
          <p:cNvSpPr/>
          <p:nvPr/>
        </p:nvSpPr>
        <p:spPr>
          <a:xfrm>
            <a:off x="8211312" y="3931920"/>
            <a:ext cx="1280160" cy="128016"/>
          </a:xfrm>
          <a:prstGeom prst="rect">
            <a:avLst/>
          </a:prstGeom>
          <a:noFill/>
          <a:ln/>
        </p:spPr>
        <p:txBody>
          <a:bodyPr wrap="square" lIns="0" tIns="0" rIns="0" bIns="0" rtlCol="0" anchor="t"/>
          <a:lstStyle/>
          <a:p>
            <a:pPr algn="l" indent="0" marL="0">
              <a:buNone/>
            </a:pPr>
            <a:r>
              <a:rPr lang="en-US" sz="920" b="1" dirty="0">
                <a:solidFill>
                  <a:srgbClr val="5C6C7B"/>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11312" y="4187952"/>
            <a:ext cx="2834640" cy="457200"/>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#GiuMaiCheoDiSan  #DongChayKhongNgungLai</a:t>
            </a:r>
            <a:endParaRPr lang="en-US" sz="180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WINS</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Vì sao ý tưởng này có khả năng chiến thắng cả ở góc nhìn thương hiệu lẫn truyền thông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đề xuất thắng lớn là đề xuất chạm đúng ba tầng: ý nghĩa, hình ảnh, và khả năng nhân rộng.</a:t>
            </a:r>
            <a:endParaRPr lang="en-US" sz="1100" dirty="0"/>
          </a:p>
        </p:txBody>
      </p:sp>
      <p:sp>
        <p:nvSpPr>
          <p:cNvPr id="6" name="Shape 3"/>
          <p:cNvSpPr/>
          <p:nvPr/>
        </p:nvSpPr>
        <p:spPr>
          <a:xfrm>
            <a:off x="822960" y="2029968"/>
            <a:ext cx="5148072" cy="1325880"/>
          </a:xfrm>
          <a:prstGeom prst="roundRect">
            <a:avLst>
              <a:gd name="adj" fmla="val 3448"/>
            </a:avLst>
          </a:prstGeom>
          <a:solidFill>
            <a:srgbClr val="FFFFFF"/>
          </a:solidFill>
          <a:ln w="12700">
            <a:solidFill>
              <a:srgbClr val="D8E0E8"/>
            </a:solidFill>
            <a:prstDash val="solid"/>
          </a:ln>
        </p:spPr>
      </p:sp>
      <p:sp>
        <p:nvSpPr>
          <p:cNvPr id="7" name="Shape 4"/>
          <p:cNvSpPr/>
          <p:nvPr/>
        </p:nvSpPr>
        <p:spPr>
          <a:xfrm>
            <a:off x="1005840" y="2212848"/>
            <a:ext cx="475488" cy="310896"/>
          </a:xfrm>
          <a:prstGeom prst="roundRect">
            <a:avLst>
              <a:gd name="adj" fmla="val 23529"/>
            </a:avLst>
          </a:prstGeom>
          <a:solidFill>
            <a:srgbClr val="0B6CB8">
              <a:alpha val="92000"/>
            </a:srgbClr>
          </a:solidFill>
          <a:ln w="12700">
            <a:solidFill>
              <a:srgbClr val="0B6CB8"/>
            </a:solidFill>
            <a:prstDash val="solid"/>
          </a:ln>
        </p:spPr>
      </p:sp>
      <p:sp>
        <p:nvSpPr>
          <p:cNvPr id="8" name="Text 5"/>
          <p:cNvSpPr/>
          <p:nvPr/>
        </p:nvSpPr>
        <p:spPr>
          <a:xfrm>
            <a:off x="1060704" y="2286000"/>
            <a:ext cx="36576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01</a:t>
            </a:r>
            <a:endParaRPr lang="en-US" sz="920" dirty="0"/>
          </a:p>
        </p:txBody>
      </p:sp>
      <p:sp>
        <p:nvSpPr>
          <p:cNvPr id="9" name="Text 6"/>
          <p:cNvSpPr/>
          <p:nvPr/>
        </p:nvSpPr>
        <p:spPr>
          <a:xfrm>
            <a:off x="1609344" y="2231136"/>
            <a:ext cx="219456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10" name="Text 7"/>
          <p:cNvSpPr/>
          <p:nvPr/>
        </p:nvSpPr>
        <p:spPr>
          <a:xfrm>
            <a:off x="1005840" y="2633472"/>
            <a:ext cx="4572000" cy="420624"/>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Liên kết tự nhiên giữa đua ghe, người trụ cột và vai trò bảo vệ.</a:t>
            </a:r>
            <a:endParaRPr lang="en-US" sz="1140" dirty="0"/>
          </a:p>
        </p:txBody>
      </p:sp>
      <p:sp>
        <p:nvSpPr>
          <p:cNvPr id="11" name="Shape 8"/>
          <p:cNvSpPr/>
          <p:nvPr/>
        </p:nvSpPr>
        <p:spPr>
          <a:xfrm>
            <a:off x="6236208" y="2029968"/>
            <a:ext cx="5148072" cy="1325880"/>
          </a:xfrm>
          <a:prstGeom prst="roundRect">
            <a:avLst>
              <a:gd name="adj" fmla="val 3448"/>
            </a:avLst>
          </a:prstGeom>
          <a:solidFill>
            <a:srgbClr val="F6F8FB"/>
          </a:solidFill>
          <a:ln w="12700">
            <a:solidFill>
              <a:srgbClr val="D8E0E8"/>
            </a:solidFill>
            <a:prstDash val="solid"/>
          </a:ln>
        </p:spPr>
      </p:sp>
      <p:sp>
        <p:nvSpPr>
          <p:cNvPr id="12" name="Shape 9"/>
          <p:cNvSpPr/>
          <p:nvPr/>
        </p:nvSpPr>
        <p:spPr>
          <a:xfrm>
            <a:off x="6419088" y="2212848"/>
            <a:ext cx="47548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6473952" y="2286000"/>
            <a:ext cx="36576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a:t>
            </a:r>
            <a:endParaRPr lang="en-US" sz="920" dirty="0"/>
          </a:p>
        </p:txBody>
      </p:sp>
      <p:sp>
        <p:nvSpPr>
          <p:cNvPr id="14" name="Text 11"/>
          <p:cNvSpPr/>
          <p:nvPr/>
        </p:nvSpPr>
        <p:spPr>
          <a:xfrm>
            <a:off x="7022592" y="2231136"/>
            <a:ext cx="219456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5" name="Text 12"/>
          <p:cNvSpPr/>
          <p:nvPr/>
        </p:nvSpPr>
        <p:spPr>
          <a:xfrm>
            <a:off x="6419088" y="2633472"/>
            <a:ext cx="4572000" cy="420624"/>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140" dirty="0"/>
          </a:p>
        </p:txBody>
      </p:sp>
      <p:sp>
        <p:nvSpPr>
          <p:cNvPr id="16" name="Shape 13"/>
          <p:cNvSpPr/>
          <p:nvPr/>
        </p:nvSpPr>
        <p:spPr>
          <a:xfrm>
            <a:off x="822960" y="3749040"/>
            <a:ext cx="5148072" cy="1325880"/>
          </a:xfrm>
          <a:prstGeom prst="roundRect">
            <a:avLst>
              <a:gd name="adj" fmla="val 3448"/>
            </a:avLst>
          </a:prstGeom>
          <a:solidFill>
            <a:srgbClr val="F6F8FB"/>
          </a:solidFill>
          <a:ln w="12700">
            <a:solidFill>
              <a:srgbClr val="D8E0E8"/>
            </a:solidFill>
            <a:prstDash val="solid"/>
          </a:ln>
        </p:spPr>
      </p:sp>
      <p:sp>
        <p:nvSpPr>
          <p:cNvPr id="17" name="Shape 14"/>
          <p:cNvSpPr/>
          <p:nvPr/>
        </p:nvSpPr>
        <p:spPr>
          <a:xfrm>
            <a:off x="1005840" y="3931920"/>
            <a:ext cx="475488" cy="310896"/>
          </a:xfrm>
          <a:prstGeom prst="roundRect">
            <a:avLst>
              <a:gd name="adj" fmla="val 23529"/>
            </a:avLst>
          </a:prstGeom>
          <a:solidFill>
            <a:srgbClr val="C99211">
              <a:alpha val="92000"/>
            </a:srgbClr>
          </a:solidFill>
          <a:ln w="12700">
            <a:solidFill>
              <a:srgbClr val="C99211"/>
            </a:solidFill>
            <a:prstDash val="solid"/>
          </a:ln>
        </p:spPr>
      </p:sp>
      <p:sp>
        <p:nvSpPr>
          <p:cNvPr id="18" name="Text 15"/>
          <p:cNvSpPr/>
          <p:nvPr/>
        </p:nvSpPr>
        <p:spPr>
          <a:xfrm>
            <a:off x="1060704" y="4005072"/>
            <a:ext cx="36576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03</a:t>
            </a:r>
            <a:endParaRPr lang="en-US" sz="920" dirty="0"/>
          </a:p>
        </p:txBody>
      </p:sp>
      <p:sp>
        <p:nvSpPr>
          <p:cNvPr id="19" name="Text 16"/>
          <p:cNvSpPr/>
          <p:nvPr/>
        </p:nvSpPr>
        <p:spPr>
          <a:xfrm>
            <a:off x="1609344" y="3950208"/>
            <a:ext cx="219456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20" name="Text 17"/>
          <p:cNvSpPr/>
          <p:nvPr/>
        </p:nvSpPr>
        <p:spPr>
          <a:xfrm>
            <a:off x="1005840" y="4352544"/>
            <a:ext cx="4572000" cy="420624"/>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Naming rights và nghi lễ độc quyền giúp thương hiệu sở hữu tài sản văn hóa mới.</a:t>
            </a:r>
            <a:endParaRPr lang="en-US" sz="1140" dirty="0"/>
          </a:p>
        </p:txBody>
      </p:sp>
      <p:sp>
        <p:nvSpPr>
          <p:cNvPr id="21" name="Shape 18"/>
          <p:cNvSpPr/>
          <p:nvPr/>
        </p:nvSpPr>
        <p:spPr>
          <a:xfrm>
            <a:off x="6236208" y="3749040"/>
            <a:ext cx="5148072" cy="1325880"/>
          </a:xfrm>
          <a:prstGeom prst="roundRect">
            <a:avLst>
              <a:gd name="adj" fmla="val 3448"/>
            </a:avLst>
          </a:prstGeom>
          <a:solidFill>
            <a:srgbClr val="FFFFFF"/>
          </a:solidFill>
          <a:ln w="12700">
            <a:solidFill>
              <a:srgbClr val="D8E0E8"/>
            </a:solidFill>
            <a:prstDash val="solid"/>
          </a:ln>
        </p:spPr>
      </p:sp>
      <p:sp>
        <p:nvSpPr>
          <p:cNvPr id="22" name="Shape 19"/>
          <p:cNvSpPr/>
          <p:nvPr/>
        </p:nvSpPr>
        <p:spPr>
          <a:xfrm>
            <a:off x="6419088" y="3931920"/>
            <a:ext cx="475488"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6473952" y="4005072"/>
            <a:ext cx="36576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04</a:t>
            </a:r>
            <a:endParaRPr lang="en-US" sz="920" dirty="0"/>
          </a:p>
        </p:txBody>
      </p:sp>
      <p:sp>
        <p:nvSpPr>
          <p:cNvPr id="24" name="Text 21"/>
          <p:cNvSpPr/>
          <p:nvPr/>
        </p:nvSpPr>
        <p:spPr>
          <a:xfrm>
            <a:off x="7022592" y="3950208"/>
            <a:ext cx="219456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5" name="Text 22"/>
          <p:cNvSpPr/>
          <p:nvPr/>
        </p:nvSpPr>
        <p:spPr>
          <a:xfrm>
            <a:off x="6419088" y="4352544"/>
            <a:ext cx="4572000" cy="420624"/>
          </a:xfrm>
          <a:prstGeom prst="rect">
            <a:avLst/>
          </a:prstGeom>
          <a:noFill/>
          <a:ln/>
        </p:spPr>
        <p:txBody>
          <a:bodyPr wrap="square" lIns="0" tIns="0" rIns="0" bIns="0" rtlCol="0" anchor="t"/>
          <a:lstStyle/>
          <a:p>
            <a:pPr algn="l" indent="0" marL="0">
              <a:buNone/>
            </a:pPr>
            <a:r>
              <a:rPr lang="en-US" sz="1140" dirty="0">
                <a:solidFill>
                  <a:srgbClr val="203040"/>
                </a:solidFill>
                <a:latin typeface="Barlow" pitchFamily="34" charset="0"/>
                <a:ea typeface="Barlow" pitchFamily="34" charset="-122"/>
                <a:cs typeface="Barlow" pitchFamily="34" charset="-120"/>
              </a:rPr>
              <a:t>Mỗi mùa giải cộng dồn thêm câu chuyện, dữ liệu, nội dung và thiện cảm.</a:t>
            </a:r>
            <a:endParaRPr lang="en-US" sz="1140" dirty="0"/>
          </a:p>
        </p:txBody>
      </p:sp>
      <p:sp>
        <p:nvSpPr>
          <p:cNvPr id="26" name="Text 23"/>
          <p:cNvSpPr/>
          <p:nvPr/>
        </p:nvSpPr>
        <p:spPr>
          <a:xfrm>
            <a:off x="822960" y="5532120"/>
            <a:ext cx="7680960" cy="310896"/>
          </a:xfrm>
          <a:prstGeom prst="rect">
            <a:avLst/>
          </a:prstGeom>
          <a:noFill/>
          <a:ln/>
        </p:spPr>
        <p:txBody>
          <a:bodyPr wrap="square" lIns="0" tIns="0" rIns="0" bIns="0" rtlCol="0" anchor="t"/>
          <a:lstStyle/>
          <a:p>
            <a:pPr algn="l" indent="0" marL="0">
              <a:buNone/>
            </a:pPr>
            <a:r>
              <a:rPr lang="en-US" sz="1600" i="1" dirty="0">
                <a:solidFill>
                  <a:srgbClr val="114A7A"/>
                </a:solidFill>
                <a:latin typeface="Barlow" pitchFamily="34" charset="0"/>
                <a:ea typeface="Barlow" pitchFamily="34" charset="-122"/>
                <a:cs typeface="Barlow" pitchFamily="34" charset="-120"/>
              </a:rPr>
              <a:t>Đây không phải creative đặt lên một event. Đây là một asset thương hiệu được sinh ra từ chính tinh thần của event.</a:t>
            </a:r>
            <a:endParaRPr lang="en-US" sz="1600" dirty="0"/>
          </a:p>
        </p:txBody>
      </p:sp>
      <p:sp>
        <p:nvSpPr>
          <p:cNvPr id="27" name="Text 2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841248" y="1847088"/>
            <a:ext cx="91440" cy="1847088"/>
          </a:xfrm>
          <a:prstGeom prst="rect">
            <a:avLst/>
          </a:prstGeom>
          <a:solidFill>
            <a:srgbClr val="0B6CB8"/>
          </a:solidFill>
          <a:ln w="12700">
            <a:solidFill>
              <a:srgbClr val="0B6CB8"/>
            </a:solidFill>
            <a:prstDash val="solid"/>
          </a:ln>
        </p:spPr>
      </p:sp>
      <p:sp>
        <p:nvSpPr>
          <p:cNvPr id="4" name="Text 1"/>
          <p:cNvSpPr/>
          <p:nvPr/>
        </p:nvSpPr>
        <p:spPr>
          <a:xfrm>
            <a:off x="1078992" y="1883664"/>
            <a:ext cx="2194560" cy="164592"/>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5" name="Text 2"/>
          <p:cNvSpPr/>
          <p:nvPr/>
        </p:nvSpPr>
        <p:spPr>
          <a:xfrm>
            <a:off x="1078992" y="2176272"/>
            <a:ext cx="7589520" cy="1005840"/>
          </a:xfrm>
          <a:prstGeom prst="rect">
            <a:avLst/>
          </a:prstGeom>
          <a:noFill/>
          <a:ln/>
        </p:spPr>
        <p:txBody>
          <a:bodyPr wrap="square" lIns="0" tIns="0" rIns="0" bIns="0" rtlCol="0" anchor="ctr"/>
          <a:lstStyle/>
          <a:p>
            <a:pPr indent="0" marL="0">
              <a:buNone/>
            </a:pPr>
            <a:r>
              <a:rPr lang="en-US" sz="2400" b="1" dirty="0">
                <a:solidFill>
                  <a:srgbClr val="FFFFFF"/>
                </a:solidFill>
                <a:latin typeface="Barlow" pitchFamily="34" charset="0"/>
                <a:ea typeface="Barlow" pitchFamily="34" charset="-122"/>
                <a:cs typeface="Barlow" pitchFamily="34" charset="-120"/>
              </a:rPr>
              <a:t>Biến cuộc đua thành một hiện tượng văn hóa đương đại của Huế và của cả thương hiệu.</a:t>
            </a:r>
            <a:endParaRPr lang="en-US" sz="2400" dirty="0"/>
          </a:p>
        </p:txBody>
      </p:sp>
      <p:sp>
        <p:nvSpPr>
          <p:cNvPr id="6" name="Text 3"/>
          <p:cNvSpPr/>
          <p:nvPr/>
        </p:nvSpPr>
        <p:spPr>
          <a:xfrm>
            <a:off x="1078992" y="3364992"/>
            <a:ext cx="6217920" cy="438912"/>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event như một ritual premium trên sông Hương: có nghi thức mở màn, có spectacle thị giác, có lớp nội dung để khán giả muốn xem, muốn chia sẻ, muốn quay lại.</a:t>
            </a:r>
            <a:endParaRPr lang="en-US" sz="1400" dirty="0"/>
          </a:p>
        </p:txBody>
      </p:sp>
      <p:sp>
        <p:nvSpPr>
          <p:cNvPr id="7" name="Text 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Lễ Tôn Vinh Người Cầm Lái</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Khoảnh khắc mở màn giàu biểu tượng: đồng loạt 20 đội dựng mái chèo và hướng về bờ danh dự.</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Mô tả trải nghiệm</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Người cầm lái 20 đội ghe được xướng danh trước giờ xuất phát.</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Đồng loạt dựng mái chèo trên mặt sông như một hàng cột di sản.</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Âm thanh trống - hô lệnh - dàn nhạc dân tộc phối khí đương đại.</a:t>
            </a:r>
            <a:endParaRPr lang="en-US" sz="114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Shape 10"/>
          <p:cNvSpPr/>
          <p:nvPr/>
        </p:nvSpPr>
        <p:spPr>
          <a:xfrm>
            <a:off x="6455664" y="2157984"/>
            <a:ext cx="1005840" cy="45720"/>
          </a:xfrm>
          <a:prstGeom prst="rect">
            <a:avLst/>
          </a:prstGeom>
          <a:solidFill>
            <a:srgbClr val="C99211"/>
          </a:solidFill>
          <a:ln w="12700">
            <a:solidFill>
              <a:srgbClr val="C99211"/>
            </a:solidFill>
            <a:prstDash val="solid"/>
          </a:ln>
        </p:spPr>
      </p:sp>
      <p:sp>
        <p:nvSpPr>
          <p:cNvPr id="14" name="Text 11"/>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Giá trị truyền thông</a:t>
            </a:r>
            <a:endParaRPr lang="en-US" sz="1750" dirty="0"/>
          </a:p>
        </p:txBody>
      </p:sp>
      <p:sp>
        <p:nvSpPr>
          <p:cNvPr id="15" name="Text 12"/>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40" dirty="0"/>
          </a:p>
        </p:txBody>
      </p:sp>
      <p:sp>
        <p:nvSpPr>
          <p:cNvPr id="16" name="Text 13"/>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Tạo visual signature mà báo chí, TV và social đều muốn ghi lại.</a:t>
            </a:r>
            <a:endParaRPr lang="en-US" sz="1140" dirty="0"/>
          </a:p>
        </p:txBody>
      </p:sp>
      <p:sp>
        <p:nvSpPr>
          <p:cNvPr id="17" name="Text 14"/>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Dễ cắt thành short-form video giàu cảm xúc và self-pride.</a:t>
            </a:r>
            <a:endParaRPr lang="en-US" sz="114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02</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Sông Hương - Dòng Sông Ánh Sáng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và niềm tin.</a:t>
            </a:r>
            <a:endParaRPr lang="en-US" sz="1100" dirty="0"/>
          </a:p>
        </p:txBody>
      </p:sp>
      <p:sp>
        <p:nvSpPr>
          <p:cNvPr id="6" name="Shape 3"/>
          <p:cNvSpPr/>
          <p:nvPr/>
        </p:nvSpPr>
        <p:spPr>
          <a:xfrm>
            <a:off x="822960" y="2029968"/>
            <a:ext cx="10561320" cy="3236976"/>
          </a:xfrm>
          <a:prstGeom prst="roundRect">
            <a:avLst>
              <a:gd name="adj" fmla="val 1412"/>
            </a:avLst>
          </a:prstGeom>
          <a:solidFill>
            <a:srgbClr val="114A7A"/>
          </a:solidFill>
          <a:ln w="12700">
            <a:solidFill>
              <a:srgbClr val="114A7A"/>
            </a:solidFill>
            <a:prstDash val="solid"/>
          </a:ln>
        </p:spPr>
      </p:sp>
      <p:sp>
        <p:nvSpPr>
          <p:cNvPr id="7" name="Text 4"/>
          <p:cNvSpPr/>
          <p:nvPr/>
        </p:nvSpPr>
        <p:spPr>
          <a:xfrm>
            <a:off x="1078992" y="2331720"/>
            <a:ext cx="4206240" cy="219456"/>
          </a:xfrm>
          <a:prstGeom prst="rect">
            <a:avLst/>
          </a:prstGeom>
          <a:noFill/>
          <a:ln/>
        </p:spPr>
        <p:txBody>
          <a:bodyPr wrap="square" lIns="0" tIns="0" rIns="0" bIns="0" rtlCol="0" anchor="t"/>
          <a:lstStyle/>
          <a:p>
            <a:pPr algn="l" indent="0" marL="0">
              <a:buNone/>
            </a:pPr>
            <a:r>
              <a:rPr lang="en-US" sz="1900" b="1" dirty="0">
                <a:solidFill>
                  <a:srgbClr val="FFFFFF"/>
                </a:solidFill>
                <a:latin typeface="Barlow" pitchFamily="34" charset="0"/>
                <a:ea typeface="Barlow" pitchFamily="34" charset="-122"/>
                <a:cs typeface="Barlow" pitchFamily="34" charset="-120"/>
              </a:rPr>
              <a:t>Floating light line + lời nhắn truyền đời</a:t>
            </a:r>
            <a:endParaRPr lang="en-US" sz="1900" dirty="0"/>
          </a:p>
        </p:txBody>
      </p:sp>
      <p:sp>
        <p:nvSpPr>
          <p:cNvPr id="8" name="Text 5"/>
          <p:cNvSpPr/>
          <p:nvPr/>
        </p:nvSpPr>
        <p:spPr>
          <a:xfrm>
            <a:off x="1078992" y="2779776"/>
            <a:ext cx="4983480" cy="256032"/>
          </a:xfrm>
          <a:prstGeom prst="rect">
            <a:avLst/>
          </a:prstGeom>
          <a:noFill/>
          <a:ln/>
        </p:spPr>
        <p:txBody>
          <a:bodyPr wrap="square" lIns="0" tIns="0" rIns="0" bIns="0" rtlCol="0" anchor="ctr"/>
          <a:lstStyle/>
          <a:p>
            <a:pPr marL="152400" indent="-152400">
              <a:buSzPct val="100000"/>
              <a:buChar char="•"/>
            </a:pPr>
            <a:r>
              <a:rPr lang="en-US" sz="1200" dirty="0">
                <a:solidFill>
                  <a:srgbClr val="FFFFFF"/>
                </a:solidFill>
                <a:latin typeface="Barlow" pitchFamily="34" charset="0"/>
                <a:ea typeface="Barlow" pitchFamily="34" charset="-122"/>
                <a:cs typeface="Barlow" pitchFamily="34" charset="-120"/>
              </a:rPr>
              <a:t>Hệ thống đèn nổi hoặc thuyền ánh sáng tạo thành dải vàng - xanh mang nhận diện Bảo Việt Nhân Thọ.</a:t>
            </a:r>
            <a:endParaRPr lang="en-US" sz="1200" dirty="0"/>
          </a:p>
        </p:txBody>
      </p:sp>
      <p:sp>
        <p:nvSpPr>
          <p:cNvPr id="9" name="Text 6"/>
          <p:cNvSpPr/>
          <p:nvPr/>
        </p:nvSpPr>
        <p:spPr>
          <a:xfrm>
            <a:off x="1078992" y="3127248"/>
            <a:ext cx="4983480" cy="256032"/>
          </a:xfrm>
          <a:prstGeom prst="rect">
            <a:avLst/>
          </a:prstGeom>
          <a:noFill/>
          <a:ln/>
        </p:spPr>
        <p:txBody>
          <a:bodyPr wrap="square" lIns="0" tIns="0" rIns="0" bIns="0" rtlCol="0" anchor="ctr"/>
          <a:lstStyle/>
          <a:p>
            <a:pPr marL="152400" indent="-152400">
              <a:buSzPct val="100000"/>
              <a:buChar char="•"/>
            </a:pPr>
            <a:r>
              <a:rPr lang="en-US" sz="1200" dirty="0">
                <a:solidFill>
                  <a:srgbClr val="FFFFFF"/>
                </a:solidFill>
                <a:latin typeface="Barlow" pitchFamily="34" charset="0"/>
                <a:ea typeface="Barlow" pitchFamily="34" charset="-122"/>
                <a:cs typeface="Barlow" pitchFamily="34" charset="-120"/>
              </a:rPr>
              <a:t>Các thông điệp 'đi tiếp', 'giữ nhịp', 'chở che' xuất hiện dưới dạng installation hoặc projection mapping ven sông.</a:t>
            </a:r>
            <a:endParaRPr lang="en-US" sz="1200" dirty="0"/>
          </a:p>
        </p:txBody>
      </p:sp>
      <p:sp>
        <p:nvSpPr>
          <p:cNvPr id="10" name="Text 7"/>
          <p:cNvSpPr/>
          <p:nvPr/>
        </p:nvSpPr>
        <p:spPr>
          <a:xfrm>
            <a:off x="1078992" y="3474720"/>
            <a:ext cx="4983480" cy="256032"/>
          </a:xfrm>
          <a:prstGeom prst="rect">
            <a:avLst/>
          </a:prstGeom>
          <a:noFill/>
          <a:ln/>
        </p:spPr>
        <p:txBody>
          <a:bodyPr wrap="square" lIns="0" tIns="0" rIns="0" bIns="0" rtlCol="0" anchor="ctr"/>
          <a:lstStyle/>
          <a:p>
            <a:pPr marL="152400" indent="-152400">
              <a:buSzPct val="100000"/>
              <a:buChar char="•"/>
            </a:pPr>
            <a:r>
              <a:rPr lang="en-US" sz="1200" dirty="0">
                <a:solidFill>
                  <a:srgbClr val="FFFFFF"/>
                </a:solidFill>
                <a:latin typeface="Barlow" pitchFamily="34" charset="0"/>
                <a:ea typeface="Barlow" pitchFamily="34" charset="-122"/>
                <a:cs typeface="Barlow" pitchFamily="34" charset="-120"/>
              </a:rPr>
              <a:t>Khách tham dự có thể gửi lời nhắn cho gia đình để được hiển thị trên màn hình bờ sông hoặc livestream ticker.</a:t>
            </a:r>
            <a:endParaRPr lang="en-US" sz="1200" dirty="0"/>
          </a:p>
        </p:txBody>
      </p:sp>
      <p:sp>
        <p:nvSpPr>
          <p:cNvPr id="11" name="Shape 8"/>
          <p:cNvSpPr/>
          <p:nvPr/>
        </p:nvSpPr>
        <p:spPr>
          <a:xfrm>
            <a:off x="6656832" y="2761488"/>
            <a:ext cx="374904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6784848" y="2889504"/>
            <a:ext cx="45720" cy="859536"/>
          </a:xfrm>
          <a:prstGeom prst="rect">
            <a:avLst/>
          </a:prstGeom>
          <a:solidFill>
            <a:srgbClr val="C99211"/>
          </a:solidFill>
          <a:ln w="12700">
            <a:solidFill>
              <a:srgbClr val="C99211"/>
            </a:solidFill>
            <a:prstDash val="solid"/>
          </a:ln>
        </p:spPr>
      </p:sp>
      <p:sp>
        <p:nvSpPr>
          <p:cNvPr id="13" name="Text 10"/>
          <p:cNvSpPr/>
          <p:nvPr/>
        </p:nvSpPr>
        <p:spPr>
          <a:xfrm>
            <a:off x="6912864" y="2889504"/>
            <a:ext cx="34198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Tác động</a:t>
            </a:r>
            <a:endParaRPr lang="en-US" sz="920" dirty="0"/>
          </a:p>
        </p:txBody>
      </p:sp>
      <p:sp>
        <p:nvSpPr>
          <p:cNvPr id="14" name="Text 11"/>
          <p:cNvSpPr/>
          <p:nvPr/>
        </p:nvSpPr>
        <p:spPr>
          <a:xfrm>
            <a:off x="6912864" y="3108960"/>
            <a:ext cx="34198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Cinematic + shareable</a:t>
            </a:r>
            <a:endParaRPr lang="en-US" sz="1800" dirty="0"/>
          </a:p>
        </p:txBody>
      </p:sp>
      <p:sp>
        <p:nvSpPr>
          <p:cNvPr id="15" name="Text 12"/>
          <p:cNvSpPr/>
          <p:nvPr/>
        </p:nvSpPr>
        <p:spPr>
          <a:xfrm>
            <a:off x="6912864" y="3438144"/>
            <a:ext cx="34198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Đủ đẹp cho báo chí, đủ cảm cho công chúng</a:t>
            </a:r>
            <a:endParaRPr lang="en-US" sz="880" dirty="0"/>
          </a:p>
        </p:txBody>
      </p:sp>
      <p:sp>
        <p:nvSpPr>
          <p:cNvPr id="16" name="Shape 13"/>
          <p:cNvSpPr/>
          <p:nvPr/>
        </p:nvSpPr>
        <p:spPr>
          <a:xfrm>
            <a:off x="6656832" y="4059936"/>
            <a:ext cx="374904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6784848" y="4187952"/>
            <a:ext cx="45720" cy="859536"/>
          </a:xfrm>
          <a:prstGeom prst="rect">
            <a:avLst/>
          </a:prstGeom>
          <a:solidFill>
            <a:srgbClr val="0B6CB8"/>
          </a:solidFill>
          <a:ln w="12700">
            <a:solidFill>
              <a:srgbClr val="0B6CB8"/>
            </a:solidFill>
            <a:prstDash val="solid"/>
          </a:ln>
        </p:spPr>
      </p:sp>
      <p:sp>
        <p:nvSpPr>
          <p:cNvPr id="18" name="Text 15"/>
          <p:cNvSpPr/>
          <p:nvPr/>
        </p:nvSpPr>
        <p:spPr>
          <a:xfrm>
            <a:off x="6912864" y="4187952"/>
            <a:ext cx="34198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Vai trò thương hiệu</a:t>
            </a:r>
            <a:endParaRPr lang="en-US" sz="920" dirty="0"/>
          </a:p>
        </p:txBody>
      </p:sp>
      <p:sp>
        <p:nvSpPr>
          <p:cNvPr id="19" name="Text 16"/>
          <p:cNvSpPr/>
          <p:nvPr/>
        </p:nvSpPr>
        <p:spPr>
          <a:xfrm>
            <a:off x="6912864" y="4407408"/>
            <a:ext cx="34198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Người giữ ánh sáng tiếp nối</a:t>
            </a:r>
            <a:endParaRPr lang="en-US" sz="1800" dirty="0"/>
          </a:p>
        </p:txBody>
      </p:sp>
      <p:sp>
        <p:nvSpPr>
          <p:cNvPr id="20" name="Text 17"/>
          <p:cNvSpPr/>
          <p:nvPr/>
        </p:nvSpPr>
        <p:spPr>
          <a:xfrm>
            <a:off x="6912864" y="4736592"/>
            <a:ext cx="34198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Chuyển hóa từ claim sang trải nghiệm</a:t>
            </a:r>
            <a:endParaRPr lang="en-US" sz="8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Drone Tribute - Giữ Mái Chèo Di Sản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Kịch bản hình ảnh</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Biểu tượng mái chèo - con ghe - sông Hương - cúp Bảo Việt Nhân Thọ.</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Sequence: Giữ mái chèo. Giữ dòng chảy. Giữ gia đình đi tiếp.</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Kết thúc bằng nhận diện event năm đầu như một lời hẹn mùa sau.</a:t>
            </a:r>
            <a:endParaRPr lang="en-US" sz="114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Shape 10"/>
          <p:cNvSpPr/>
          <p:nvPr/>
        </p:nvSpPr>
        <p:spPr>
          <a:xfrm>
            <a:off x="6455664" y="2157984"/>
            <a:ext cx="1005840" cy="45720"/>
          </a:xfrm>
          <a:prstGeom prst="rect">
            <a:avLst/>
          </a:prstGeom>
          <a:solidFill>
            <a:srgbClr val="C99211"/>
          </a:solidFill>
          <a:ln w="12700">
            <a:solidFill>
              <a:srgbClr val="C99211"/>
            </a:solidFill>
            <a:prstDash val="solid"/>
          </a:ln>
        </p:spPr>
      </p:sp>
      <p:sp>
        <p:nvSpPr>
          <p:cNvPr id="14" name="Text 11"/>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Giá trị vượt event</a:t>
            </a:r>
            <a:endParaRPr lang="en-US" sz="1750" dirty="0"/>
          </a:p>
        </p:txBody>
      </p:sp>
      <p:sp>
        <p:nvSpPr>
          <p:cNvPr id="15" name="Text 12"/>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Tạo lượng nội dung UGC và earned media lớn trên toàn quốc.</a:t>
            </a:r>
            <a:endParaRPr lang="en-US" sz="1140" dirty="0"/>
          </a:p>
        </p:txBody>
      </p:sp>
      <p:sp>
        <p:nvSpPr>
          <p:cNvPr id="16" name="Text 13"/>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Giúp giải đấu thoát khỏi cảm giác 'địa phương' để thành national spectacle.</a:t>
            </a:r>
            <a:endParaRPr lang="en-US" sz="1140" dirty="0"/>
          </a:p>
        </p:txBody>
      </p:sp>
      <p:sp>
        <p:nvSpPr>
          <p:cNvPr id="17" name="Text 14"/>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Khóa định vị cho Bảo Việt Nhân Thọ như nhà tài trợ làm văn hóa xứng tầm.</a:t>
            </a:r>
            <a:endParaRPr lang="en-US" sz="114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DESIGN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Tầm nhìn tổng thể cho ngày diễn ra sự kiện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tổ chức một race day. Tổ chức một cultural show day trên mặt nước.</a:t>
            </a:r>
            <a:endParaRPr lang="en-US" sz="1100" dirty="0"/>
          </a:p>
        </p:txBody>
      </p:sp>
      <p:sp>
        <p:nvSpPr>
          <p:cNvPr id="6" name="Shape 3"/>
          <p:cNvSpPr/>
          <p:nvPr/>
        </p:nvSpPr>
        <p:spPr>
          <a:xfrm>
            <a:off x="822960" y="2029968"/>
            <a:ext cx="10561320" cy="420624"/>
          </a:xfrm>
          <a:prstGeom prst="roundRect">
            <a:avLst>
              <a:gd name="adj" fmla="val 6522"/>
            </a:avLst>
          </a:prstGeom>
          <a:solidFill>
            <a:srgbClr val="F6F8FB"/>
          </a:solidFill>
          <a:ln w="12700">
            <a:solidFill>
              <a:srgbClr val="D8E0E8"/>
            </a:solidFill>
            <a:prstDash val="solid"/>
          </a:ln>
        </p:spPr>
      </p:sp>
      <p:sp>
        <p:nvSpPr>
          <p:cNvPr id="7" name="Text 4"/>
          <p:cNvSpPr/>
          <p:nvPr/>
        </p:nvSpPr>
        <p:spPr>
          <a:xfrm>
            <a:off x="1024128" y="2148840"/>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828032" y="2139696"/>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Check-in bờ sông, media warm-up, activation đầu ngày</a:t>
            </a:r>
            <a:endParaRPr lang="en-US" sz="1110" dirty="0"/>
          </a:p>
        </p:txBody>
      </p:sp>
      <p:sp>
        <p:nvSpPr>
          <p:cNvPr id="10" name="Shape 7"/>
          <p:cNvSpPr/>
          <p:nvPr/>
        </p:nvSpPr>
        <p:spPr>
          <a:xfrm>
            <a:off x="822960" y="2560320"/>
            <a:ext cx="10561320" cy="420624"/>
          </a:xfrm>
          <a:prstGeom prst="roundRect">
            <a:avLst>
              <a:gd name="adj" fmla="val 6522"/>
            </a:avLst>
          </a:prstGeom>
          <a:solidFill>
            <a:srgbClr val="FFFFFF"/>
          </a:solidFill>
          <a:ln w="12700">
            <a:solidFill>
              <a:srgbClr val="D8E0E8"/>
            </a:solidFill>
            <a:prstDash val="solid"/>
          </a:ln>
        </p:spPr>
      </p:sp>
      <p:sp>
        <p:nvSpPr>
          <p:cNvPr id="11" name="Text 8"/>
          <p:cNvSpPr/>
          <p:nvPr/>
        </p:nvSpPr>
        <p:spPr>
          <a:xfrm>
            <a:off x="1024128" y="2679192"/>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670048"/>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828032" y="2670048"/>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Nghi thức mở màn tạo dignity và cảm xúc</a:t>
            </a:r>
            <a:endParaRPr lang="en-US" sz="1110" dirty="0"/>
          </a:p>
        </p:txBody>
      </p:sp>
      <p:sp>
        <p:nvSpPr>
          <p:cNvPr id="14" name="Shape 11"/>
          <p:cNvSpPr/>
          <p:nvPr/>
        </p:nvSpPr>
        <p:spPr>
          <a:xfrm>
            <a:off x="822960" y="3090672"/>
            <a:ext cx="10561320" cy="420624"/>
          </a:xfrm>
          <a:prstGeom prst="roundRect">
            <a:avLst>
              <a:gd name="adj" fmla="val 6522"/>
            </a:avLst>
          </a:prstGeom>
          <a:solidFill>
            <a:srgbClr val="F6F8FB"/>
          </a:solidFill>
          <a:ln w="12700">
            <a:solidFill>
              <a:srgbClr val="D8E0E8"/>
            </a:solidFill>
            <a:prstDash val="solid"/>
          </a:ln>
        </p:spPr>
      </p:sp>
      <p:sp>
        <p:nvSpPr>
          <p:cNvPr id="15" name="Text 12"/>
          <p:cNvSpPr/>
          <p:nvPr/>
        </p:nvSpPr>
        <p:spPr>
          <a:xfrm>
            <a:off x="1024128" y="3209544"/>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00400"/>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và kể chuyện trực tiếp</a:t>
            </a:r>
            <a:endParaRPr lang="en-US" sz="1220" dirty="0"/>
          </a:p>
        </p:txBody>
      </p:sp>
      <p:sp>
        <p:nvSpPr>
          <p:cNvPr id="17" name="Text 14"/>
          <p:cNvSpPr/>
          <p:nvPr/>
        </p:nvSpPr>
        <p:spPr>
          <a:xfrm>
            <a:off x="4828032" y="3200400"/>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MC / livestream layer thêm brand narrative</a:t>
            </a:r>
            <a:endParaRPr lang="en-US" sz="1110" dirty="0"/>
          </a:p>
        </p:txBody>
      </p:sp>
      <p:sp>
        <p:nvSpPr>
          <p:cNvPr id="18" name="Shape 15"/>
          <p:cNvSpPr/>
          <p:nvPr/>
        </p:nvSpPr>
        <p:spPr>
          <a:xfrm>
            <a:off x="822960" y="3621024"/>
            <a:ext cx="10561320" cy="420624"/>
          </a:xfrm>
          <a:prstGeom prst="roundRect">
            <a:avLst>
              <a:gd name="adj" fmla="val 6522"/>
            </a:avLst>
          </a:prstGeom>
          <a:solidFill>
            <a:srgbClr val="FFFFFF"/>
          </a:solidFill>
          <a:ln w="12700">
            <a:solidFill>
              <a:srgbClr val="D8E0E8"/>
            </a:solidFill>
            <a:prstDash val="solid"/>
          </a:ln>
        </p:spPr>
      </p:sp>
      <p:sp>
        <p:nvSpPr>
          <p:cNvPr id="19" name="Text 16"/>
          <p:cNvSpPr/>
          <p:nvPr/>
        </p:nvSpPr>
        <p:spPr>
          <a:xfrm>
            <a:off x="1024128" y="3739896"/>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730752"/>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Không gian activation cộng đồng</a:t>
            </a:r>
            <a:endParaRPr lang="en-US" sz="1220" dirty="0"/>
          </a:p>
        </p:txBody>
      </p:sp>
      <p:sp>
        <p:nvSpPr>
          <p:cNvPr id="21" name="Text 18"/>
          <p:cNvSpPr/>
          <p:nvPr/>
        </p:nvSpPr>
        <p:spPr>
          <a:xfrm>
            <a:off x="4828032" y="3730752"/>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Lead capture, lời nhắn gia đình, social challenge</a:t>
            </a:r>
            <a:endParaRPr lang="en-US" sz="1110" dirty="0"/>
          </a:p>
        </p:txBody>
      </p:sp>
      <p:sp>
        <p:nvSpPr>
          <p:cNvPr id="22" name="Shape 19"/>
          <p:cNvSpPr/>
          <p:nvPr/>
        </p:nvSpPr>
        <p:spPr>
          <a:xfrm>
            <a:off x="822960" y="4151376"/>
            <a:ext cx="10561320" cy="420624"/>
          </a:xfrm>
          <a:prstGeom prst="roundRect">
            <a:avLst>
              <a:gd name="adj" fmla="val 6522"/>
            </a:avLst>
          </a:prstGeom>
          <a:solidFill>
            <a:srgbClr val="F6F8FB"/>
          </a:solidFill>
          <a:ln w="12700">
            <a:solidFill>
              <a:srgbClr val="D8E0E8"/>
            </a:solidFill>
            <a:prstDash val="solid"/>
          </a:ln>
        </p:spPr>
      </p:sp>
      <p:sp>
        <p:nvSpPr>
          <p:cNvPr id="23" name="Text 20"/>
          <p:cNvSpPr/>
          <p:nvPr/>
        </p:nvSpPr>
        <p:spPr>
          <a:xfrm>
            <a:off x="1024128" y="4270248"/>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261104"/>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828032" y="4261104"/>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Cao trào cạnh tranh và vinh danh</a:t>
            </a:r>
            <a:endParaRPr lang="en-US" sz="1110" dirty="0"/>
          </a:p>
        </p:txBody>
      </p:sp>
      <p:sp>
        <p:nvSpPr>
          <p:cNvPr id="26" name="Shape 23"/>
          <p:cNvSpPr/>
          <p:nvPr/>
        </p:nvSpPr>
        <p:spPr>
          <a:xfrm>
            <a:off x="822960" y="4681728"/>
            <a:ext cx="10561320" cy="420624"/>
          </a:xfrm>
          <a:prstGeom prst="roundRect">
            <a:avLst>
              <a:gd name="adj" fmla="val 6522"/>
            </a:avLst>
          </a:prstGeom>
          <a:solidFill>
            <a:srgbClr val="FFFFFF"/>
          </a:solidFill>
          <a:ln w="12700">
            <a:solidFill>
              <a:srgbClr val="D8E0E8"/>
            </a:solidFill>
            <a:prstDash val="solid"/>
          </a:ln>
        </p:spPr>
      </p:sp>
      <p:sp>
        <p:nvSpPr>
          <p:cNvPr id="27" name="Text 24"/>
          <p:cNvSpPr/>
          <p:nvPr/>
        </p:nvSpPr>
        <p:spPr>
          <a:xfrm>
            <a:off x="1024128" y="4800600"/>
            <a:ext cx="658368"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791456"/>
            <a:ext cx="288036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828032" y="4791456"/>
            <a:ext cx="55778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Ánh sáng / drone / lời hẹn mùa sau</a:t>
            </a:r>
            <a:endParaRPr lang="en-US" sz="111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841248" y="1847088"/>
            <a:ext cx="91440" cy="1847088"/>
          </a:xfrm>
          <a:prstGeom prst="rect">
            <a:avLst/>
          </a:prstGeom>
          <a:solidFill>
            <a:srgbClr val="0B6CB8"/>
          </a:solidFill>
          <a:ln w="12700">
            <a:solidFill>
              <a:srgbClr val="0B6CB8"/>
            </a:solidFill>
            <a:prstDash val="solid"/>
          </a:ln>
        </p:spPr>
      </p:sp>
      <p:sp>
        <p:nvSpPr>
          <p:cNvPr id="4" name="Text 1"/>
          <p:cNvSpPr/>
          <p:nvPr/>
        </p:nvSpPr>
        <p:spPr>
          <a:xfrm>
            <a:off x="1078992" y="1883664"/>
            <a:ext cx="2194560" cy="164592"/>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5" name="Text 2"/>
          <p:cNvSpPr/>
          <p:nvPr/>
        </p:nvSpPr>
        <p:spPr>
          <a:xfrm>
            <a:off x="1078992" y="2176272"/>
            <a:ext cx="7589520" cy="1005840"/>
          </a:xfrm>
          <a:prstGeom prst="rect">
            <a:avLst/>
          </a:prstGeom>
          <a:noFill/>
          <a:ln/>
        </p:spPr>
        <p:txBody>
          <a:bodyPr wrap="square" lIns="0" tIns="0" rIns="0" bIns="0" rtlCol="0" anchor="ctr"/>
          <a:lstStyle/>
          <a:p>
            <a:pPr indent="0" marL="0">
              <a:buNone/>
            </a:pPr>
            <a:r>
              <a:rPr lang="en-US" sz="2400" b="1" dirty="0">
                <a:solidFill>
                  <a:srgbClr val="FFFFFF"/>
                </a:solidFill>
                <a:latin typeface="Barlow" pitchFamily="34" charset="0"/>
                <a:ea typeface="Barlow" pitchFamily="34" charset="-122"/>
                <a:cs typeface="Barlow" pitchFamily="34" charset="-120"/>
              </a:rPr>
              <a:t>Biến một ngày trên sông thành một chiến dịch nhiều lớp, nhiều pha, nhiều cơ hội chuyển đổi.</a:t>
            </a:r>
            <a:endParaRPr lang="en-US" sz="2400" dirty="0"/>
          </a:p>
        </p:txBody>
      </p:sp>
      <p:sp>
        <p:nvSpPr>
          <p:cNvPr id="6" name="Text 3"/>
          <p:cNvSpPr/>
          <p:nvPr/>
        </p:nvSpPr>
        <p:spPr>
          <a:xfrm>
            <a:off x="1078992" y="3364992"/>
            <a:ext cx="6217920" cy="438912"/>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Cấu trúc IMC được thiết kế để kéo dài sức nóng trước - trong - sau sự kiện, đồng thời gắn awareness với trust và lead generation.</a:t>
            </a:r>
            <a:endParaRPr lang="en-US" sz="1400" dirty="0"/>
          </a:p>
        </p:txBody>
      </p:sp>
      <p:sp>
        <p:nvSpPr>
          <p:cNvPr id="7" name="Text 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Kiến trúc IMC tổng thể</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hệ thống chạm đồng bộ từ truyền thông đại chúng đến trải nghiệm tại chỗ và CRM sau event.</a:t>
            </a:r>
            <a:endParaRPr lang="en-US" sz="1100" dirty="0"/>
          </a:p>
        </p:txBody>
      </p:sp>
      <p:sp>
        <p:nvSpPr>
          <p:cNvPr id="6" name="Shape 3"/>
          <p:cNvSpPr/>
          <p:nvPr/>
        </p:nvSpPr>
        <p:spPr>
          <a:xfrm>
            <a:off x="822960" y="2194560"/>
            <a:ext cx="2788920" cy="2011680"/>
          </a:xfrm>
          <a:prstGeom prst="roundRect">
            <a:avLst>
              <a:gd name="adj" fmla="val 2273"/>
            </a:avLst>
          </a:prstGeom>
          <a:solidFill>
            <a:srgbClr val="FFFFFF"/>
          </a:solidFill>
          <a:ln w="12700">
            <a:solidFill>
              <a:srgbClr val="D8E0E8"/>
            </a:solidFill>
            <a:prstDash val="solid"/>
          </a:ln>
        </p:spPr>
      </p:sp>
      <p:sp>
        <p:nvSpPr>
          <p:cNvPr id="7" name="Text 4"/>
          <p:cNvSpPr/>
          <p:nvPr/>
        </p:nvSpPr>
        <p:spPr>
          <a:xfrm>
            <a:off x="1005840" y="2441448"/>
            <a:ext cx="82296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a:t>
            </a:r>
            <a:endParaRPr lang="en-US" sz="1000" dirty="0"/>
          </a:p>
        </p:txBody>
      </p:sp>
      <p:sp>
        <p:nvSpPr>
          <p:cNvPr id="8" name="Text 5"/>
          <p:cNvSpPr/>
          <p:nvPr/>
        </p:nvSpPr>
        <p:spPr>
          <a:xfrm>
            <a:off x="1005840" y="2743200"/>
            <a:ext cx="2286000" cy="256032"/>
          </a:xfrm>
          <a:prstGeom prst="rect">
            <a:avLst/>
          </a:prstGeom>
          <a:noFill/>
          <a:ln/>
        </p:spPr>
        <p:txBody>
          <a:bodyPr wrap="square" lIns="0" tIns="0" rIns="0" bIns="0" rtlCol="0" anchor="t"/>
          <a:lstStyle/>
          <a:p>
            <a:pPr algn="l" indent="0" marL="0">
              <a:buNone/>
            </a:pPr>
            <a:r>
              <a:rPr lang="en-US" sz="1650" b="1" dirty="0">
                <a:solidFill>
                  <a:srgbClr val="114A7A"/>
                </a:solidFill>
                <a:latin typeface="Barlow" pitchFamily="34" charset="0"/>
                <a:ea typeface="Barlow" pitchFamily="34" charset="-122"/>
                <a:cs typeface="Barlow" pitchFamily="34" charset="-120"/>
              </a:rPr>
              <a:t>Teasing &amp; Meaning Build</a:t>
            </a:r>
            <a:endParaRPr lang="en-US" sz="1650" dirty="0"/>
          </a:p>
        </p:txBody>
      </p:sp>
      <p:sp>
        <p:nvSpPr>
          <p:cNvPr id="9" name="Text 6"/>
          <p:cNvSpPr/>
          <p:nvPr/>
        </p:nvSpPr>
        <p:spPr>
          <a:xfrm>
            <a:off x="1005840" y="3182112"/>
            <a:ext cx="2377440" cy="548640"/>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Khơi mở biểu tượng người cầm lái và tinh thần giữ dòng chảy gia đình</a:t>
            </a:r>
            <a:endParaRPr lang="en-US" sz="1100" dirty="0"/>
          </a:p>
        </p:txBody>
      </p:sp>
      <p:sp>
        <p:nvSpPr>
          <p:cNvPr id="10" name="Shape 7"/>
          <p:cNvSpPr/>
          <p:nvPr/>
        </p:nvSpPr>
        <p:spPr>
          <a:xfrm>
            <a:off x="4069080" y="2194560"/>
            <a:ext cx="2788920" cy="2011680"/>
          </a:xfrm>
          <a:prstGeom prst="roundRect">
            <a:avLst>
              <a:gd name="adj" fmla="val 2273"/>
            </a:avLst>
          </a:prstGeom>
          <a:solidFill>
            <a:srgbClr val="114A7A"/>
          </a:solidFill>
          <a:ln w="12700">
            <a:solidFill>
              <a:srgbClr val="114A7A"/>
            </a:solidFill>
            <a:prstDash val="solid"/>
          </a:ln>
        </p:spPr>
      </p:sp>
      <p:sp>
        <p:nvSpPr>
          <p:cNvPr id="11" name="Text 8"/>
          <p:cNvSpPr/>
          <p:nvPr/>
        </p:nvSpPr>
        <p:spPr>
          <a:xfrm>
            <a:off x="4251960" y="2441448"/>
            <a:ext cx="822960" cy="146304"/>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PHASE 2</a:t>
            </a:r>
            <a:endParaRPr lang="en-US" sz="1000" dirty="0"/>
          </a:p>
        </p:txBody>
      </p:sp>
      <p:sp>
        <p:nvSpPr>
          <p:cNvPr id="12" name="Text 9"/>
          <p:cNvSpPr/>
          <p:nvPr/>
        </p:nvSpPr>
        <p:spPr>
          <a:xfrm>
            <a:off x="4251960" y="2743200"/>
            <a:ext cx="2286000" cy="256032"/>
          </a:xfrm>
          <a:prstGeom prst="rect">
            <a:avLst/>
          </a:prstGeom>
          <a:noFill/>
          <a:ln/>
        </p:spPr>
        <p:txBody>
          <a:bodyPr wrap="square" lIns="0" tIns="0" rIns="0" bIns="0" rtlCol="0" anchor="t"/>
          <a:lstStyle/>
          <a:p>
            <a:pPr algn="l" indent="0" marL="0">
              <a:buNone/>
            </a:pPr>
            <a:r>
              <a:rPr lang="en-US" sz="1650" b="1" dirty="0">
                <a:solidFill>
                  <a:srgbClr val="FFFFFF"/>
                </a:solidFill>
                <a:latin typeface="Barlow" pitchFamily="34" charset="0"/>
                <a:ea typeface="Barlow" pitchFamily="34" charset="-122"/>
                <a:cs typeface="Barlow" pitchFamily="34" charset="-120"/>
              </a:rPr>
              <a:t>Explosion &amp; Event Day</a:t>
            </a:r>
            <a:endParaRPr lang="en-US" sz="1650" dirty="0"/>
          </a:p>
        </p:txBody>
      </p:sp>
      <p:sp>
        <p:nvSpPr>
          <p:cNvPr id="13" name="Text 10"/>
          <p:cNvSpPr/>
          <p:nvPr/>
        </p:nvSpPr>
        <p:spPr>
          <a:xfrm>
            <a:off x="4251960" y="3182112"/>
            <a:ext cx="2377440" cy="548640"/>
          </a:xfrm>
          <a:prstGeom prst="rect">
            <a:avLst/>
          </a:prstGeom>
          <a:noFill/>
          <a:ln/>
        </p:spPr>
        <p:txBody>
          <a:bodyPr wrap="square" lIns="0" tIns="0" rIns="0" bIns="0" rtlCol="0" anchor="t"/>
          <a:lstStyle/>
          <a:p>
            <a:pPr algn="l" indent="0" marL="0">
              <a:buNone/>
            </a:pPr>
            <a:r>
              <a:rPr lang="en-US" sz="1100" dirty="0">
                <a:solidFill>
                  <a:srgbClr val="FFFFFF"/>
                </a:solidFill>
                <a:latin typeface="Barlow" pitchFamily="34" charset="0"/>
                <a:ea typeface="Barlow" pitchFamily="34" charset="-122"/>
                <a:cs typeface="Barlow" pitchFamily="34" charset="-120"/>
              </a:rPr>
              <a:t>Biến giải đua thành national spectacle trên social, livestream và PR</a:t>
            </a:r>
            <a:endParaRPr lang="en-US" sz="1100" dirty="0"/>
          </a:p>
        </p:txBody>
      </p:sp>
      <p:sp>
        <p:nvSpPr>
          <p:cNvPr id="14" name="Shape 11"/>
          <p:cNvSpPr/>
          <p:nvPr/>
        </p:nvSpPr>
        <p:spPr>
          <a:xfrm>
            <a:off x="7315200" y="2194560"/>
            <a:ext cx="2788920" cy="2011680"/>
          </a:xfrm>
          <a:prstGeom prst="roundRect">
            <a:avLst>
              <a:gd name="adj" fmla="val 2273"/>
            </a:avLst>
          </a:prstGeom>
          <a:solidFill>
            <a:srgbClr val="FFFFFF"/>
          </a:solidFill>
          <a:ln w="12700">
            <a:solidFill>
              <a:srgbClr val="D8E0E8"/>
            </a:solidFill>
            <a:prstDash val="solid"/>
          </a:ln>
        </p:spPr>
      </p:sp>
      <p:sp>
        <p:nvSpPr>
          <p:cNvPr id="15" name="Text 12"/>
          <p:cNvSpPr/>
          <p:nvPr/>
        </p:nvSpPr>
        <p:spPr>
          <a:xfrm>
            <a:off x="7498080" y="2441448"/>
            <a:ext cx="82296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a:t>
            </a:r>
            <a:endParaRPr lang="en-US" sz="1000" dirty="0"/>
          </a:p>
        </p:txBody>
      </p:sp>
      <p:sp>
        <p:nvSpPr>
          <p:cNvPr id="16" name="Text 13"/>
          <p:cNvSpPr/>
          <p:nvPr/>
        </p:nvSpPr>
        <p:spPr>
          <a:xfrm>
            <a:off x="7498080" y="2743200"/>
            <a:ext cx="2286000" cy="256032"/>
          </a:xfrm>
          <a:prstGeom prst="rect">
            <a:avLst/>
          </a:prstGeom>
          <a:noFill/>
          <a:ln/>
        </p:spPr>
        <p:txBody>
          <a:bodyPr wrap="square" lIns="0" tIns="0" rIns="0" bIns="0" rtlCol="0" anchor="t"/>
          <a:lstStyle/>
          <a:p>
            <a:pPr algn="l" indent="0" marL="0">
              <a:buNone/>
            </a:pPr>
            <a:r>
              <a:rPr lang="en-US" sz="1650" b="1" dirty="0">
                <a:solidFill>
                  <a:srgbClr val="114A7A"/>
                </a:solidFill>
                <a:latin typeface="Barlow" pitchFamily="34" charset="0"/>
                <a:ea typeface="Barlow" pitchFamily="34" charset="-122"/>
                <a:cs typeface="Barlow" pitchFamily="34" charset="-120"/>
              </a:rPr>
              <a:t>Amplification &amp; Legacy</a:t>
            </a:r>
            <a:endParaRPr lang="en-US" sz="1650" dirty="0"/>
          </a:p>
        </p:txBody>
      </p:sp>
      <p:sp>
        <p:nvSpPr>
          <p:cNvPr id="17" name="Text 14"/>
          <p:cNvSpPr/>
          <p:nvPr/>
        </p:nvSpPr>
        <p:spPr>
          <a:xfrm>
            <a:off x="7498080" y="3182112"/>
            <a:ext cx="2377440" cy="548640"/>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100" dirty="0"/>
          </a:p>
        </p:txBody>
      </p:sp>
      <p:sp>
        <p:nvSpPr>
          <p:cNvPr id="18" name="Text 15"/>
          <p:cNvSpPr/>
          <p:nvPr/>
        </p:nvSpPr>
        <p:spPr>
          <a:xfrm>
            <a:off x="960120" y="4645152"/>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Owned: social channel BVNT, microsite / landing page, CRM journey</a:t>
            </a:r>
            <a:endParaRPr lang="en-US" sz="1200" dirty="0"/>
          </a:p>
        </p:txBody>
      </p:sp>
      <p:sp>
        <p:nvSpPr>
          <p:cNvPr id="19" name="Text 16"/>
          <p:cNvSpPr/>
          <p:nvPr/>
        </p:nvSpPr>
        <p:spPr>
          <a:xfrm>
            <a:off x="960120" y="4846320"/>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Earned: PR văn hóa - cộng đồng - thương hiệu, KOL review, UGC</a:t>
            </a:r>
            <a:endParaRPr lang="en-US" sz="1200" dirty="0"/>
          </a:p>
        </p:txBody>
      </p:sp>
      <p:sp>
        <p:nvSpPr>
          <p:cNvPr id="20" name="Text 17"/>
          <p:cNvSpPr/>
          <p:nvPr/>
        </p:nvSpPr>
        <p:spPr>
          <a:xfrm>
            <a:off x="960120" y="5047488"/>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Shared: TikTok challenge, reels, livestream clip, media partner social</a:t>
            </a:r>
            <a:endParaRPr lang="en-US" sz="1200" dirty="0"/>
          </a:p>
        </p:txBody>
      </p:sp>
      <p:sp>
        <p:nvSpPr>
          <p:cNvPr id="21" name="Text 18"/>
          <p:cNvSpPr/>
          <p:nvPr/>
        </p:nvSpPr>
        <p:spPr>
          <a:xfrm>
            <a:off x="960120" y="5248656"/>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Paid: OOH chọn lọc tại Huế / Đà Nẵng, digital video, boosting short-form</a:t>
            </a:r>
            <a:endParaRPr lang="en-US" sz="120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Giai đoạn 1 - Teasing: dựng ý nghĩa trước khi dựng sân khấu</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Khiến công chúng cảm thấy đây không chỉ là một cuộc đua, mà là một biểu tượng đáng chờ đợi.</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Nội dung mồi cảm xúc</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Short video 'Ai là người giữ nhịp trong gia đình bạn?'.</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Poster series về mái chèo, bàn tay, dòng sông, vai người trụ cột.</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Key visual countdown gắn với Quốc khánh và Huế.</a:t>
            </a:r>
            <a:endParaRPr lang="en-US" sz="114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Shape 10"/>
          <p:cNvSpPr/>
          <p:nvPr/>
        </p:nvSpPr>
        <p:spPr>
          <a:xfrm>
            <a:off x="6455664" y="2157984"/>
            <a:ext cx="1005840" cy="45720"/>
          </a:xfrm>
          <a:prstGeom prst="rect">
            <a:avLst/>
          </a:prstGeom>
          <a:solidFill>
            <a:srgbClr val="C99211"/>
          </a:solidFill>
          <a:ln w="12700">
            <a:solidFill>
              <a:srgbClr val="C99211"/>
            </a:solidFill>
            <a:prstDash val="solid"/>
          </a:ln>
        </p:spPr>
      </p:sp>
      <p:sp>
        <p:nvSpPr>
          <p:cNvPr id="14" name="Text 11"/>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PR &amp; cộng đồng</a:t>
            </a:r>
            <a:endParaRPr lang="en-US" sz="1750" dirty="0"/>
          </a:p>
        </p:txBody>
      </p:sp>
      <p:sp>
        <p:nvSpPr>
          <p:cNvPr id="15" name="Text 12"/>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PR khởi động naming rights và tầm nhìn nâng cấp giải đấu.</a:t>
            </a:r>
            <a:endParaRPr lang="en-US" sz="1140" dirty="0"/>
          </a:p>
        </p:txBody>
      </p:sp>
      <p:sp>
        <p:nvSpPr>
          <p:cNvPr id="16" name="Text 13"/>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Kể chuyện các đội ghe, người cầm lái, ký ức đua ghe của Huế.</a:t>
            </a:r>
            <a:endParaRPr lang="en-US" sz="1140" dirty="0"/>
          </a:p>
        </p:txBody>
      </p:sp>
      <p:sp>
        <p:nvSpPr>
          <p:cNvPr id="17" name="Text 14"/>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Local seeding tại Huế, Đà Nẵng và các cộng đồng yêu văn hóa.</a:t>
            </a:r>
            <a:endParaRPr lang="en-US" sz="114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Giai đoạn 2 - Explosion: ngày sự kiện phải bùng nổ về hình ảnh lẫn chia sẻ</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chiến dịch, nhưng không được chỉ là phát sóng diễn biến thi đấu.</a:t>
            </a:r>
            <a:endParaRPr lang="en-US" sz="1100" dirty="0"/>
          </a:p>
        </p:txBody>
      </p:sp>
      <p:sp>
        <p:nvSpPr>
          <p:cNvPr id="6" name="Shape 3"/>
          <p:cNvSpPr/>
          <p:nvPr/>
        </p:nvSpPr>
        <p:spPr>
          <a:xfrm>
            <a:off x="822960" y="2048256"/>
            <a:ext cx="2377440" cy="1115568"/>
          </a:xfrm>
          <a:prstGeom prst="roundRect">
            <a:avLst>
              <a:gd name="adj" fmla="val 4098"/>
            </a:avLst>
          </a:prstGeom>
          <a:solidFill>
            <a:srgbClr val="FFFFFF"/>
          </a:solidFill>
          <a:ln w="12700">
            <a:solidFill>
              <a:srgbClr val="D8E0E8"/>
            </a:solidFill>
            <a:prstDash val="solid"/>
          </a:ln>
        </p:spPr>
      </p:sp>
      <p:sp>
        <p:nvSpPr>
          <p:cNvPr id="7" name="Shape 4"/>
          <p:cNvSpPr/>
          <p:nvPr/>
        </p:nvSpPr>
        <p:spPr>
          <a:xfrm>
            <a:off x="950976" y="2176272"/>
            <a:ext cx="45720" cy="859536"/>
          </a:xfrm>
          <a:prstGeom prst="rect">
            <a:avLst/>
          </a:prstGeom>
          <a:solidFill>
            <a:srgbClr val="0B6CB8"/>
          </a:solidFill>
          <a:ln w="12700">
            <a:solidFill>
              <a:srgbClr val="0B6CB8"/>
            </a:solidFill>
            <a:prstDash val="solid"/>
          </a:ln>
        </p:spPr>
      </p:sp>
      <p:sp>
        <p:nvSpPr>
          <p:cNvPr id="8" name="Text 5"/>
          <p:cNvSpPr/>
          <p:nvPr/>
        </p:nvSpPr>
        <p:spPr>
          <a:xfrm>
            <a:off x="1078992" y="2176272"/>
            <a:ext cx="20482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Livestream</a:t>
            </a:r>
            <a:endParaRPr lang="en-US" sz="920" dirty="0"/>
          </a:p>
        </p:txBody>
      </p:sp>
      <p:sp>
        <p:nvSpPr>
          <p:cNvPr id="9" name="Text 6"/>
          <p:cNvSpPr/>
          <p:nvPr/>
        </p:nvSpPr>
        <p:spPr>
          <a:xfrm>
            <a:off x="1078992" y="2395728"/>
            <a:ext cx="20482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Multi-layer</a:t>
            </a:r>
            <a:endParaRPr lang="en-US" sz="1800" dirty="0"/>
          </a:p>
        </p:txBody>
      </p:sp>
      <p:sp>
        <p:nvSpPr>
          <p:cNvPr id="10" name="Text 7"/>
          <p:cNvSpPr/>
          <p:nvPr/>
        </p:nvSpPr>
        <p:spPr>
          <a:xfrm>
            <a:off x="1078992" y="2724912"/>
            <a:ext cx="20482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Có MC, có visual package, có brand story</a:t>
            </a:r>
            <a:endParaRPr lang="en-US" sz="880" dirty="0"/>
          </a:p>
        </p:txBody>
      </p:sp>
      <p:sp>
        <p:nvSpPr>
          <p:cNvPr id="11" name="Shape 8"/>
          <p:cNvSpPr/>
          <p:nvPr/>
        </p:nvSpPr>
        <p:spPr>
          <a:xfrm>
            <a:off x="3419856" y="2048256"/>
            <a:ext cx="237744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3547872" y="2176272"/>
            <a:ext cx="45720" cy="859536"/>
          </a:xfrm>
          <a:prstGeom prst="rect">
            <a:avLst/>
          </a:prstGeom>
          <a:solidFill>
            <a:srgbClr val="C99211"/>
          </a:solidFill>
          <a:ln w="12700">
            <a:solidFill>
              <a:srgbClr val="C99211"/>
            </a:solidFill>
            <a:prstDash val="solid"/>
          </a:ln>
        </p:spPr>
      </p:sp>
      <p:sp>
        <p:nvSpPr>
          <p:cNvPr id="13" name="Text 10"/>
          <p:cNvSpPr/>
          <p:nvPr/>
        </p:nvSpPr>
        <p:spPr>
          <a:xfrm>
            <a:off x="3675888" y="2176272"/>
            <a:ext cx="20482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75888" y="2395728"/>
            <a:ext cx="20482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Instant newsroom</a:t>
            </a:r>
            <a:endParaRPr lang="en-US" sz="1800" dirty="0"/>
          </a:p>
        </p:txBody>
      </p:sp>
      <p:sp>
        <p:nvSpPr>
          <p:cNvPr id="15" name="Text 12"/>
          <p:cNvSpPr/>
          <p:nvPr/>
        </p:nvSpPr>
        <p:spPr>
          <a:xfrm>
            <a:off x="3675888" y="2724912"/>
            <a:ext cx="20482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Ảnh nhanh, clip nhanh, quote nhanh</a:t>
            </a:r>
            <a:endParaRPr lang="en-US" sz="880" dirty="0"/>
          </a:p>
        </p:txBody>
      </p:sp>
      <p:sp>
        <p:nvSpPr>
          <p:cNvPr id="16" name="Shape 13"/>
          <p:cNvSpPr/>
          <p:nvPr/>
        </p:nvSpPr>
        <p:spPr>
          <a:xfrm>
            <a:off x="6016752" y="2048256"/>
            <a:ext cx="237744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6144768" y="2176272"/>
            <a:ext cx="45720" cy="859536"/>
          </a:xfrm>
          <a:prstGeom prst="rect">
            <a:avLst/>
          </a:prstGeom>
          <a:solidFill>
            <a:srgbClr val="0B6CB8"/>
          </a:solidFill>
          <a:ln w="12700">
            <a:solidFill>
              <a:srgbClr val="0B6CB8"/>
            </a:solidFill>
            <a:prstDash val="solid"/>
          </a:ln>
        </p:spPr>
      </p:sp>
      <p:sp>
        <p:nvSpPr>
          <p:cNvPr id="18" name="Text 15"/>
          <p:cNvSpPr/>
          <p:nvPr/>
        </p:nvSpPr>
        <p:spPr>
          <a:xfrm>
            <a:off x="6272784" y="2176272"/>
            <a:ext cx="204825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Social short-form</a:t>
            </a:r>
            <a:endParaRPr lang="en-US" sz="920" dirty="0"/>
          </a:p>
        </p:txBody>
      </p:sp>
      <p:sp>
        <p:nvSpPr>
          <p:cNvPr id="19" name="Text 16"/>
          <p:cNvSpPr/>
          <p:nvPr/>
        </p:nvSpPr>
        <p:spPr>
          <a:xfrm>
            <a:off x="6272784" y="2395728"/>
            <a:ext cx="204825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Reels / TikTok</a:t>
            </a:r>
            <a:endParaRPr lang="en-US" sz="1800" dirty="0"/>
          </a:p>
        </p:txBody>
      </p:sp>
      <p:sp>
        <p:nvSpPr>
          <p:cNvPr id="20" name="Text 17"/>
          <p:cNvSpPr/>
          <p:nvPr/>
        </p:nvSpPr>
        <p:spPr>
          <a:xfrm>
            <a:off x="6272784" y="2724912"/>
            <a:ext cx="204825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Cắt ngay từ lễ mở màn, tăng tốc, trao cúp</a:t>
            </a:r>
            <a:endParaRPr lang="en-US" sz="880" dirty="0"/>
          </a:p>
        </p:txBody>
      </p:sp>
      <p:sp>
        <p:nvSpPr>
          <p:cNvPr id="21" name="Shape 18"/>
          <p:cNvSpPr/>
          <p:nvPr/>
        </p:nvSpPr>
        <p:spPr>
          <a:xfrm>
            <a:off x="8613648" y="2048256"/>
            <a:ext cx="2770632" cy="1115568"/>
          </a:xfrm>
          <a:prstGeom prst="roundRect">
            <a:avLst>
              <a:gd name="adj" fmla="val 4098"/>
            </a:avLst>
          </a:prstGeom>
          <a:solidFill>
            <a:srgbClr val="FFFFFF"/>
          </a:solidFill>
          <a:ln w="12700">
            <a:solidFill>
              <a:srgbClr val="D8E0E8"/>
            </a:solidFill>
            <a:prstDash val="solid"/>
          </a:ln>
        </p:spPr>
      </p:sp>
      <p:sp>
        <p:nvSpPr>
          <p:cNvPr id="22" name="Shape 19"/>
          <p:cNvSpPr/>
          <p:nvPr/>
        </p:nvSpPr>
        <p:spPr>
          <a:xfrm>
            <a:off x="8741664" y="2176272"/>
            <a:ext cx="45720" cy="859536"/>
          </a:xfrm>
          <a:prstGeom prst="rect">
            <a:avLst/>
          </a:prstGeom>
          <a:solidFill>
            <a:srgbClr val="C99211"/>
          </a:solidFill>
          <a:ln w="12700">
            <a:solidFill>
              <a:srgbClr val="C99211"/>
            </a:solidFill>
            <a:prstDash val="solid"/>
          </a:ln>
        </p:spPr>
      </p:sp>
      <p:sp>
        <p:nvSpPr>
          <p:cNvPr id="23" name="Text 20"/>
          <p:cNvSpPr/>
          <p:nvPr/>
        </p:nvSpPr>
        <p:spPr>
          <a:xfrm>
            <a:off x="8869680" y="2176272"/>
            <a:ext cx="2441448"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KOL visit</a:t>
            </a:r>
            <a:endParaRPr lang="en-US" sz="920" dirty="0"/>
          </a:p>
        </p:txBody>
      </p:sp>
      <p:sp>
        <p:nvSpPr>
          <p:cNvPr id="24" name="Text 21"/>
          <p:cNvSpPr/>
          <p:nvPr/>
        </p:nvSpPr>
        <p:spPr>
          <a:xfrm>
            <a:off x="8869680" y="2395728"/>
            <a:ext cx="2441448"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Local x national</a:t>
            </a:r>
            <a:endParaRPr lang="en-US" sz="1800" dirty="0"/>
          </a:p>
        </p:txBody>
      </p:sp>
      <p:sp>
        <p:nvSpPr>
          <p:cNvPr id="25" name="Text 22"/>
          <p:cNvSpPr/>
          <p:nvPr/>
        </p:nvSpPr>
        <p:spPr>
          <a:xfrm>
            <a:off x="8869680" y="2724912"/>
            <a:ext cx="2441448"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Travel, culture, family, sports creators</a:t>
            </a:r>
            <a:endParaRPr lang="en-US" sz="880" dirty="0"/>
          </a:p>
        </p:txBody>
      </p:sp>
      <p:sp>
        <p:nvSpPr>
          <p:cNvPr id="26" name="Text 23"/>
          <p:cNvSpPr/>
          <p:nvPr/>
        </p:nvSpPr>
        <p:spPr>
          <a:xfrm>
            <a:off x="960120" y="3712464"/>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200" dirty="0"/>
          </a:p>
        </p:txBody>
      </p:sp>
      <p:sp>
        <p:nvSpPr>
          <p:cNvPr id="27" name="Text 24"/>
          <p:cNvSpPr/>
          <p:nvPr/>
        </p:nvSpPr>
        <p:spPr>
          <a:xfrm>
            <a:off x="960120" y="3931920"/>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Media zone bố trí sẵn vantage point để đảm bảo có hero shot đẹp cho báo chí và UGC.</a:t>
            </a:r>
            <a:endParaRPr lang="en-US" sz="1200" dirty="0"/>
          </a:p>
        </p:txBody>
      </p:sp>
      <p:sp>
        <p:nvSpPr>
          <p:cNvPr id="28" name="Text 25"/>
          <p:cNvSpPr/>
          <p:nvPr/>
        </p:nvSpPr>
        <p:spPr>
          <a:xfrm>
            <a:off x="960120" y="4151376"/>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Social team dựng realtime content hub ngay tại event để đăng trong vòng 15-30 phút.</a:t>
            </a:r>
            <a:endParaRPr lang="en-US" sz="1200" dirty="0"/>
          </a:p>
        </p:txBody>
      </p:sp>
      <p:sp>
        <p:nvSpPr>
          <p:cNvPr id="29" name="Shape 26"/>
          <p:cNvSpPr/>
          <p:nvPr/>
        </p:nvSpPr>
        <p:spPr>
          <a:xfrm>
            <a:off x="822960" y="5358384"/>
            <a:ext cx="7406640" cy="841248"/>
          </a:xfrm>
          <a:prstGeom prst="roundRect">
            <a:avLst>
              <a:gd name="adj" fmla="val 5435"/>
            </a:avLst>
          </a:prstGeom>
          <a:solidFill>
            <a:srgbClr val="F6F8FB"/>
          </a:solidFill>
          <a:ln w="12700">
            <a:solidFill>
              <a:srgbClr val="E7EDF4"/>
            </a:solidFill>
            <a:prstDash val="solid"/>
          </a:ln>
        </p:spPr>
      </p:sp>
      <p:sp>
        <p:nvSpPr>
          <p:cNvPr id="30" name="Text 27"/>
          <p:cNvSpPr/>
          <p:nvPr/>
        </p:nvSpPr>
        <p:spPr>
          <a:xfrm>
            <a:off x="1042416" y="5541264"/>
            <a:ext cx="6858000" cy="274320"/>
          </a:xfrm>
          <a:prstGeom prst="rect">
            <a:avLst/>
          </a:prstGeom>
          <a:noFill/>
          <a:ln/>
        </p:spPr>
        <p:txBody>
          <a:bodyPr wrap="square" lIns="0" tIns="0" rIns="0" bIns="0" rtlCol="0" anchor="t"/>
          <a:lstStyle/>
          <a:p>
            <a:pPr algn="l" indent="0" marL="0">
              <a:buNone/>
            </a:pPr>
            <a:r>
              <a:rPr lang="en-US" sz="1320" i="1" dirty="0">
                <a:solidFill>
                  <a:srgbClr val="114A7A"/>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1320" dirty="0"/>
          </a:p>
        </p:txBody>
      </p:sp>
      <p:sp>
        <p:nvSpPr>
          <p:cNvPr id="31" name="Text 28"/>
          <p:cNvSpPr/>
          <p:nvPr/>
        </p:nvSpPr>
        <p:spPr>
          <a:xfrm>
            <a:off x="1042416" y="5907024"/>
            <a:ext cx="2743200" cy="128016"/>
          </a:xfrm>
          <a:prstGeom prst="rect">
            <a:avLst/>
          </a:prstGeom>
          <a:noFill/>
          <a:ln/>
        </p:spPr>
        <p:txBody>
          <a:bodyPr wrap="square" lIns="0" tIns="0" rIns="0" bIns="0" rtlCol="0" anchor="t"/>
          <a:lstStyle/>
          <a:p>
            <a:pPr algn="l" indent="0" marL="0">
              <a:buNone/>
            </a:pPr>
            <a:r>
              <a:rPr lang="en-US" sz="900" dirty="0">
                <a:solidFill>
                  <a:srgbClr val="5C6C7B"/>
                </a:solidFill>
                <a:latin typeface="Barlow" pitchFamily="34" charset="0"/>
                <a:ea typeface="Barlow" pitchFamily="34" charset="-122"/>
                <a:cs typeface="Barlow" pitchFamily="34" charset="-120"/>
              </a:rPr>
              <a:t>Nguyên tắc creative day-of</a:t>
            </a:r>
            <a:endParaRPr lang="en-US" sz="900" dirty="0"/>
          </a:p>
        </p:txBody>
      </p:sp>
      <p:sp>
        <p:nvSpPr>
          <p:cNvPr id="32" name="Text 2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Giai đoạn 3 - Amplification &amp; Legacy</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Sau cuộc đua, tài sản truyền thông và dữ liệu không kết thúc. Nó phải tiếp tục nuôi thương hiệu.</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Amplification</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Aftermovie brand film và recap film cho event.</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Photo essay / quote cards về người cầm lái, gia đình, đội ghe thắng cuộc.</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PR tổng kết: từ sự kiện cộng đồng đến tài sản văn hóa mới.</a:t>
            </a:r>
            <a:endParaRPr lang="en-US" sz="114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Shape 10"/>
          <p:cNvSpPr/>
          <p:nvPr/>
        </p:nvSpPr>
        <p:spPr>
          <a:xfrm>
            <a:off x="6455664" y="2157984"/>
            <a:ext cx="1005840" cy="45720"/>
          </a:xfrm>
          <a:prstGeom prst="rect">
            <a:avLst/>
          </a:prstGeom>
          <a:solidFill>
            <a:srgbClr val="C99211"/>
          </a:solidFill>
          <a:ln w="12700">
            <a:solidFill>
              <a:srgbClr val="C99211"/>
            </a:solidFill>
            <a:prstDash val="solid"/>
          </a:ln>
        </p:spPr>
      </p:sp>
      <p:sp>
        <p:nvSpPr>
          <p:cNvPr id="14" name="Text 11"/>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Legacy</a:t>
            </a:r>
            <a:endParaRPr lang="en-US" sz="1750" dirty="0"/>
          </a:p>
        </p:txBody>
      </p:sp>
      <p:sp>
        <p:nvSpPr>
          <p:cNvPr id="15" name="Text 12"/>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Xuất bản 'Sổ tay Giữ Mái Chèo' dạng nội dung thương hiệu nhẹ nhàng.</a:t>
            </a:r>
            <a:endParaRPr lang="en-US" sz="1140" dirty="0"/>
          </a:p>
        </p:txBody>
      </p:sp>
      <p:sp>
        <p:nvSpPr>
          <p:cNvPr id="16" name="Text 13"/>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Nurturing lead theo nhóm đã tương tác / để lại lời nhắn / check-in.</a:t>
            </a:r>
            <a:endParaRPr lang="en-US" sz="1140" dirty="0"/>
          </a:p>
        </p:txBody>
      </p:sp>
      <p:sp>
        <p:nvSpPr>
          <p:cNvPr id="17" name="Text 14"/>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Mở lời hẹn cho mùa giải 2027 với thông báo sớm về platform.</a:t>
            </a:r>
            <a:endParaRPr lang="en-US" sz="114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Hệ sinh thái activation tại chỗ</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Ba lớp activation để chạm cảm xúc, mời tham gia và tạo visual spectacle.</a:t>
            </a:r>
            <a:endParaRPr lang="en-US" sz="1100" dirty="0"/>
          </a:p>
        </p:txBody>
      </p:sp>
      <p:sp>
        <p:nvSpPr>
          <p:cNvPr id="6" name="Shape 3"/>
          <p:cNvSpPr/>
          <p:nvPr/>
        </p:nvSpPr>
        <p:spPr>
          <a:xfrm>
            <a:off x="822960" y="2066544"/>
            <a:ext cx="3154680" cy="3401568"/>
          </a:xfrm>
          <a:prstGeom prst="roundRect">
            <a:avLst>
              <a:gd name="adj" fmla="val 1449"/>
            </a:avLst>
          </a:prstGeom>
          <a:solidFill>
            <a:srgbClr val="FFFFFF"/>
          </a:solidFill>
          <a:ln w="12700">
            <a:solidFill>
              <a:srgbClr val="D8E0E8"/>
            </a:solidFill>
            <a:prstDash val="solid"/>
          </a:ln>
        </p:spPr>
      </p:sp>
      <p:sp>
        <p:nvSpPr>
          <p:cNvPr id="7" name="Shape 4"/>
          <p:cNvSpPr/>
          <p:nvPr/>
        </p:nvSpPr>
        <p:spPr>
          <a:xfrm>
            <a:off x="822960" y="2066544"/>
            <a:ext cx="3154680" cy="109728"/>
          </a:xfrm>
          <a:prstGeom prst="rect">
            <a:avLst/>
          </a:prstGeom>
          <a:solidFill>
            <a:srgbClr val="C99211"/>
          </a:solidFill>
          <a:ln w="12700">
            <a:solidFill>
              <a:srgbClr val="C99211"/>
            </a:solidFill>
            <a:prstDash val="solid"/>
          </a:ln>
        </p:spPr>
      </p:sp>
      <p:sp>
        <p:nvSpPr>
          <p:cNvPr id="8" name="Text 5"/>
          <p:cNvSpPr/>
          <p:nvPr/>
        </p:nvSpPr>
        <p:spPr>
          <a:xfrm>
            <a:off x="1024128" y="2286000"/>
            <a:ext cx="1463040" cy="128016"/>
          </a:xfrm>
          <a:prstGeom prst="rect">
            <a:avLst/>
          </a:prstGeom>
          <a:noFill/>
          <a:ln/>
        </p:spPr>
        <p:txBody>
          <a:bodyPr wrap="square" lIns="0" tIns="0" rIns="0" bIns="0" rtlCol="0" anchor="t"/>
          <a:lstStyle/>
          <a:p>
            <a:pPr algn="l" indent="0" marL="0">
              <a:buNone/>
            </a:pPr>
            <a:r>
              <a:rPr lang="en-US" sz="950" b="1" dirty="0">
                <a:solidFill>
                  <a:srgbClr val="C99211"/>
                </a:solidFill>
                <a:latin typeface="Barlow" pitchFamily="34" charset="0"/>
                <a:ea typeface="Barlow" pitchFamily="34" charset="-122"/>
                <a:cs typeface="Barlow" pitchFamily="34" charset="-120"/>
              </a:rPr>
              <a:t>EMOTIONAL</a:t>
            </a:r>
            <a:endParaRPr lang="en-US" sz="950" dirty="0"/>
          </a:p>
        </p:txBody>
      </p:sp>
      <p:sp>
        <p:nvSpPr>
          <p:cNvPr id="9" name="Text 6"/>
          <p:cNvSpPr/>
          <p:nvPr/>
        </p:nvSpPr>
        <p:spPr>
          <a:xfrm>
            <a:off x="1024128" y="2578608"/>
            <a:ext cx="2468880" cy="512064"/>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Bến Nhắn Gửi Gia Đình</a:t>
            </a:r>
            <a:endParaRPr lang="en-US" sz="1800" dirty="0"/>
          </a:p>
        </p:txBody>
      </p:sp>
      <p:sp>
        <p:nvSpPr>
          <p:cNvPr id="10" name="Text 7"/>
          <p:cNvSpPr/>
          <p:nvPr/>
        </p:nvSpPr>
        <p:spPr>
          <a:xfrm>
            <a:off x="1024128" y="3182112"/>
            <a:ext cx="2560320" cy="27432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Để cảm xúc trở thành điểm chạm thương hiệu</a:t>
            </a:r>
            <a:endParaRPr lang="en-US" sz="1080" dirty="0"/>
          </a:p>
        </p:txBody>
      </p:sp>
      <p:sp>
        <p:nvSpPr>
          <p:cNvPr id="11" name="Text 8"/>
          <p:cNvSpPr/>
          <p:nvPr/>
        </p:nvSpPr>
        <p:spPr>
          <a:xfrm>
            <a:off x="1024128" y="3657600"/>
            <a:ext cx="2752344" cy="310896"/>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Viết lời nhắn cho người giữ nhịp trong gia đình</a:t>
            </a:r>
            <a:endParaRPr lang="en-US" sz="1120" dirty="0"/>
          </a:p>
        </p:txBody>
      </p:sp>
      <p:sp>
        <p:nvSpPr>
          <p:cNvPr id="12" name="Text 9"/>
          <p:cNvSpPr/>
          <p:nvPr/>
        </p:nvSpPr>
        <p:spPr>
          <a:xfrm>
            <a:off x="1024128" y="4133088"/>
            <a:ext cx="2752344" cy="310896"/>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Hiển thị trên màn hình, landing page và social reel</a:t>
            </a:r>
            <a:endParaRPr lang="en-US" sz="1120" dirty="0"/>
          </a:p>
        </p:txBody>
      </p:sp>
      <p:sp>
        <p:nvSpPr>
          <p:cNvPr id="13" name="Shape 10"/>
          <p:cNvSpPr/>
          <p:nvPr/>
        </p:nvSpPr>
        <p:spPr>
          <a:xfrm>
            <a:off x="4526280" y="2066544"/>
            <a:ext cx="3154680" cy="3401568"/>
          </a:xfrm>
          <a:prstGeom prst="roundRect">
            <a:avLst>
              <a:gd name="adj" fmla="val 1449"/>
            </a:avLst>
          </a:prstGeom>
          <a:solidFill>
            <a:srgbClr val="FFFFFF"/>
          </a:solidFill>
          <a:ln w="12700">
            <a:solidFill>
              <a:srgbClr val="D8E0E8"/>
            </a:solidFill>
            <a:prstDash val="solid"/>
          </a:ln>
        </p:spPr>
      </p:sp>
      <p:sp>
        <p:nvSpPr>
          <p:cNvPr id="14" name="Shape 11"/>
          <p:cNvSpPr/>
          <p:nvPr/>
        </p:nvSpPr>
        <p:spPr>
          <a:xfrm>
            <a:off x="4526280" y="2066544"/>
            <a:ext cx="3154680" cy="109728"/>
          </a:xfrm>
          <a:prstGeom prst="rect">
            <a:avLst/>
          </a:prstGeom>
          <a:solidFill>
            <a:srgbClr val="0B6CB8"/>
          </a:solidFill>
          <a:ln w="12700">
            <a:solidFill>
              <a:srgbClr val="0B6CB8"/>
            </a:solidFill>
            <a:prstDash val="solid"/>
          </a:ln>
        </p:spPr>
      </p:sp>
      <p:sp>
        <p:nvSpPr>
          <p:cNvPr id="15" name="Text 12"/>
          <p:cNvSpPr/>
          <p:nvPr/>
        </p:nvSpPr>
        <p:spPr>
          <a:xfrm>
            <a:off x="4727448" y="2286000"/>
            <a:ext cx="1463040" cy="128016"/>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PARTICIPATORY</a:t>
            </a:r>
            <a:endParaRPr lang="en-US" sz="950" dirty="0"/>
          </a:p>
        </p:txBody>
      </p:sp>
      <p:sp>
        <p:nvSpPr>
          <p:cNvPr id="16" name="Text 13"/>
          <p:cNvSpPr/>
          <p:nvPr/>
        </p:nvSpPr>
        <p:spPr>
          <a:xfrm>
            <a:off x="4727448" y="2578608"/>
            <a:ext cx="2468880" cy="512064"/>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Nhịp Chèo Đồng Tâm</a:t>
            </a:r>
            <a:endParaRPr lang="en-US" sz="1800" dirty="0"/>
          </a:p>
        </p:txBody>
      </p:sp>
      <p:sp>
        <p:nvSpPr>
          <p:cNvPr id="17" name="Text 14"/>
          <p:cNvSpPr/>
          <p:nvPr/>
        </p:nvSpPr>
        <p:spPr>
          <a:xfrm>
            <a:off x="4727448" y="3182112"/>
            <a:ext cx="2560320" cy="27432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Để người xem thật sự nhập cuộc</a:t>
            </a:r>
            <a:endParaRPr lang="en-US" sz="1080" dirty="0"/>
          </a:p>
        </p:txBody>
      </p:sp>
      <p:sp>
        <p:nvSpPr>
          <p:cNvPr id="18" name="Text 15"/>
          <p:cNvSpPr/>
          <p:nvPr/>
        </p:nvSpPr>
        <p:spPr>
          <a:xfrm>
            <a:off x="4727448" y="3657600"/>
            <a:ext cx="2752344" cy="310896"/>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Trò chơi mô phỏng chèo theo nhịp đội</a:t>
            </a:r>
            <a:endParaRPr lang="en-US" sz="1120" dirty="0"/>
          </a:p>
        </p:txBody>
      </p:sp>
      <p:sp>
        <p:nvSpPr>
          <p:cNvPr id="19" name="Text 16"/>
          <p:cNvSpPr/>
          <p:nvPr/>
        </p:nvSpPr>
        <p:spPr>
          <a:xfrm>
            <a:off x="4727448" y="4133088"/>
            <a:ext cx="2752344" cy="310896"/>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Dùng cho check-in, mini game và data capture</a:t>
            </a:r>
            <a:endParaRPr lang="en-US" sz="1120" dirty="0"/>
          </a:p>
        </p:txBody>
      </p:sp>
      <p:sp>
        <p:nvSpPr>
          <p:cNvPr id="20" name="Shape 17"/>
          <p:cNvSpPr/>
          <p:nvPr/>
        </p:nvSpPr>
        <p:spPr>
          <a:xfrm>
            <a:off x="8229600" y="2066544"/>
            <a:ext cx="3154680" cy="3401568"/>
          </a:xfrm>
          <a:prstGeom prst="roundRect">
            <a:avLst>
              <a:gd name="adj" fmla="val 1449"/>
            </a:avLst>
          </a:prstGeom>
          <a:solidFill>
            <a:srgbClr val="FFFFFF"/>
          </a:solidFill>
          <a:ln w="12700">
            <a:solidFill>
              <a:srgbClr val="D8E0E8"/>
            </a:solidFill>
            <a:prstDash val="solid"/>
          </a:ln>
        </p:spPr>
      </p:sp>
      <p:sp>
        <p:nvSpPr>
          <p:cNvPr id="21" name="Shape 18"/>
          <p:cNvSpPr/>
          <p:nvPr/>
        </p:nvSpPr>
        <p:spPr>
          <a:xfrm>
            <a:off x="8229600" y="2066544"/>
            <a:ext cx="3154680" cy="109728"/>
          </a:xfrm>
          <a:prstGeom prst="rect">
            <a:avLst/>
          </a:prstGeom>
          <a:solidFill>
            <a:srgbClr val="C99211"/>
          </a:solidFill>
          <a:ln w="12700">
            <a:solidFill>
              <a:srgbClr val="C99211"/>
            </a:solidFill>
            <a:prstDash val="solid"/>
          </a:ln>
        </p:spPr>
      </p:sp>
      <p:sp>
        <p:nvSpPr>
          <p:cNvPr id="22" name="Text 19"/>
          <p:cNvSpPr/>
          <p:nvPr/>
        </p:nvSpPr>
        <p:spPr>
          <a:xfrm>
            <a:off x="8430768" y="2286000"/>
            <a:ext cx="1463040" cy="128016"/>
          </a:xfrm>
          <a:prstGeom prst="rect">
            <a:avLst/>
          </a:prstGeom>
          <a:noFill/>
          <a:ln/>
        </p:spPr>
        <p:txBody>
          <a:bodyPr wrap="square" lIns="0" tIns="0" rIns="0" bIns="0" rtlCol="0" anchor="t"/>
          <a:lstStyle/>
          <a:p>
            <a:pPr algn="l" indent="0" marL="0">
              <a:buNone/>
            </a:pPr>
            <a:r>
              <a:rPr lang="en-US" sz="950" b="1" dirty="0">
                <a:solidFill>
                  <a:srgbClr val="C99211"/>
                </a:solidFill>
                <a:latin typeface="Barlow" pitchFamily="34" charset="0"/>
                <a:ea typeface="Barlow" pitchFamily="34" charset="-122"/>
                <a:cs typeface="Barlow" pitchFamily="34" charset="-120"/>
              </a:rPr>
              <a:t>SPECTACLE</a:t>
            </a:r>
            <a:endParaRPr lang="en-US" sz="950" dirty="0"/>
          </a:p>
        </p:txBody>
      </p:sp>
      <p:sp>
        <p:nvSpPr>
          <p:cNvPr id="23" name="Text 20"/>
          <p:cNvSpPr/>
          <p:nvPr/>
        </p:nvSpPr>
        <p:spPr>
          <a:xfrm>
            <a:off x="8430768" y="2578608"/>
            <a:ext cx="2468880" cy="512064"/>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Bức Tường Mái Chèo Di Sản</a:t>
            </a:r>
            <a:endParaRPr lang="en-US" sz="1800" dirty="0"/>
          </a:p>
        </p:txBody>
      </p:sp>
      <p:sp>
        <p:nvSpPr>
          <p:cNvPr id="24" name="Text 21"/>
          <p:cNvSpPr/>
          <p:nvPr/>
        </p:nvSpPr>
        <p:spPr>
          <a:xfrm>
            <a:off x="8430768" y="3182112"/>
            <a:ext cx="2560320" cy="27432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Để event có một biểu tượng thị giác riêng</a:t>
            </a:r>
            <a:endParaRPr lang="en-US" sz="1080" dirty="0"/>
          </a:p>
        </p:txBody>
      </p:sp>
      <p:sp>
        <p:nvSpPr>
          <p:cNvPr id="25" name="Text 22"/>
          <p:cNvSpPr/>
          <p:nvPr/>
        </p:nvSpPr>
        <p:spPr>
          <a:xfrm>
            <a:off x="8430768" y="3657600"/>
            <a:ext cx="2752344" cy="310896"/>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Installation mái chèo khổng lồ + ánh sáng</a:t>
            </a:r>
            <a:endParaRPr lang="en-US" sz="1120" dirty="0"/>
          </a:p>
        </p:txBody>
      </p:sp>
      <p:sp>
        <p:nvSpPr>
          <p:cNvPr id="26" name="Text 23"/>
          <p:cNvSpPr/>
          <p:nvPr/>
        </p:nvSpPr>
        <p:spPr>
          <a:xfrm>
            <a:off x="8430768" y="4133088"/>
            <a:ext cx="2752344" cy="310896"/>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Photo point signature của giải đấu</a:t>
            </a:r>
            <a:endParaRPr lang="en-US" sz="1120" dirty="0"/>
          </a:p>
        </p:txBody>
      </p:sp>
      <p:sp>
        <p:nvSpPr>
          <p:cNvPr id="27" name="Text 24"/>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&amp; PR</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Chiến lược social, PR, KOL/KOC và viral mechanics</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Social mechanics</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TikTok challenge: #GiuNhipGiaDinh với format kể về người giữ nhịp trong nhà.</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UGC format: viết một câu nhắn cho 'mái chèo' của gia đình mình.</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Realtime templates cho story, frame check-in và sticker event.</a:t>
            </a:r>
            <a:endParaRPr lang="en-US" sz="114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Shape 10"/>
          <p:cNvSpPr/>
          <p:nvPr/>
        </p:nvSpPr>
        <p:spPr>
          <a:xfrm>
            <a:off x="6455664" y="2157984"/>
            <a:ext cx="1005840" cy="45720"/>
          </a:xfrm>
          <a:prstGeom prst="rect">
            <a:avLst/>
          </a:prstGeom>
          <a:solidFill>
            <a:srgbClr val="C99211"/>
          </a:solidFill>
          <a:ln w="12700">
            <a:solidFill>
              <a:srgbClr val="C99211"/>
            </a:solidFill>
            <a:prstDash val="solid"/>
          </a:ln>
        </p:spPr>
      </p:sp>
      <p:sp>
        <p:nvSpPr>
          <p:cNvPr id="14" name="Text 11"/>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PR &amp; influencer</a:t>
            </a:r>
            <a:endParaRPr lang="en-US" sz="1750" dirty="0"/>
          </a:p>
        </p:txBody>
      </p:sp>
      <p:sp>
        <p:nvSpPr>
          <p:cNvPr id="15" name="Text 12"/>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Local KOL: nghệ sĩ Huế, travel creator, cultural storyteller.</a:t>
            </a:r>
            <a:endParaRPr lang="en-US" sz="1140" dirty="0"/>
          </a:p>
        </p:txBody>
      </p:sp>
      <p:sp>
        <p:nvSpPr>
          <p:cNvPr id="16" name="Text 13"/>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National KOL: family voices, lifestyle MC, documentary-style creator.</a:t>
            </a:r>
            <a:endParaRPr lang="en-US" sz="1140" dirty="0"/>
          </a:p>
        </p:txBody>
      </p:sp>
      <p:sp>
        <p:nvSpPr>
          <p:cNvPr id="17" name="Text 14"/>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PR angle chia 3 nhánh: văn hóa Huế, sự kiện Quốc khánh, vai trò thương hiệu.</a:t>
            </a:r>
            <a:endParaRPr lang="en-US" sz="114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Định hướng hero film</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1100" dirty="0"/>
          </a:p>
        </p:txBody>
      </p:sp>
      <p:sp>
        <p:nvSpPr>
          <p:cNvPr id="6" name="Shape 3"/>
          <p:cNvSpPr/>
          <p:nvPr/>
        </p:nvSpPr>
        <p:spPr>
          <a:xfrm>
            <a:off x="822960" y="2029968"/>
            <a:ext cx="6492240" cy="3383280"/>
          </a:xfrm>
          <a:prstGeom prst="roundRect">
            <a:avLst>
              <a:gd name="adj" fmla="val 1351"/>
            </a:avLst>
          </a:prstGeom>
          <a:solidFill>
            <a:srgbClr val="114A7A"/>
          </a:solidFill>
          <a:ln w="12700">
            <a:solidFill>
              <a:srgbClr val="114A7A"/>
            </a:solidFill>
            <a:prstDash val="solid"/>
          </a:ln>
        </p:spPr>
      </p:sp>
      <p:sp>
        <p:nvSpPr>
          <p:cNvPr id="7" name="Text 4"/>
          <p:cNvSpPr/>
          <p:nvPr/>
        </p:nvSpPr>
        <p:spPr>
          <a:xfrm>
            <a:off x="1078992" y="2286000"/>
            <a:ext cx="1828800" cy="146304"/>
          </a:xfrm>
          <a:prstGeom prst="rect">
            <a:avLst/>
          </a:prstGeom>
          <a:noFill/>
          <a:ln/>
        </p:spPr>
        <p:txBody>
          <a:bodyPr wrap="square" lIns="0" tIns="0" rIns="0" bIns="0" rtlCol="0" anchor="t"/>
          <a:lstStyle/>
          <a:p>
            <a:pPr algn="l" indent="0" marL="0">
              <a:buNone/>
            </a:pPr>
            <a:r>
              <a:rPr lang="en-US" sz="1000" b="1" dirty="0">
                <a:solidFill>
                  <a:srgbClr val="BFD5EA"/>
                </a:solidFill>
                <a:latin typeface="Barlow" pitchFamily="34" charset="0"/>
                <a:ea typeface="Barlow" pitchFamily="34" charset="-122"/>
                <a:cs typeface="Barlow" pitchFamily="34" charset="-120"/>
              </a:rPr>
              <a:t>Mạch phim đề xuất</a:t>
            </a:r>
            <a:endParaRPr lang="en-US" sz="1000" dirty="0"/>
          </a:p>
        </p:txBody>
      </p:sp>
      <p:sp>
        <p:nvSpPr>
          <p:cNvPr id="8" name="Shape 5"/>
          <p:cNvSpPr/>
          <p:nvPr/>
        </p:nvSpPr>
        <p:spPr>
          <a:xfrm>
            <a:off x="1078992" y="2651760"/>
            <a:ext cx="4023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724912"/>
            <a:ext cx="2926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01</a:t>
            </a:r>
            <a:endParaRPr lang="en-US" sz="920" dirty="0"/>
          </a:p>
        </p:txBody>
      </p:sp>
      <p:sp>
        <p:nvSpPr>
          <p:cNvPr id="10" name="Text 7"/>
          <p:cNvSpPr/>
          <p:nvPr/>
        </p:nvSpPr>
        <p:spPr>
          <a:xfrm>
            <a:off x="1609344" y="2670048"/>
            <a:ext cx="4754880" cy="164592"/>
          </a:xfrm>
          <a:prstGeom prst="rect">
            <a:avLst/>
          </a:prstGeom>
          <a:noFill/>
          <a:ln/>
        </p:spPr>
        <p:txBody>
          <a:bodyPr wrap="square" lIns="0" tIns="0" rIns="0" bIns="0" rtlCol="0" anchor="t"/>
          <a:lstStyle/>
          <a:p>
            <a:pPr algn="l" indent="0" marL="0">
              <a:buNone/>
            </a:pPr>
            <a:r>
              <a:rPr lang="en-US" sz="1300" b="1" dirty="0">
                <a:solidFill>
                  <a:srgbClr val="FFFFFF"/>
                </a:solidFill>
                <a:latin typeface="Barlow" pitchFamily="34" charset="0"/>
                <a:ea typeface="Barlow" pitchFamily="34" charset="-122"/>
                <a:cs typeface="Barlow" pitchFamily="34" charset="-120"/>
              </a:rPr>
              <a:t>Nhịp chèo trên sông Hương mở ra câu chuyện</a:t>
            </a:r>
            <a:endParaRPr lang="en-US" sz="1300" dirty="0"/>
          </a:p>
        </p:txBody>
      </p:sp>
      <p:sp>
        <p:nvSpPr>
          <p:cNvPr id="11" name="Shape 8"/>
          <p:cNvSpPr/>
          <p:nvPr/>
        </p:nvSpPr>
        <p:spPr>
          <a:xfrm>
            <a:off x="1078992" y="3218688"/>
            <a:ext cx="402336" cy="310896"/>
          </a:xfrm>
          <a:prstGeom prst="roundRect">
            <a:avLst>
              <a:gd name="adj" fmla="val 23529"/>
            </a:avLst>
          </a:prstGeom>
          <a:solidFill>
            <a:srgbClr val="0B6CB8">
              <a:alpha val="92000"/>
            </a:srgbClr>
          </a:solidFill>
          <a:ln w="12700">
            <a:solidFill>
              <a:srgbClr val="0B6CB8"/>
            </a:solidFill>
            <a:prstDash val="solid"/>
          </a:ln>
        </p:spPr>
      </p:sp>
      <p:sp>
        <p:nvSpPr>
          <p:cNvPr id="12" name="Text 9"/>
          <p:cNvSpPr/>
          <p:nvPr/>
        </p:nvSpPr>
        <p:spPr>
          <a:xfrm>
            <a:off x="1133856" y="3291840"/>
            <a:ext cx="2926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a:t>
            </a:r>
            <a:endParaRPr lang="en-US" sz="920" dirty="0"/>
          </a:p>
        </p:txBody>
      </p:sp>
      <p:sp>
        <p:nvSpPr>
          <p:cNvPr id="13" name="Text 10"/>
          <p:cNvSpPr/>
          <p:nvPr/>
        </p:nvSpPr>
        <p:spPr>
          <a:xfrm>
            <a:off x="1609344" y="3236976"/>
            <a:ext cx="4754880" cy="164592"/>
          </a:xfrm>
          <a:prstGeom prst="rect">
            <a:avLst/>
          </a:prstGeom>
          <a:noFill/>
          <a:ln/>
        </p:spPr>
        <p:txBody>
          <a:bodyPr wrap="square" lIns="0" tIns="0" rIns="0" bIns="0" rtlCol="0" anchor="t"/>
          <a:lstStyle/>
          <a:p>
            <a:pPr algn="l" indent="0" marL="0">
              <a:buNone/>
            </a:pPr>
            <a:r>
              <a:rPr lang="en-US" sz="1300" dirty="0">
                <a:solidFill>
                  <a:srgbClr val="FFFFFF"/>
                </a:solidFill>
                <a:latin typeface="Barlow" pitchFamily="34" charset="0"/>
                <a:ea typeface="Barlow" pitchFamily="34" charset="-122"/>
                <a:cs typeface="Barlow" pitchFamily="34" charset="-120"/>
              </a:rPr>
              <a:t>Người trụ cột hiện lên bền bỉ, lặng lẽ</a:t>
            </a:r>
            <a:endParaRPr lang="en-US" sz="1300" dirty="0"/>
          </a:p>
        </p:txBody>
      </p:sp>
      <p:sp>
        <p:nvSpPr>
          <p:cNvPr id="14" name="Shape 11"/>
          <p:cNvSpPr/>
          <p:nvPr/>
        </p:nvSpPr>
        <p:spPr>
          <a:xfrm>
            <a:off x="1078992" y="3785616"/>
            <a:ext cx="402336" cy="310896"/>
          </a:xfrm>
          <a:prstGeom prst="roundRect">
            <a:avLst>
              <a:gd name="adj" fmla="val 23529"/>
            </a:avLst>
          </a:prstGeom>
          <a:solidFill>
            <a:srgbClr val="C99211">
              <a:alpha val="92000"/>
            </a:srgbClr>
          </a:solidFill>
          <a:ln w="12700">
            <a:solidFill>
              <a:srgbClr val="C99211"/>
            </a:solidFill>
            <a:prstDash val="solid"/>
          </a:ln>
        </p:spPr>
      </p:sp>
      <p:sp>
        <p:nvSpPr>
          <p:cNvPr id="15" name="Text 12"/>
          <p:cNvSpPr/>
          <p:nvPr/>
        </p:nvSpPr>
        <p:spPr>
          <a:xfrm>
            <a:off x="1133856" y="3858768"/>
            <a:ext cx="2926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03</a:t>
            </a:r>
            <a:endParaRPr lang="en-US" sz="920" dirty="0"/>
          </a:p>
        </p:txBody>
      </p:sp>
      <p:sp>
        <p:nvSpPr>
          <p:cNvPr id="16" name="Text 13"/>
          <p:cNvSpPr/>
          <p:nvPr/>
        </p:nvSpPr>
        <p:spPr>
          <a:xfrm>
            <a:off x="1609344" y="3803904"/>
            <a:ext cx="4754880" cy="164592"/>
          </a:xfrm>
          <a:prstGeom prst="rect">
            <a:avLst/>
          </a:prstGeom>
          <a:noFill/>
          <a:ln/>
        </p:spPr>
        <p:txBody>
          <a:bodyPr wrap="square" lIns="0" tIns="0" rIns="0" bIns="0" rtlCol="0" anchor="t"/>
          <a:lstStyle/>
          <a:p>
            <a:pPr algn="l" indent="0" marL="0">
              <a:buNone/>
            </a:pPr>
            <a:r>
              <a:rPr lang="en-US" sz="1300" dirty="0">
                <a:solidFill>
                  <a:srgbClr val="FFFFFF"/>
                </a:solidFill>
                <a:latin typeface="Barlow" pitchFamily="34" charset="0"/>
                <a:ea typeface="Barlow" pitchFamily="34" charset="-122"/>
                <a:cs typeface="Barlow" pitchFamily="34" charset="-120"/>
              </a:rPr>
              <a:t>Cao trào ở lễ tôn vinh và khoảnh khắc bứt tốc</a:t>
            </a:r>
            <a:endParaRPr lang="en-US" sz="1300" dirty="0"/>
          </a:p>
        </p:txBody>
      </p:sp>
      <p:sp>
        <p:nvSpPr>
          <p:cNvPr id="17" name="Shape 14"/>
          <p:cNvSpPr/>
          <p:nvPr/>
        </p:nvSpPr>
        <p:spPr>
          <a:xfrm>
            <a:off x="1078992" y="4352544"/>
            <a:ext cx="402336" cy="310896"/>
          </a:xfrm>
          <a:prstGeom prst="roundRect">
            <a:avLst>
              <a:gd name="adj" fmla="val 23529"/>
            </a:avLst>
          </a:prstGeom>
          <a:solidFill>
            <a:srgbClr val="0B6CB8">
              <a:alpha val="92000"/>
            </a:srgbClr>
          </a:solidFill>
          <a:ln w="12700">
            <a:solidFill>
              <a:srgbClr val="0B6CB8"/>
            </a:solidFill>
            <a:prstDash val="solid"/>
          </a:ln>
        </p:spPr>
      </p:sp>
      <p:sp>
        <p:nvSpPr>
          <p:cNvPr id="18" name="Text 15"/>
          <p:cNvSpPr/>
          <p:nvPr/>
        </p:nvSpPr>
        <p:spPr>
          <a:xfrm>
            <a:off x="1133856" y="4425696"/>
            <a:ext cx="2926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04</a:t>
            </a:r>
            <a:endParaRPr lang="en-US" sz="920" dirty="0"/>
          </a:p>
        </p:txBody>
      </p:sp>
      <p:sp>
        <p:nvSpPr>
          <p:cNvPr id="19" name="Text 16"/>
          <p:cNvSpPr/>
          <p:nvPr/>
        </p:nvSpPr>
        <p:spPr>
          <a:xfrm>
            <a:off x="1609344" y="4370832"/>
            <a:ext cx="4754880" cy="164592"/>
          </a:xfrm>
          <a:prstGeom prst="rect">
            <a:avLst/>
          </a:prstGeom>
          <a:noFill/>
          <a:ln/>
        </p:spPr>
        <p:txBody>
          <a:bodyPr wrap="square" lIns="0" tIns="0" rIns="0" bIns="0" rtlCol="0" anchor="t"/>
          <a:lstStyle/>
          <a:p>
            <a:pPr algn="l" indent="0" marL="0">
              <a:buNone/>
            </a:pPr>
            <a:r>
              <a:rPr lang="en-US" sz="1300" b="1" dirty="0">
                <a:solidFill>
                  <a:srgbClr val="FFFFFF"/>
                </a:solidFill>
                <a:latin typeface="Barlow" pitchFamily="34" charset="0"/>
                <a:ea typeface="Barlow" pitchFamily="34" charset="-122"/>
                <a:cs typeface="Barlow" pitchFamily="34" charset="-120"/>
              </a:rPr>
              <a:t>Kết phim bằng sign-off như một lời hứa thương hiệu</a:t>
            </a:r>
            <a:endParaRPr lang="en-US" sz="1300" dirty="0"/>
          </a:p>
        </p:txBody>
      </p:sp>
      <p:sp>
        <p:nvSpPr>
          <p:cNvPr id="20" name="Shape 17"/>
          <p:cNvSpPr/>
          <p:nvPr/>
        </p:nvSpPr>
        <p:spPr>
          <a:xfrm>
            <a:off x="7543800" y="2029968"/>
            <a:ext cx="3840480" cy="1600200"/>
          </a:xfrm>
          <a:prstGeom prst="roundRect">
            <a:avLst>
              <a:gd name="adj" fmla="val 2857"/>
            </a:avLst>
          </a:prstGeom>
          <a:solidFill>
            <a:srgbClr val="FFFFFF"/>
          </a:solidFill>
          <a:ln w="12700">
            <a:solidFill>
              <a:srgbClr val="D8E0E8"/>
            </a:solidFill>
            <a:prstDash val="solid"/>
          </a:ln>
        </p:spPr>
      </p:sp>
      <p:sp>
        <p:nvSpPr>
          <p:cNvPr id="21" name="Text 18"/>
          <p:cNvSpPr/>
          <p:nvPr/>
        </p:nvSpPr>
        <p:spPr>
          <a:xfrm>
            <a:off x="7772400" y="2249424"/>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Mood &amp; Tone</a:t>
            </a:r>
            <a:endParaRPr lang="en-US" sz="950" dirty="0"/>
          </a:p>
        </p:txBody>
      </p:sp>
      <p:sp>
        <p:nvSpPr>
          <p:cNvPr id="22" name="Text 19"/>
          <p:cNvSpPr/>
          <p:nvPr/>
        </p:nvSpPr>
        <p:spPr>
          <a:xfrm>
            <a:off x="7772400" y="2542032"/>
            <a:ext cx="2880360" cy="310896"/>
          </a:xfrm>
          <a:prstGeom prst="rect">
            <a:avLst/>
          </a:prstGeom>
          <a:noFill/>
          <a:ln/>
        </p:spPr>
        <p:txBody>
          <a:bodyPr wrap="square" lIns="0" tIns="0" rIns="0" bIns="0" rtlCol="0" anchor="t"/>
          <a:lstStyle/>
          <a:p>
            <a:pPr algn="l" indent="0" marL="0">
              <a:buNone/>
            </a:pPr>
            <a:r>
              <a:rPr lang="en-US" sz="1650" b="1" dirty="0">
                <a:solidFill>
                  <a:srgbClr val="114A7A"/>
                </a:solidFill>
                <a:latin typeface="Barlow" pitchFamily="34" charset="0"/>
                <a:ea typeface="Barlow" pitchFamily="34" charset="-122"/>
                <a:cs typeface="Barlow" pitchFamily="34" charset="-120"/>
              </a:rPr>
              <a:t>Cinematic | dignified | warm</a:t>
            </a:r>
            <a:endParaRPr lang="en-US" sz="1650" dirty="0"/>
          </a:p>
        </p:txBody>
      </p:sp>
      <p:sp>
        <p:nvSpPr>
          <p:cNvPr id="23" name="Text 20"/>
          <p:cNvSpPr/>
          <p:nvPr/>
        </p:nvSpPr>
        <p:spPr>
          <a:xfrm>
            <a:off x="7772400" y="3090672"/>
            <a:ext cx="2651760" cy="18288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Không melodrama. Không quảng cáo hóa quá sớm.</a:t>
            </a:r>
            <a:endParaRPr lang="en-US" sz="1080" dirty="0"/>
          </a:p>
        </p:txBody>
      </p:sp>
      <p:sp>
        <p:nvSpPr>
          <p:cNvPr id="24" name="Shape 21"/>
          <p:cNvSpPr/>
          <p:nvPr/>
        </p:nvSpPr>
        <p:spPr>
          <a:xfrm>
            <a:off x="7543800" y="3813048"/>
            <a:ext cx="3840480" cy="1600200"/>
          </a:xfrm>
          <a:prstGeom prst="roundRect">
            <a:avLst>
              <a:gd name="adj" fmla="val 2857"/>
            </a:avLst>
          </a:prstGeom>
          <a:solidFill>
            <a:srgbClr val="F6F8FB"/>
          </a:solidFill>
          <a:ln w="12700">
            <a:solidFill>
              <a:srgbClr val="D8E0E8"/>
            </a:solidFill>
            <a:prstDash val="solid"/>
          </a:ln>
        </p:spPr>
      </p:sp>
      <p:sp>
        <p:nvSpPr>
          <p:cNvPr id="25" name="Text 22"/>
          <p:cNvSpPr/>
          <p:nvPr/>
        </p:nvSpPr>
        <p:spPr>
          <a:xfrm>
            <a:off x="7772400" y="4041648"/>
            <a:ext cx="914400" cy="128016"/>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Output</a:t>
            </a:r>
            <a:endParaRPr lang="en-US" sz="950" dirty="0"/>
          </a:p>
        </p:txBody>
      </p:sp>
      <p:sp>
        <p:nvSpPr>
          <p:cNvPr id="26" name="Text 23"/>
          <p:cNvSpPr/>
          <p:nvPr/>
        </p:nvSpPr>
        <p:spPr>
          <a:xfrm>
            <a:off x="7772400" y="4370832"/>
            <a:ext cx="2834640" cy="256032"/>
          </a:xfrm>
          <a:prstGeom prst="rect">
            <a:avLst/>
          </a:prstGeom>
          <a:noFill/>
          <a:ln/>
        </p:spPr>
        <p:txBody>
          <a:bodyPr wrap="square" lIns="0" tIns="0" rIns="0" bIns="0" rtlCol="0" anchor="t"/>
          <a:lstStyle/>
          <a:p>
            <a:pPr algn="l" indent="0" marL="0">
              <a:buNone/>
            </a:pPr>
            <a:r>
              <a:rPr lang="en-US" sz="1650" b="1" dirty="0">
                <a:solidFill>
                  <a:srgbClr val="114A7A"/>
                </a:solidFill>
                <a:latin typeface="Barlow" pitchFamily="34" charset="0"/>
                <a:ea typeface="Barlow" pitchFamily="34" charset="-122"/>
                <a:cs typeface="Barlow" pitchFamily="34" charset="-120"/>
              </a:rPr>
              <a:t>30s | 60s | documentary cut</a:t>
            </a:r>
            <a:endParaRPr lang="en-US" sz="1650" dirty="0"/>
          </a:p>
        </p:txBody>
      </p:sp>
      <p:sp>
        <p:nvSpPr>
          <p:cNvPr id="27" name="Text 24"/>
          <p:cNvSpPr/>
          <p:nvPr/>
        </p:nvSpPr>
        <p:spPr>
          <a:xfrm>
            <a:off x="7772400" y="4718304"/>
            <a:ext cx="2651760" cy="146304"/>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Dùng cho TVC online, event opening và PR assets.</a:t>
            </a:r>
            <a:endParaRPr lang="en-US" sz="108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Hệ sinh thái nội dung</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idea tốt phải đẻ ra được nhiều format, nhiều vai trò, nhiều độ dài nội dung.</a:t>
            </a:r>
            <a:endParaRPr lang="en-US" sz="1100" dirty="0"/>
          </a:p>
        </p:txBody>
      </p:sp>
      <p:sp>
        <p:nvSpPr>
          <p:cNvPr id="6" name="Shape 3"/>
          <p:cNvSpPr/>
          <p:nvPr/>
        </p:nvSpPr>
        <p:spPr>
          <a:xfrm>
            <a:off x="822960" y="2066544"/>
            <a:ext cx="10561320" cy="493776"/>
          </a:xfrm>
          <a:prstGeom prst="roundRect">
            <a:avLst>
              <a:gd name="adj" fmla="val 5556"/>
            </a:avLst>
          </a:prstGeom>
          <a:solidFill>
            <a:srgbClr val="F6F8FB"/>
          </a:solidFill>
          <a:ln w="12700">
            <a:solidFill>
              <a:srgbClr val="D8E0E8"/>
            </a:solidFill>
            <a:prstDash val="solid"/>
          </a:ln>
        </p:spPr>
      </p:sp>
      <p:sp>
        <p:nvSpPr>
          <p:cNvPr id="7" name="Text 4"/>
          <p:cNvSpPr/>
          <p:nvPr/>
        </p:nvSpPr>
        <p:spPr>
          <a:xfrm>
            <a:off x="1024128" y="2212848"/>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Hero content</a:t>
            </a:r>
            <a:endParaRPr lang="en-US" sz="1210" dirty="0"/>
          </a:p>
        </p:txBody>
      </p:sp>
      <p:sp>
        <p:nvSpPr>
          <p:cNvPr id="8" name="Text 5"/>
          <p:cNvSpPr/>
          <p:nvPr/>
        </p:nvSpPr>
        <p:spPr>
          <a:xfrm>
            <a:off x="2852928" y="2212848"/>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Hero film, teaser main, aftermovie</a:t>
            </a:r>
            <a:endParaRPr lang="en-US" sz="1110" dirty="0"/>
          </a:p>
        </p:txBody>
      </p:sp>
      <p:sp>
        <p:nvSpPr>
          <p:cNvPr id="9" name="Text 6"/>
          <p:cNvSpPr/>
          <p:nvPr/>
        </p:nvSpPr>
        <p:spPr>
          <a:xfrm>
            <a:off x="6903720" y="2212848"/>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Build meaning và đẩy scale nhận diện</a:t>
            </a:r>
            <a:endParaRPr lang="en-US" sz="1110" dirty="0"/>
          </a:p>
        </p:txBody>
      </p:sp>
      <p:sp>
        <p:nvSpPr>
          <p:cNvPr id="10" name="Shape 7"/>
          <p:cNvSpPr/>
          <p:nvPr/>
        </p:nvSpPr>
        <p:spPr>
          <a:xfrm>
            <a:off x="822960" y="2688336"/>
            <a:ext cx="10561320" cy="493776"/>
          </a:xfrm>
          <a:prstGeom prst="roundRect">
            <a:avLst>
              <a:gd name="adj" fmla="val 5556"/>
            </a:avLst>
          </a:prstGeom>
          <a:solidFill>
            <a:srgbClr val="FFFFFF"/>
          </a:solidFill>
          <a:ln w="12700">
            <a:solidFill>
              <a:srgbClr val="D8E0E8"/>
            </a:solidFill>
            <a:prstDash val="solid"/>
          </a:ln>
        </p:spPr>
      </p:sp>
      <p:sp>
        <p:nvSpPr>
          <p:cNvPr id="11" name="Text 8"/>
          <p:cNvSpPr/>
          <p:nvPr/>
        </p:nvSpPr>
        <p:spPr>
          <a:xfrm>
            <a:off x="1024128" y="2834640"/>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Social storytelling</a:t>
            </a:r>
            <a:endParaRPr lang="en-US" sz="1210" dirty="0"/>
          </a:p>
        </p:txBody>
      </p:sp>
      <p:sp>
        <p:nvSpPr>
          <p:cNvPr id="12" name="Text 9"/>
          <p:cNvSpPr/>
          <p:nvPr/>
        </p:nvSpPr>
        <p:spPr>
          <a:xfrm>
            <a:off x="2852928" y="2834640"/>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Reels, TikTok, quote motion, crew stories</a:t>
            </a:r>
            <a:endParaRPr lang="en-US" sz="1110" dirty="0"/>
          </a:p>
        </p:txBody>
      </p:sp>
      <p:sp>
        <p:nvSpPr>
          <p:cNvPr id="13" name="Text 10"/>
          <p:cNvSpPr/>
          <p:nvPr/>
        </p:nvSpPr>
        <p:spPr>
          <a:xfrm>
            <a:off x="6903720" y="2834640"/>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Giữ nhịp thảo luận và tương tác</a:t>
            </a:r>
            <a:endParaRPr lang="en-US" sz="1110" dirty="0"/>
          </a:p>
        </p:txBody>
      </p:sp>
      <p:sp>
        <p:nvSpPr>
          <p:cNvPr id="14" name="Shape 11"/>
          <p:cNvSpPr/>
          <p:nvPr/>
        </p:nvSpPr>
        <p:spPr>
          <a:xfrm>
            <a:off x="822960" y="3310128"/>
            <a:ext cx="10561320" cy="493776"/>
          </a:xfrm>
          <a:prstGeom prst="roundRect">
            <a:avLst>
              <a:gd name="adj" fmla="val 5556"/>
            </a:avLst>
          </a:prstGeom>
          <a:solidFill>
            <a:srgbClr val="F6F8FB"/>
          </a:solidFill>
          <a:ln w="12700">
            <a:solidFill>
              <a:srgbClr val="D8E0E8"/>
            </a:solidFill>
            <a:prstDash val="solid"/>
          </a:ln>
        </p:spPr>
      </p:sp>
      <p:sp>
        <p:nvSpPr>
          <p:cNvPr id="15" name="Text 12"/>
          <p:cNvSpPr/>
          <p:nvPr/>
        </p:nvSpPr>
        <p:spPr>
          <a:xfrm>
            <a:off x="1024128" y="3456432"/>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Live content</a:t>
            </a:r>
            <a:endParaRPr lang="en-US" sz="1210" dirty="0"/>
          </a:p>
        </p:txBody>
      </p:sp>
      <p:sp>
        <p:nvSpPr>
          <p:cNvPr id="16" name="Text 13"/>
          <p:cNvSpPr/>
          <p:nvPr/>
        </p:nvSpPr>
        <p:spPr>
          <a:xfrm>
            <a:off x="2852928" y="3456432"/>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Livestream packages, instant clip, stills</a:t>
            </a:r>
            <a:endParaRPr lang="en-US" sz="1110" dirty="0"/>
          </a:p>
        </p:txBody>
      </p:sp>
      <p:sp>
        <p:nvSpPr>
          <p:cNvPr id="17" name="Text 14"/>
          <p:cNvSpPr/>
          <p:nvPr/>
        </p:nvSpPr>
        <p:spPr>
          <a:xfrm>
            <a:off x="6903720" y="3456432"/>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Tối đa hóa khoảnh khắc trong ngày đua</a:t>
            </a:r>
            <a:endParaRPr lang="en-US" sz="1110" dirty="0"/>
          </a:p>
        </p:txBody>
      </p:sp>
      <p:sp>
        <p:nvSpPr>
          <p:cNvPr id="18" name="Shape 15"/>
          <p:cNvSpPr/>
          <p:nvPr/>
        </p:nvSpPr>
        <p:spPr>
          <a:xfrm>
            <a:off x="822960" y="3931920"/>
            <a:ext cx="10561320" cy="493776"/>
          </a:xfrm>
          <a:prstGeom prst="roundRect">
            <a:avLst>
              <a:gd name="adj" fmla="val 5556"/>
            </a:avLst>
          </a:prstGeom>
          <a:solidFill>
            <a:srgbClr val="FFFFFF"/>
          </a:solidFill>
          <a:ln w="12700">
            <a:solidFill>
              <a:srgbClr val="D8E0E8"/>
            </a:solidFill>
            <a:prstDash val="solid"/>
          </a:ln>
        </p:spPr>
      </p:sp>
      <p:sp>
        <p:nvSpPr>
          <p:cNvPr id="19" name="Text 16"/>
          <p:cNvSpPr/>
          <p:nvPr/>
        </p:nvSpPr>
        <p:spPr>
          <a:xfrm>
            <a:off x="1024128" y="4078224"/>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PR content</a:t>
            </a:r>
            <a:endParaRPr lang="en-US" sz="1210" dirty="0"/>
          </a:p>
        </p:txBody>
      </p:sp>
      <p:sp>
        <p:nvSpPr>
          <p:cNvPr id="20" name="Text 17"/>
          <p:cNvSpPr/>
          <p:nvPr/>
        </p:nvSpPr>
        <p:spPr>
          <a:xfrm>
            <a:off x="2852928" y="4078224"/>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Feature article, interview, photo essay</a:t>
            </a:r>
            <a:endParaRPr lang="en-US" sz="1110" dirty="0"/>
          </a:p>
        </p:txBody>
      </p:sp>
      <p:sp>
        <p:nvSpPr>
          <p:cNvPr id="21" name="Text 18"/>
          <p:cNvSpPr/>
          <p:nvPr/>
        </p:nvSpPr>
        <p:spPr>
          <a:xfrm>
            <a:off x="6903720" y="4078224"/>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Củng cố trust và chiều sâu văn hóa</a:t>
            </a:r>
            <a:endParaRPr lang="en-US" sz="1110" dirty="0"/>
          </a:p>
        </p:txBody>
      </p:sp>
      <p:sp>
        <p:nvSpPr>
          <p:cNvPr id="22" name="Shape 19"/>
          <p:cNvSpPr/>
          <p:nvPr/>
        </p:nvSpPr>
        <p:spPr>
          <a:xfrm>
            <a:off x="822960" y="4553712"/>
            <a:ext cx="10561320" cy="493776"/>
          </a:xfrm>
          <a:prstGeom prst="roundRect">
            <a:avLst>
              <a:gd name="adj" fmla="val 5556"/>
            </a:avLst>
          </a:prstGeom>
          <a:solidFill>
            <a:srgbClr val="F6F8FB"/>
          </a:solidFill>
          <a:ln w="12700">
            <a:solidFill>
              <a:srgbClr val="D8E0E8"/>
            </a:solidFill>
            <a:prstDash val="solid"/>
          </a:ln>
        </p:spPr>
      </p:sp>
      <p:sp>
        <p:nvSpPr>
          <p:cNvPr id="23" name="Text 20"/>
          <p:cNvSpPr/>
          <p:nvPr/>
        </p:nvSpPr>
        <p:spPr>
          <a:xfrm>
            <a:off x="1024128" y="4700016"/>
            <a:ext cx="1828800" cy="146304"/>
          </a:xfrm>
          <a:prstGeom prst="rect">
            <a:avLst/>
          </a:prstGeom>
          <a:noFill/>
          <a:ln/>
        </p:spPr>
        <p:txBody>
          <a:bodyPr wrap="square" lIns="0" tIns="0" rIns="0" bIns="0" rtlCol="0" anchor="t"/>
          <a:lstStyle/>
          <a:p>
            <a:pPr algn="l" indent="0" marL="0">
              <a:buNone/>
            </a:pPr>
            <a:r>
              <a:rPr lang="en-US" sz="1210" b="1" dirty="0">
                <a:solidFill>
                  <a:srgbClr val="114A7A"/>
                </a:solidFill>
                <a:latin typeface="Barlow" pitchFamily="34" charset="0"/>
                <a:ea typeface="Barlow" pitchFamily="34" charset="-122"/>
                <a:cs typeface="Barlow" pitchFamily="34" charset="-120"/>
              </a:rPr>
              <a:t>CRM content</a:t>
            </a:r>
            <a:endParaRPr lang="en-US" sz="1210" dirty="0"/>
          </a:p>
        </p:txBody>
      </p:sp>
      <p:sp>
        <p:nvSpPr>
          <p:cNvPr id="24" name="Text 21"/>
          <p:cNvSpPr/>
          <p:nvPr/>
        </p:nvSpPr>
        <p:spPr>
          <a:xfrm>
            <a:off x="2852928" y="4700016"/>
            <a:ext cx="3749040" cy="146304"/>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Follow-up mail, recap page, lead form journey</a:t>
            </a:r>
            <a:endParaRPr lang="en-US" sz="1110" dirty="0"/>
          </a:p>
        </p:txBody>
      </p:sp>
      <p:sp>
        <p:nvSpPr>
          <p:cNvPr id="25" name="Text 22"/>
          <p:cNvSpPr/>
          <p:nvPr/>
        </p:nvSpPr>
        <p:spPr>
          <a:xfrm>
            <a:off x="6903720" y="4700016"/>
            <a:ext cx="3840480" cy="146304"/>
          </a:xfrm>
          <a:prstGeom prst="rect">
            <a:avLst/>
          </a:prstGeom>
          <a:noFill/>
          <a:ln/>
        </p:spPr>
        <p:txBody>
          <a:bodyPr wrap="square" lIns="0" tIns="0" rIns="0" bIns="0" rtlCol="0" anchor="t"/>
          <a:lstStyle/>
          <a:p>
            <a:pPr algn="l" indent="0" marL="0">
              <a:buNone/>
            </a:pPr>
            <a:r>
              <a:rPr lang="en-US" sz="1110" dirty="0">
                <a:solidFill>
                  <a:srgbClr val="5C6C7B"/>
                </a:solidFill>
                <a:latin typeface="Barlow" pitchFamily="34" charset="0"/>
                <a:ea typeface="Barlow" pitchFamily="34" charset="-122"/>
                <a:cs typeface="Barlow" pitchFamily="34" charset="-120"/>
              </a:rPr>
              <a:t>Chuyển chú ý thành quan tâm thực sự</a:t>
            </a:r>
            <a:endParaRPr lang="en-US" sz="111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Cơ hội tích hợp thương hiệu trong event</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Visible branding</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Tên giải đấu, cúp vô địch, backdrop, podium, uniform key crew.</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Hệ banner ven sông, pontoon, media wall, livestream package.</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Merch premium chọn lọc: khăn, nón, pin, thẻ sự kiện.</a:t>
            </a:r>
            <a:endParaRPr lang="en-US" sz="1140" dirty="0"/>
          </a:p>
        </p:txBody>
      </p:sp>
      <p:sp>
        <p:nvSpPr>
          <p:cNvPr id="12" name="Shape 9"/>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3" name="Shape 10"/>
          <p:cNvSpPr/>
          <p:nvPr/>
        </p:nvSpPr>
        <p:spPr>
          <a:xfrm>
            <a:off x="6455664" y="2157984"/>
            <a:ext cx="1005840" cy="45720"/>
          </a:xfrm>
          <a:prstGeom prst="rect">
            <a:avLst/>
          </a:prstGeom>
          <a:solidFill>
            <a:srgbClr val="C99211"/>
          </a:solidFill>
          <a:ln w="12700">
            <a:solidFill>
              <a:srgbClr val="C99211"/>
            </a:solidFill>
            <a:prstDash val="solid"/>
          </a:ln>
        </p:spPr>
      </p:sp>
      <p:sp>
        <p:nvSpPr>
          <p:cNvPr id="14" name="Text 11"/>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Meaningful branding</a:t>
            </a:r>
            <a:endParaRPr lang="en-US" sz="1750" dirty="0"/>
          </a:p>
        </p:txBody>
      </p:sp>
      <p:sp>
        <p:nvSpPr>
          <p:cNvPr id="15" name="Text 12"/>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Nghi lễ tôn vinh người cầm lái mang tên Bảo Việt Nhân Thọ.</a:t>
            </a:r>
            <a:endParaRPr lang="en-US" sz="1140" dirty="0"/>
          </a:p>
        </p:txBody>
      </p:sp>
      <p:sp>
        <p:nvSpPr>
          <p:cNvPr id="16" name="Text 13"/>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Không gian lời nhắn gia đình và cúp di sản có thương hiệu đồng hành.</a:t>
            </a:r>
            <a:endParaRPr lang="en-US" sz="1140" dirty="0"/>
          </a:p>
        </p:txBody>
      </p:sp>
      <p:sp>
        <p:nvSpPr>
          <p:cNvPr id="17" name="Text 14"/>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Giải phụ cho câu chuyện cộng đồng / đội ghe truyền cảm hứng.</a:t>
            </a:r>
            <a:endParaRPr lang="en-US" sz="114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Logic lead generation và nuôi dưỡng sau sự kiện</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Sức nóng văn hóa không nên đứng riêng với mục tiêu kinh doanh; hai lớp này cần được nối mượt.</a:t>
            </a:r>
            <a:endParaRPr lang="en-US" sz="1100" dirty="0"/>
          </a:p>
        </p:txBody>
      </p:sp>
      <p:sp>
        <p:nvSpPr>
          <p:cNvPr id="6" name="Shape 3"/>
          <p:cNvSpPr/>
          <p:nvPr/>
        </p:nvSpPr>
        <p:spPr>
          <a:xfrm>
            <a:off x="822960" y="2066544"/>
            <a:ext cx="3246120" cy="1115568"/>
          </a:xfrm>
          <a:prstGeom prst="roundRect">
            <a:avLst>
              <a:gd name="adj" fmla="val 4098"/>
            </a:avLst>
          </a:prstGeom>
          <a:solidFill>
            <a:srgbClr val="FFFFFF"/>
          </a:solidFill>
          <a:ln w="12700">
            <a:solidFill>
              <a:srgbClr val="D8E0E8"/>
            </a:solidFill>
            <a:prstDash val="solid"/>
          </a:ln>
        </p:spPr>
      </p:sp>
      <p:sp>
        <p:nvSpPr>
          <p:cNvPr id="7" name="Shape 4"/>
          <p:cNvSpPr/>
          <p:nvPr/>
        </p:nvSpPr>
        <p:spPr>
          <a:xfrm>
            <a:off x="950976" y="2194560"/>
            <a:ext cx="45720" cy="859536"/>
          </a:xfrm>
          <a:prstGeom prst="rect">
            <a:avLst/>
          </a:prstGeom>
          <a:solidFill>
            <a:srgbClr val="0B6CB8"/>
          </a:solidFill>
          <a:ln w="12700">
            <a:solidFill>
              <a:srgbClr val="0B6CB8"/>
            </a:solidFill>
            <a:prstDash val="solid"/>
          </a:ln>
        </p:spPr>
      </p:sp>
      <p:sp>
        <p:nvSpPr>
          <p:cNvPr id="8" name="Text 5"/>
          <p:cNvSpPr/>
          <p:nvPr/>
        </p:nvSpPr>
        <p:spPr>
          <a:xfrm>
            <a:off x="1078992" y="2194560"/>
            <a:ext cx="29169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Entry points</a:t>
            </a:r>
            <a:endParaRPr lang="en-US" sz="920" dirty="0"/>
          </a:p>
        </p:txBody>
      </p:sp>
      <p:sp>
        <p:nvSpPr>
          <p:cNvPr id="9" name="Text 6"/>
          <p:cNvSpPr/>
          <p:nvPr/>
        </p:nvSpPr>
        <p:spPr>
          <a:xfrm>
            <a:off x="1078992" y="2414016"/>
            <a:ext cx="29169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QR / Microsite / Activation</a:t>
            </a:r>
            <a:endParaRPr lang="en-US" sz="1800" dirty="0"/>
          </a:p>
        </p:txBody>
      </p:sp>
      <p:sp>
        <p:nvSpPr>
          <p:cNvPr id="10" name="Text 7"/>
          <p:cNvSpPr/>
          <p:nvPr/>
        </p:nvSpPr>
        <p:spPr>
          <a:xfrm>
            <a:off x="1078992" y="2743200"/>
            <a:ext cx="29169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Check-in, lời nhắn gia đình, mini game, thông tin event</a:t>
            </a:r>
            <a:endParaRPr lang="en-US" sz="880" dirty="0"/>
          </a:p>
        </p:txBody>
      </p:sp>
      <p:sp>
        <p:nvSpPr>
          <p:cNvPr id="11" name="Shape 8"/>
          <p:cNvSpPr/>
          <p:nvPr/>
        </p:nvSpPr>
        <p:spPr>
          <a:xfrm>
            <a:off x="4251960" y="2066544"/>
            <a:ext cx="3246120" cy="1115568"/>
          </a:xfrm>
          <a:prstGeom prst="roundRect">
            <a:avLst>
              <a:gd name="adj" fmla="val 4098"/>
            </a:avLst>
          </a:prstGeom>
          <a:solidFill>
            <a:srgbClr val="FFFFFF"/>
          </a:solidFill>
          <a:ln w="12700">
            <a:solidFill>
              <a:srgbClr val="D8E0E8"/>
            </a:solidFill>
            <a:prstDash val="solid"/>
          </a:ln>
        </p:spPr>
      </p:sp>
      <p:sp>
        <p:nvSpPr>
          <p:cNvPr id="12" name="Shape 9"/>
          <p:cNvSpPr/>
          <p:nvPr/>
        </p:nvSpPr>
        <p:spPr>
          <a:xfrm>
            <a:off x="4379976" y="2194560"/>
            <a:ext cx="45720" cy="859536"/>
          </a:xfrm>
          <a:prstGeom prst="rect">
            <a:avLst/>
          </a:prstGeom>
          <a:solidFill>
            <a:srgbClr val="C99211"/>
          </a:solidFill>
          <a:ln w="12700">
            <a:solidFill>
              <a:srgbClr val="C99211"/>
            </a:solidFill>
            <a:prstDash val="solid"/>
          </a:ln>
        </p:spPr>
      </p:sp>
      <p:sp>
        <p:nvSpPr>
          <p:cNvPr id="13" name="Text 10"/>
          <p:cNvSpPr/>
          <p:nvPr/>
        </p:nvSpPr>
        <p:spPr>
          <a:xfrm>
            <a:off x="4507992" y="2194560"/>
            <a:ext cx="29169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Data layer</a:t>
            </a:r>
            <a:endParaRPr lang="en-US" sz="920" dirty="0"/>
          </a:p>
        </p:txBody>
      </p:sp>
      <p:sp>
        <p:nvSpPr>
          <p:cNvPr id="14" name="Text 11"/>
          <p:cNvSpPr/>
          <p:nvPr/>
        </p:nvSpPr>
        <p:spPr>
          <a:xfrm>
            <a:off x="4507992" y="2414016"/>
            <a:ext cx="29169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Intent-based segmentation</a:t>
            </a:r>
            <a:endParaRPr lang="en-US" sz="1800" dirty="0"/>
          </a:p>
        </p:txBody>
      </p:sp>
      <p:sp>
        <p:nvSpPr>
          <p:cNvPr id="15" name="Text 12"/>
          <p:cNvSpPr/>
          <p:nvPr/>
        </p:nvSpPr>
        <p:spPr>
          <a:xfrm>
            <a:off x="4507992" y="2743200"/>
            <a:ext cx="29169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Nhóm quan tâm gia đình, giáo dục con, tích lũy, bảo vệ</a:t>
            </a:r>
            <a:endParaRPr lang="en-US" sz="880" dirty="0"/>
          </a:p>
        </p:txBody>
      </p:sp>
      <p:sp>
        <p:nvSpPr>
          <p:cNvPr id="16" name="Shape 13"/>
          <p:cNvSpPr/>
          <p:nvPr/>
        </p:nvSpPr>
        <p:spPr>
          <a:xfrm>
            <a:off x="7680960" y="2066544"/>
            <a:ext cx="3703320" cy="1115568"/>
          </a:xfrm>
          <a:prstGeom prst="roundRect">
            <a:avLst>
              <a:gd name="adj" fmla="val 4098"/>
            </a:avLst>
          </a:prstGeom>
          <a:solidFill>
            <a:srgbClr val="FFFFFF"/>
          </a:solidFill>
          <a:ln w="12700">
            <a:solidFill>
              <a:srgbClr val="D8E0E8"/>
            </a:solidFill>
            <a:prstDash val="solid"/>
          </a:ln>
        </p:spPr>
      </p:sp>
      <p:sp>
        <p:nvSpPr>
          <p:cNvPr id="17" name="Shape 14"/>
          <p:cNvSpPr/>
          <p:nvPr/>
        </p:nvSpPr>
        <p:spPr>
          <a:xfrm>
            <a:off x="7808976" y="2194560"/>
            <a:ext cx="45720" cy="859536"/>
          </a:xfrm>
          <a:prstGeom prst="rect">
            <a:avLst/>
          </a:prstGeom>
          <a:solidFill>
            <a:srgbClr val="0B6CB8"/>
          </a:solidFill>
          <a:ln w="12700">
            <a:solidFill>
              <a:srgbClr val="0B6CB8"/>
            </a:solidFill>
            <a:prstDash val="solid"/>
          </a:ln>
        </p:spPr>
      </p:sp>
      <p:sp>
        <p:nvSpPr>
          <p:cNvPr id="18" name="Text 15"/>
          <p:cNvSpPr/>
          <p:nvPr/>
        </p:nvSpPr>
        <p:spPr>
          <a:xfrm>
            <a:off x="7936992" y="2194560"/>
            <a:ext cx="337413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Follow-up</a:t>
            </a:r>
            <a:endParaRPr lang="en-US" sz="920" dirty="0"/>
          </a:p>
        </p:txBody>
      </p:sp>
      <p:sp>
        <p:nvSpPr>
          <p:cNvPr id="19" name="Text 16"/>
          <p:cNvSpPr/>
          <p:nvPr/>
        </p:nvSpPr>
        <p:spPr>
          <a:xfrm>
            <a:off x="7936992" y="2414016"/>
            <a:ext cx="337413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Content-first nurturing</a:t>
            </a:r>
            <a:endParaRPr lang="en-US" sz="1800" dirty="0"/>
          </a:p>
        </p:txBody>
      </p:sp>
      <p:sp>
        <p:nvSpPr>
          <p:cNvPr id="20" name="Text 17"/>
          <p:cNvSpPr/>
          <p:nvPr/>
        </p:nvSpPr>
        <p:spPr>
          <a:xfrm>
            <a:off x="7936992" y="2743200"/>
            <a:ext cx="3374136" cy="34747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Recap, câu chuyện ý nghĩa, tư vấn mềm, mời tư vấn khi đúng thời điểm</a:t>
            </a:r>
            <a:endParaRPr lang="en-US" sz="880" dirty="0"/>
          </a:p>
        </p:txBody>
      </p:sp>
      <p:sp>
        <p:nvSpPr>
          <p:cNvPr id="21" name="Text 18"/>
          <p:cNvSpPr/>
          <p:nvPr/>
        </p:nvSpPr>
        <p:spPr>
          <a:xfrm>
            <a:off x="960120" y="3858768"/>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Không ép bán tại event; ưu tiên thu lead bằng giá trị nội dung và cảm xúc.</a:t>
            </a:r>
            <a:endParaRPr lang="en-US" sz="1200" dirty="0"/>
          </a:p>
        </p:txBody>
      </p:sp>
      <p:sp>
        <p:nvSpPr>
          <p:cNvPr id="22" name="Text 19"/>
          <p:cNvSpPr/>
          <p:nvPr/>
        </p:nvSpPr>
        <p:spPr>
          <a:xfrm>
            <a:off x="960120" y="4078224"/>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Tạo hành trình 3 bước: tương tác - nhận nội dung - mở lựa chọn tư vấn.</a:t>
            </a:r>
            <a:endParaRPr lang="en-US" sz="1200" dirty="0"/>
          </a:p>
        </p:txBody>
      </p:sp>
      <p:sp>
        <p:nvSpPr>
          <p:cNvPr id="23" name="Text 20"/>
          <p:cNvSpPr/>
          <p:nvPr/>
        </p:nvSpPr>
        <p:spPr>
          <a:xfrm>
            <a:off x="960120" y="4297680"/>
            <a:ext cx="8229600" cy="164592"/>
          </a:xfrm>
          <a:prstGeom prst="rect">
            <a:avLst/>
          </a:prstGeom>
          <a:noFill/>
          <a:ln/>
        </p:spPr>
        <p:txBody>
          <a:bodyPr wrap="square" lIns="0" tIns="0" rIns="0" bIns="0" rtlCol="0" anchor="ctr"/>
          <a:lstStyle/>
          <a:p>
            <a:pPr marL="152400" indent="-152400">
              <a:buSzPct val="100000"/>
              <a:buChar char="•"/>
            </a:pPr>
            <a:r>
              <a:rPr lang="en-US" sz="1200" dirty="0">
                <a:solidFill>
                  <a:srgbClr val="203040"/>
                </a:solidFill>
                <a:latin typeface="Barlow" pitchFamily="34" charset="0"/>
                <a:ea typeface="Barlow" pitchFamily="34" charset="-122"/>
                <a:cs typeface="Barlow" pitchFamily="34" charset="-120"/>
              </a:rPr>
              <a:t>Đo hiệu quả không chỉ bằng số lead thô, mà bằng chất lượng tương tác và conversion downstream.</a:t>
            </a:r>
            <a:endParaRPr lang="en-US" sz="12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IMPACT</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Giá trị kỳ vọng cho Bảo Việt Nhân Thọ</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1100" dirty="0"/>
          </a:p>
        </p:txBody>
      </p:sp>
      <p:sp>
        <p:nvSpPr>
          <p:cNvPr id="6" name="Shape 3"/>
          <p:cNvSpPr/>
          <p:nvPr/>
        </p:nvSpPr>
        <p:spPr>
          <a:xfrm>
            <a:off x="822960" y="2029968"/>
            <a:ext cx="2468880" cy="1024128"/>
          </a:xfrm>
          <a:prstGeom prst="roundRect">
            <a:avLst>
              <a:gd name="adj" fmla="val 4464"/>
            </a:avLst>
          </a:prstGeom>
          <a:solidFill>
            <a:srgbClr val="FFFFFF"/>
          </a:solidFill>
          <a:ln w="12700">
            <a:solidFill>
              <a:srgbClr val="D8E0E8"/>
            </a:solidFill>
            <a:prstDash val="solid"/>
          </a:ln>
        </p:spPr>
      </p:sp>
      <p:sp>
        <p:nvSpPr>
          <p:cNvPr id="7" name="Shape 4"/>
          <p:cNvSpPr/>
          <p:nvPr/>
        </p:nvSpPr>
        <p:spPr>
          <a:xfrm>
            <a:off x="950976" y="2157984"/>
            <a:ext cx="45720" cy="768096"/>
          </a:xfrm>
          <a:prstGeom prst="rect">
            <a:avLst/>
          </a:prstGeom>
          <a:solidFill>
            <a:srgbClr val="0B6CB8"/>
          </a:solidFill>
          <a:ln w="12700">
            <a:solidFill>
              <a:srgbClr val="0B6CB8"/>
            </a:solidFill>
            <a:prstDash val="solid"/>
          </a:ln>
        </p:spPr>
      </p:sp>
      <p:sp>
        <p:nvSpPr>
          <p:cNvPr id="8" name="Text 5"/>
          <p:cNvSpPr/>
          <p:nvPr/>
        </p:nvSpPr>
        <p:spPr>
          <a:xfrm>
            <a:off x="1078992" y="2157984"/>
            <a:ext cx="213969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Brand impact</a:t>
            </a:r>
            <a:endParaRPr lang="en-US" sz="920" dirty="0"/>
          </a:p>
        </p:txBody>
      </p:sp>
      <p:sp>
        <p:nvSpPr>
          <p:cNvPr id="9" name="Text 6"/>
          <p:cNvSpPr/>
          <p:nvPr/>
        </p:nvSpPr>
        <p:spPr>
          <a:xfrm>
            <a:off x="1078992" y="2377440"/>
            <a:ext cx="213969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Awareness + trust</a:t>
            </a:r>
            <a:endParaRPr lang="en-US" sz="1800" dirty="0"/>
          </a:p>
        </p:txBody>
      </p:sp>
      <p:sp>
        <p:nvSpPr>
          <p:cNvPr id="10" name="Text 7"/>
          <p:cNvSpPr/>
          <p:nvPr/>
        </p:nvSpPr>
        <p:spPr>
          <a:xfrm>
            <a:off x="1078992" y="2706624"/>
            <a:ext cx="2139696" cy="25603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Độ phủ lớn đi cùng chiều sâu cảm nhận</a:t>
            </a:r>
            <a:endParaRPr lang="en-US" sz="880" dirty="0"/>
          </a:p>
        </p:txBody>
      </p:sp>
      <p:sp>
        <p:nvSpPr>
          <p:cNvPr id="11" name="Shape 8"/>
          <p:cNvSpPr/>
          <p:nvPr/>
        </p:nvSpPr>
        <p:spPr>
          <a:xfrm>
            <a:off x="3474720" y="2029968"/>
            <a:ext cx="2468880" cy="1024128"/>
          </a:xfrm>
          <a:prstGeom prst="roundRect">
            <a:avLst>
              <a:gd name="adj" fmla="val 4464"/>
            </a:avLst>
          </a:prstGeom>
          <a:solidFill>
            <a:srgbClr val="FFFFFF"/>
          </a:solidFill>
          <a:ln w="12700">
            <a:solidFill>
              <a:srgbClr val="D8E0E8"/>
            </a:solidFill>
            <a:prstDash val="solid"/>
          </a:ln>
        </p:spPr>
      </p:sp>
      <p:sp>
        <p:nvSpPr>
          <p:cNvPr id="12" name="Shape 9"/>
          <p:cNvSpPr/>
          <p:nvPr/>
        </p:nvSpPr>
        <p:spPr>
          <a:xfrm>
            <a:off x="3602736" y="2157984"/>
            <a:ext cx="45720" cy="768096"/>
          </a:xfrm>
          <a:prstGeom prst="rect">
            <a:avLst/>
          </a:prstGeom>
          <a:solidFill>
            <a:srgbClr val="C99211"/>
          </a:solidFill>
          <a:ln w="12700">
            <a:solidFill>
              <a:srgbClr val="C99211"/>
            </a:solidFill>
            <a:prstDash val="solid"/>
          </a:ln>
        </p:spPr>
      </p:sp>
      <p:sp>
        <p:nvSpPr>
          <p:cNvPr id="13" name="Text 10"/>
          <p:cNvSpPr/>
          <p:nvPr/>
        </p:nvSpPr>
        <p:spPr>
          <a:xfrm>
            <a:off x="3730752" y="2157984"/>
            <a:ext cx="213969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Cultural impact</a:t>
            </a:r>
            <a:endParaRPr lang="en-US" sz="920" dirty="0"/>
          </a:p>
        </p:txBody>
      </p:sp>
      <p:sp>
        <p:nvSpPr>
          <p:cNvPr id="14" name="Text 11"/>
          <p:cNvSpPr/>
          <p:nvPr/>
        </p:nvSpPr>
        <p:spPr>
          <a:xfrm>
            <a:off x="3730752" y="2377440"/>
            <a:ext cx="213969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Relevance + pride</a:t>
            </a:r>
            <a:endParaRPr lang="en-US" sz="1800" dirty="0"/>
          </a:p>
        </p:txBody>
      </p:sp>
      <p:sp>
        <p:nvSpPr>
          <p:cNvPr id="15" name="Text 12"/>
          <p:cNvSpPr/>
          <p:nvPr/>
        </p:nvSpPr>
        <p:spPr>
          <a:xfrm>
            <a:off x="3730752" y="2706624"/>
            <a:ext cx="2139696" cy="25603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Thương hiệu hiện diện như người gìn giữ</a:t>
            </a:r>
            <a:endParaRPr lang="en-US" sz="880" dirty="0"/>
          </a:p>
        </p:txBody>
      </p:sp>
      <p:sp>
        <p:nvSpPr>
          <p:cNvPr id="16" name="Shape 13"/>
          <p:cNvSpPr/>
          <p:nvPr/>
        </p:nvSpPr>
        <p:spPr>
          <a:xfrm>
            <a:off x="6126480" y="2029968"/>
            <a:ext cx="2468880" cy="1024128"/>
          </a:xfrm>
          <a:prstGeom prst="roundRect">
            <a:avLst>
              <a:gd name="adj" fmla="val 4464"/>
            </a:avLst>
          </a:prstGeom>
          <a:solidFill>
            <a:srgbClr val="FFFFFF"/>
          </a:solidFill>
          <a:ln w="12700">
            <a:solidFill>
              <a:srgbClr val="D8E0E8"/>
            </a:solidFill>
            <a:prstDash val="solid"/>
          </a:ln>
        </p:spPr>
      </p:sp>
      <p:sp>
        <p:nvSpPr>
          <p:cNvPr id="17" name="Shape 14"/>
          <p:cNvSpPr/>
          <p:nvPr/>
        </p:nvSpPr>
        <p:spPr>
          <a:xfrm>
            <a:off x="6254496" y="2157984"/>
            <a:ext cx="45720" cy="768096"/>
          </a:xfrm>
          <a:prstGeom prst="rect">
            <a:avLst/>
          </a:prstGeom>
          <a:solidFill>
            <a:srgbClr val="0B6CB8"/>
          </a:solidFill>
          <a:ln w="12700">
            <a:solidFill>
              <a:srgbClr val="0B6CB8"/>
            </a:solidFill>
            <a:prstDash val="solid"/>
          </a:ln>
        </p:spPr>
      </p:sp>
      <p:sp>
        <p:nvSpPr>
          <p:cNvPr id="18" name="Text 15"/>
          <p:cNvSpPr/>
          <p:nvPr/>
        </p:nvSpPr>
        <p:spPr>
          <a:xfrm>
            <a:off x="6382512" y="2157984"/>
            <a:ext cx="2139696" cy="146304"/>
          </a:xfrm>
          <a:prstGeom prst="rect">
            <a:avLst/>
          </a:prstGeom>
          <a:noFill/>
          <a:ln/>
        </p:spPr>
        <p:txBody>
          <a:bodyPr wrap="square" lIns="0" tIns="0" rIns="0" bIns="0" rtlCol="0" anchor="t"/>
          <a:lstStyle/>
          <a:p>
            <a:pPr algn="l" indent="0" marL="0">
              <a:buNone/>
            </a:pPr>
            <a:r>
              <a:rPr lang="en-US" sz="920" dirty="0">
                <a:solidFill>
                  <a:srgbClr val="5C6C7B"/>
                </a:solidFill>
                <a:latin typeface="Barlow" pitchFamily="34" charset="0"/>
                <a:ea typeface="Barlow" pitchFamily="34" charset="-122"/>
                <a:cs typeface="Barlow" pitchFamily="34" charset="-120"/>
              </a:rPr>
              <a:t>Business impact</a:t>
            </a:r>
            <a:endParaRPr lang="en-US" sz="920" dirty="0"/>
          </a:p>
        </p:txBody>
      </p:sp>
      <p:sp>
        <p:nvSpPr>
          <p:cNvPr id="19" name="Text 16"/>
          <p:cNvSpPr/>
          <p:nvPr/>
        </p:nvSpPr>
        <p:spPr>
          <a:xfrm>
            <a:off x="6382512" y="2377440"/>
            <a:ext cx="2139696" cy="256032"/>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Lead + momentum</a:t>
            </a:r>
            <a:endParaRPr lang="en-US" sz="1800" dirty="0"/>
          </a:p>
        </p:txBody>
      </p:sp>
      <p:sp>
        <p:nvSpPr>
          <p:cNvPr id="20" name="Text 17"/>
          <p:cNvSpPr/>
          <p:nvPr/>
        </p:nvSpPr>
        <p:spPr>
          <a:xfrm>
            <a:off x="6382512" y="2706624"/>
            <a:ext cx="2139696" cy="256032"/>
          </a:xfrm>
          <a:prstGeom prst="rect">
            <a:avLst/>
          </a:prstGeom>
          <a:noFill/>
          <a:ln/>
        </p:spPr>
        <p:txBody>
          <a:bodyPr wrap="square" lIns="0" tIns="0" rIns="0" bIns="0" rtlCol="0" anchor="t"/>
          <a:lstStyle/>
          <a:p>
            <a:pPr algn="l" indent="0" marL="0">
              <a:buNone/>
            </a:pPr>
            <a:r>
              <a:rPr lang="en-US" sz="880" dirty="0">
                <a:solidFill>
                  <a:srgbClr val="5C6C7B"/>
                </a:solidFill>
                <a:latin typeface="Barlow" pitchFamily="34" charset="0"/>
                <a:ea typeface="Barlow" pitchFamily="34" charset="-122"/>
                <a:cs typeface="Barlow" pitchFamily="34" charset="-120"/>
              </a:rPr>
              <a:t>Tạo quan tâm chất lượng thay vì lead thô</a:t>
            </a:r>
            <a:endParaRPr lang="en-US" sz="880" dirty="0"/>
          </a:p>
        </p:txBody>
      </p:sp>
      <p:graphicFrame>
        <p:nvGraphicFramePr>
          <p:cNvPr id="21" name="Chart 0" descr=""/>
          <p:cNvGraphicFramePr/>
          <p:nvPr/>
        </p:nvGraphicFramePr>
        <p:xfrm>
          <a:off x="868680" y="3337560"/>
          <a:ext cx="5349240" cy="205740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6446520" y="3337560"/>
            <a:ext cx="4937760" cy="2057400"/>
          </a:xfrm>
          <a:prstGeom prst="roundRect">
            <a:avLst>
              <a:gd name="adj" fmla="val 2222"/>
            </a:avLst>
          </a:prstGeom>
          <a:solidFill>
            <a:srgbClr val="FFFFFF"/>
          </a:solidFill>
          <a:ln w="12700">
            <a:solidFill>
              <a:srgbClr val="D8E0E8"/>
            </a:solidFill>
            <a:prstDash val="solid"/>
          </a:ln>
        </p:spPr>
      </p:sp>
      <p:sp>
        <p:nvSpPr>
          <p:cNvPr id="23" name="Text 19"/>
          <p:cNvSpPr/>
          <p:nvPr/>
        </p:nvSpPr>
        <p:spPr>
          <a:xfrm>
            <a:off x="6675120" y="3566160"/>
            <a:ext cx="173736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 kỳ vọng</a:t>
            </a:r>
            <a:endParaRPr lang="en-US" sz="950" dirty="0"/>
          </a:p>
        </p:txBody>
      </p:sp>
      <p:sp>
        <p:nvSpPr>
          <p:cNvPr id="24" name="Text 20"/>
          <p:cNvSpPr/>
          <p:nvPr/>
        </p:nvSpPr>
        <p:spPr>
          <a:xfrm>
            <a:off x="6675120" y="3913632"/>
            <a:ext cx="4114800" cy="457200"/>
          </a:xfrm>
          <a:prstGeom prst="rect">
            <a:avLst/>
          </a:prstGeom>
          <a:noFill/>
          <a:ln/>
        </p:spPr>
        <p:txBody>
          <a:bodyPr wrap="square" lIns="0" tIns="0" rIns="0" bIns="0" rtlCol="0" anchor="t"/>
          <a:lstStyle/>
          <a:p>
            <a:pPr algn="l" indent="0" marL="0">
              <a:buNone/>
            </a:pPr>
            <a:r>
              <a:rPr lang="en-US" sz="23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300" dirty="0"/>
          </a:p>
        </p:txBody>
      </p:sp>
      <p:sp>
        <p:nvSpPr>
          <p:cNvPr id="25" name="Text 21"/>
          <p:cNvSpPr/>
          <p:nvPr/>
        </p:nvSpPr>
        <p:spPr>
          <a:xfrm>
            <a:off x="6675120" y="4590288"/>
            <a:ext cx="3931920" cy="384048"/>
          </a:xfrm>
          <a:prstGeom prst="rect">
            <a:avLst/>
          </a:prstGeom>
          <a:noFill/>
          <a:ln/>
        </p:spPr>
        <p:txBody>
          <a:bodyPr wrap="square" lIns="0" tIns="0" rIns="0" bIns="0" rtlCol="0" anchor="t"/>
          <a:lstStyle/>
          <a:p>
            <a:pPr algn="l" indent="0" marL="0">
              <a:buNone/>
            </a:pPr>
            <a:r>
              <a:rPr lang="en-US" sz="112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20" dirty="0"/>
          </a:p>
        </p:txBody>
      </p:sp>
      <p:sp>
        <p:nvSpPr>
          <p:cNvPr id="26"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KPI FRAMEWORK</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Khung KPI đề xuất</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Đo theo ba lớp: sức lan tỏa, chất lượng cảm nhận và động lực kinh doanh.</a:t>
            </a:r>
            <a:endParaRPr lang="en-US" sz="1100" dirty="0"/>
          </a:p>
        </p:txBody>
      </p:sp>
      <p:sp>
        <p:nvSpPr>
          <p:cNvPr id="6" name="Text 3"/>
          <p:cNvSpPr/>
          <p:nvPr/>
        </p:nvSpPr>
        <p:spPr>
          <a:xfrm>
            <a:off x="822960" y="1993392"/>
            <a:ext cx="91440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BRAND</a:t>
            </a:r>
            <a:endParaRPr lang="en-US" sz="950" dirty="0"/>
          </a:p>
        </p:txBody>
      </p:sp>
      <p:sp>
        <p:nvSpPr>
          <p:cNvPr id="7" name="Shape 4"/>
          <p:cNvSpPr/>
          <p:nvPr/>
        </p:nvSpPr>
        <p:spPr>
          <a:xfrm>
            <a:off x="822960" y="2249424"/>
            <a:ext cx="5074920" cy="749808"/>
          </a:xfrm>
          <a:prstGeom prst="roundRect">
            <a:avLst>
              <a:gd name="adj" fmla="val 4878"/>
            </a:avLst>
          </a:prstGeom>
          <a:solidFill>
            <a:srgbClr val="FFFFFF"/>
          </a:solidFill>
          <a:ln w="12700">
            <a:solidFill>
              <a:srgbClr val="D8E0E8"/>
            </a:solidFill>
            <a:prstDash val="solid"/>
          </a:ln>
        </p:spPr>
      </p:sp>
      <p:sp>
        <p:nvSpPr>
          <p:cNvPr id="8" name="Text 5"/>
          <p:cNvSpPr/>
          <p:nvPr/>
        </p:nvSpPr>
        <p:spPr>
          <a:xfrm>
            <a:off x="1060704" y="2414016"/>
            <a:ext cx="1920240" cy="164592"/>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Brand visibility</a:t>
            </a:r>
            <a:endParaRPr lang="en-US" sz="1300" dirty="0"/>
          </a:p>
        </p:txBody>
      </p:sp>
      <p:sp>
        <p:nvSpPr>
          <p:cNvPr id="9" name="Text 6"/>
          <p:cNvSpPr/>
          <p:nvPr/>
        </p:nvSpPr>
        <p:spPr>
          <a:xfrm>
            <a:off x="1060704" y="2633472"/>
            <a:ext cx="4206240" cy="18288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Reach, impressions, PR mentions, livestream views</a:t>
            </a:r>
            <a:endParaRPr lang="en-US" sz="1080" dirty="0"/>
          </a:p>
        </p:txBody>
      </p:sp>
      <p:sp>
        <p:nvSpPr>
          <p:cNvPr id="10" name="Shape 7"/>
          <p:cNvSpPr/>
          <p:nvPr/>
        </p:nvSpPr>
        <p:spPr>
          <a:xfrm>
            <a:off x="822960" y="3182112"/>
            <a:ext cx="5074920" cy="749808"/>
          </a:xfrm>
          <a:prstGeom prst="roundRect">
            <a:avLst>
              <a:gd name="adj" fmla="val 4878"/>
            </a:avLst>
          </a:prstGeom>
          <a:solidFill>
            <a:srgbClr val="F6F8FB"/>
          </a:solidFill>
          <a:ln w="12700">
            <a:solidFill>
              <a:srgbClr val="D8E0E8"/>
            </a:solidFill>
            <a:prstDash val="solid"/>
          </a:ln>
        </p:spPr>
      </p:sp>
      <p:sp>
        <p:nvSpPr>
          <p:cNvPr id="11" name="Text 8"/>
          <p:cNvSpPr/>
          <p:nvPr/>
        </p:nvSpPr>
        <p:spPr>
          <a:xfrm>
            <a:off x="1060704" y="3346704"/>
            <a:ext cx="1920240" cy="164592"/>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Brand love &amp; trust</a:t>
            </a:r>
            <a:endParaRPr lang="en-US" sz="1300" dirty="0"/>
          </a:p>
        </p:txBody>
      </p:sp>
      <p:sp>
        <p:nvSpPr>
          <p:cNvPr id="12" name="Text 9"/>
          <p:cNvSpPr/>
          <p:nvPr/>
        </p:nvSpPr>
        <p:spPr>
          <a:xfrm>
            <a:off x="1060704" y="3566160"/>
            <a:ext cx="4206240" cy="18288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Sentiment, share of positive voice, message association</a:t>
            </a:r>
            <a:endParaRPr lang="en-US" sz="1080" dirty="0"/>
          </a:p>
        </p:txBody>
      </p:sp>
      <p:sp>
        <p:nvSpPr>
          <p:cNvPr id="13" name="Shape 10"/>
          <p:cNvSpPr/>
          <p:nvPr/>
        </p:nvSpPr>
        <p:spPr>
          <a:xfrm>
            <a:off x="822960" y="4114800"/>
            <a:ext cx="5074920" cy="749808"/>
          </a:xfrm>
          <a:prstGeom prst="roundRect">
            <a:avLst>
              <a:gd name="adj" fmla="val 4878"/>
            </a:avLst>
          </a:prstGeom>
          <a:solidFill>
            <a:srgbClr val="FFFFFF"/>
          </a:solidFill>
          <a:ln w="12700">
            <a:solidFill>
              <a:srgbClr val="D8E0E8"/>
            </a:solidFill>
            <a:prstDash val="solid"/>
          </a:ln>
        </p:spPr>
      </p:sp>
      <p:sp>
        <p:nvSpPr>
          <p:cNvPr id="14" name="Text 11"/>
          <p:cNvSpPr/>
          <p:nvPr/>
        </p:nvSpPr>
        <p:spPr>
          <a:xfrm>
            <a:off x="1060704" y="4279392"/>
            <a:ext cx="1920240" cy="164592"/>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Engagement quality</a:t>
            </a:r>
            <a:endParaRPr lang="en-US" sz="1300" dirty="0"/>
          </a:p>
        </p:txBody>
      </p:sp>
      <p:sp>
        <p:nvSpPr>
          <p:cNvPr id="15" name="Text 12"/>
          <p:cNvSpPr/>
          <p:nvPr/>
        </p:nvSpPr>
        <p:spPr>
          <a:xfrm>
            <a:off x="1060704" y="4498848"/>
            <a:ext cx="4206240" cy="18288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UGC volume, completion rate, dwell time, participation</a:t>
            </a:r>
            <a:endParaRPr lang="en-US" sz="1080" dirty="0"/>
          </a:p>
        </p:txBody>
      </p:sp>
      <p:sp>
        <p:nvSpPr>
          <p:cNvPr id="16" name="Text 13"/>
          <p:cNvSpPr/>
          <p:nvPr/>
        </p:nvSpPr>
        <p:spPr>
          <a:xfrm>
            <a:off x="6236208" y="1993392"/>
            <a:ext cx="1828800" cy="128016"/>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BUSINESS &amp; PROPERTY</a:t>
            </a:r>
            <a:endParaRPr lang="en-US" sz="950" dirty="0"/>
          </a:p>
        </p:txBody>
      </p:sp>
      <p:sp>
        <p:nvSpPr>
          <p:cNvPr id="17" name="Shape 14"/>
          <p:cNvSpPr/>
          <p:nvPr/>
        </p:nvSpPr>
        <p:spPr>
          <a:xfrm>
            <a:off x="6236208" y="2249424"/>
            <a:ext cx="5148072" cy="749808"/>
          </a:xfrm>
          <a:prstGeom prst="roundRect">
            <a:avLst>
              <a:gd name="adj" fmla="val 4878"/>
            </a:avLst>
          </a:prstGeom>
          <a:solidFill>
            <a:srgbClr val="F6F8FB"/>
          </a:solidFill>
          <a:ln w="12700">
            <a:solidFill>
              <a:srgbClr val="D8E0E8"/>
            </a:solidFill>
            <a:prstDash val="solid"/>
          </a:ln>
        </p:spPr>
      </p:sp>
      <p:sp>
        <p:nvSpPr>
          <p:cNvPr id="18" name="Text 15"/>
          <p:cNvSpPr/>
          <p:nvPr/>
        </p:nvSpPr>
        <p:spPr>
          <a:xfrm>
            <a:off x="6473952" y="2414016"/>
            <a:ext cx="2194560" cy="164592"/>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Commercial momentum</a:t>
            </a:r>
            <a:endParaRPr lang="en-US" sz="1300" dirty="0"/>
          </a:p>
        </p:txBody>
      </p:sp>
      <p:sp>
        <p:nvSpPr>
          <p:cNvPr id="19" name="Text 16"/>
          <p:cNvSpPr/>
          <p:nvPr/>
        </p:nvSpPr>
        <p:spPr>
          <a:xfrm>
            <a:off x="6473952" y="2633472"/>
            <a:ext cx="4297680" cy="18288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Lead capture, qualified lead, consultation request</a:t>
            </a:r>
            <a:endParaRPr lang="en-US" sz="1080" dirty="0"/>
          </a:p>
        </p:txBody>
      </p:sp>
      <p:sp>
        <p:nvSpPr>
          <p:cNvPr id="20" name="Shape 17"/>
          <p:cNvSpPr/>
          <p:nvPr/>
        </p:nvSpPr>
        <p:spPr>
          <a:xfrm>
            <a:off x="6236208" y="3182112"/>
            <a:ext cx="5148072" cy="749808"/>
          </a:xfrm>
          <a:prstGeom prst="roundRect">
            <a:avLst>
              <a:gd name="adj" fmla="val 4878"/>
            </a:avLst>
          </a:prstGeom>
          <a:solidFill>
            <a:srgbClr val="FFFFFF"/>
          </a:solidFill>
          <a:ln w="12700">
            <a:solidFill>
              <a:srgbClr val="D8E0E8"/>
            </a:solidFill>
            <a:prstDash val="solid"/>
          </a:ln>
        </p:spPr>
      </p:sp>
      <p:sp>
        <p:nvSpPr>
          <p:cNvPr id="21" name="Text 18"/>
          <p:cNvSpPr/>
          <p:nvPr/>
        </p:nvSpPr>
        <p:spPr>
          <a:xfrm>
            <a:off x="6473952" y="3346704"/>
            <a:ext cx="2194560" cy="164592"/>
          </a:xfrm>
          <a:prstGeom prst="rect">
            <a:avLst/>
          </a:prstGeom>
          <a:noFill/>
          <a:ln/>
        </p:spPr>
        <p:txBody>
          <a:bodyPr wrap="square" lIns="0" tIns="0" rIns="0" bIns="0" rtlCol="0" anchor="t"/>
          <a:lstStyle/>
          <a:p>
            <a:pPr algn="l" indent="0" marL="0">
              <a:buNone/>
            </a:pPr>
            <a:r>
              <a:rPr lang="en-US" sz="1300" b="1" dirty="0">
                <a:solidFill>
                  <a:srgbClr val="114A7A"/>
                </a:solidFill>
                <a:latin typeface="Barlow" pitchFamily="34" charset="0"/>
                <a:ea typeface="Barlow" pitchFamily="34" charset="-122"/>
                <a:cs typeface="Barlow" pitchFamily="34" charset="-120"/>
              </a:rPr>
              <a:t>Property strength</a:t>
            </a:r>
            <a:endParaRPr lang="en-US" sz="1300" dirty="0"/>
          </a:p>
        </p:txBody>
      </p:sp>
      <p:sp>
        <p:nvSpPr>
          <p:cNvPr id="22" name="Text 19"/>
          <p:cNvSpPr/>
          <p:nvPr/>
        </p:nvSpPr>
        <p:spPr>
          <a:xfrm>
            <a:off x="6473952" y="3566160"/>
            <a:ext cx="4297680" cy="182880"/>
          </a:xfrm>
          <a:prstGeom prst="rect">
            <a:avLst/>
          </a:prstGeom>
          <a:noFill/>
          <a:ln/>
        </p:spPr>
        <p:txBody>
          <a:bodyPr wrap="square" lIns="0" tIns="0" rIns="0" bIns="0" rtlCol="0" anchor="t"/>
          <a:lstStyle/>
          <a:p>
            <a:pPr algn="l" indent="0" marL="0">
              <a:buNone/>
            </a:pPr>
            <a:r>
              <a:rPr lang="en-US" sz="1080" dirty="0">
                <a:solidFill>
                  <a:srgbClr val="5C6C7B"/>
                </a:solidFill>
                <a:latin typeface="Barlow" pitchFamily="34" charset="0"/>
                <a:ea typeface="Barlow" pitchFamily="34" charset="-122"/>
                <a:cs typeface="Barlow" pitchFamily="34" charset="-120"/>
              </a:rPr>
              <a:t>Partner interest, return intent, year-2 sponsorship premium</a:t>
            </a:r>
            <a:endParaRPr lang="en-US" sz="1080" dirty="0"/>
          </a:p>
        </p:txBody>
      </p:sp>
      <p:sp>
        <p:nvSpPr>
          <p:cNvPr id="23" name="Shape 20"/>
          <p:cNvSpPr/>
          <p:nvPr/>
        </p:nvSpPr>
        <p:spPr>
          <a:xfrm>
            <a:off x="6236208" y="4297680"/>
            <a:ext cx="5148072" cy="987552"/>
          </a:xfrm>
          <a:prstGeom prst="roundRect">
            <a:avLst>
              <a:gd name="adj" fmla="val 3704"/>
            </a:avLst>
          </a:prstGeom>
          <a:solidFill>
            <a:srgbClr val="114A7A"/>
          </a:solidFill>
          <a:ln w="12700">
            <a:solidFill>
              <a:srgbClr val="114A7A"/>
            </a:solidFill>
            <a:prstDash val="solid"/>
          </a:ln>
        </p:spPr>
      </p:sp>
      <p:sp>
        <p:nvSpPr>
          <p:cNvPr id="24" name="Text 21"/>
          <p:cNvSpPr/>
          <p:nvPr/>
        </p:nvSpPr>
        <p:spPr>
          <a:xfrm>
            <a:off x="6473952" y="4590288"/>
            <a:ext cx="4526280" cy="402336"/>
          </a:xfrm>
          <a:prstGeom prst="rect">
            <a:avLst/>
          </a:prstGeom>
          <a:noFill/>
          <a:ln/>
        </p:spPr>
        <p:txBody>
          <a:bodyPr wrap="square" lIns="0" tIns="0" rIns="0" bIns="0" rtlCol="0" anchor="t"/>
          <a:lstStyle/>
          <a:p>
            <a:pPr algn="l" indent="0" marL="0">
              <a:buNone/>
            </a:pPr>
            <a:r>
              <a:rPr lang="en-US" sz="1340" b="1" dirty="0">
                <a:solidFill>
                  <a:srgbClr val="FFFFFF"/>
                </a:solidFill>
                <a:latin typeface="Barlow" pitchFamily="34" charset="0"/>
                <a:ea typeface="Barlow" pitchFamily="34" charset="-122"/>
                <a:cs typeface="Barlow" pitchFamily="34" charset="-120"/>
              </a:rPr>
              <a:t>Success = không chỉ reach lớn, mà là mức độ thương hiệu được gắn với vai trò giữ nhịp gia đình và khả năng chuyển hóa thành quan tâm thực sự.</a:t>
            </a:r>
            <a:endParaRPr lang="en-US" sz="134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47472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LONG-TERM PROPERTY</a:t>
            </a:r>
            <a:endParaRPr lang="en-US" sz="1000" dirty="0"/>
          </a:p>
        </p:txBody>
      </p:sp>
      <p:sp>
        <p:nvSpPr>
          <p:cNvPr id="4" name="Text 1"/>
          <p:cNvSpPr/>
          <p:nvPr/>
        </p:nvSpPr>
        <p:spPr>
          <a:xfrm>
            <a:off x="822960" y="896112"/>
            <a:ext cx="8092440" cy="566928"/>
          </a:xfrm>
          <a:prstGeom prst="rect">
            <a:avLst/>
          </a:prstGeom>
          <a:noFill/>
          <a:ln/>
        </p:spPr>
        <p:txBody>
          <a:bodyPr wrap="square" lIns="0" tIns="0" rIns="0" bIns="0" rtlCol="0" anchor="ctr"/>
          <a:lstStyle/>
          <a:p>
            <a:pPr indent="0" marL="0">
              <a:buNone/>
            </a:pPr>
            <a:r>
              <a:rPr lang="en-US" sz="2200" b="1" dirty="0">
                <a:solidFill>
                  <a:srgbClr val="114A7A"/>
                </a:solidFill>
                <a:latin typeface="Barlow" pitchFamily="34" charset="0"/>
                <a:ea typeface="Barlow" pitchFamily="34" charset="-122"/>
                <a:cs typeface="Barlow" pitchFamily="34" charset="-120"/>
              </a:rPr>
              <a:t>Vì sao đây nên trở thành signature property thường niên của Bảo Việt Nhân Thọ</a:t>
            </a:r>
            <a:endParaRPr lang="en-US" sz="2200" dirty="0"/>
          </a:p>
        </p:txBody>
      </p:sp>
      <p:sp>
        <p:nvSpPr>
          <p:cNvPr id="5" name="Text 2"/>
          <p:cNvSpPr/>
          <p:nvPr/>
        </p:nvSpPr>
        <p:spPr>
          <a:xfrm>
            <a:off x="822960" y="1527048"/>
            <a:ext cx="813816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signature property mạnh sẽ làm điều mà media buy không làm được: càng lặp lại càng có giá trị.</a:t>
            </a:r>
            <a:endParaRPr lang="en-US" sz="1100" dirty="0"/>
          </a:p>
        </p:txBody>
      </p:sp>
      <p:sp>
        <p:nvSpPr>
          <p:cNvPr id="6" name="Shape 3"/>
          <p:cNvSpPr/>
          <p:nvPr/>
        </p:nvSpPr>
        <p:spPr>
          <a:xfrm>
            <a:off x="822960" y="1993392"/>
            <a:ext cx="5148072" cy="3383280"/>
          </a:xfrm>
          <a:prstGeom prst="roundRect">
            <a:avLst>
              <a:gd name="adj" fmla="val 1351"/>
            </a:avLst>
          </a:prstGeom>
          <a:solidFill>
            <a:srgbClr val="FFFFFF"/>
          </a:solidFill>
          <a:ln w="12700">
            <a:solidFill>
              <a:srgbClr val="D8E0E8"/>
            </a:solidFill>
            <a:prstDash val="solid"/>
          </a:ln>
        </p:spPr>
      </p:sp>
      <p:sp>
        <p:nvSpPr>
          <p:cNvPr id="7" name="Shape 4"/>
          <p:cNvSpPr/>
          <p:nvPr/>
        </p:nvSpPr>
        <p:spPr>
          <a:xfrm>
            <a:off x="1042416" y="2157984"/>
            <a:ext cx="1005840" cy="45720"/>
          </a:xfrm>
          <a:prstGeom prst="rect">
            <a:avLst/>
          </a:prstGeom>
          <a:solidFill>
            <a:srgbClr val="C99211"/>
          </a:solidFill>
          <a:ln w="12700">
            <a:solidFill>
              <a:srgbClr val="C99211"/>
            </a:solidFill>
            <a:prstDash val="solid"/>
          </a:ln>
        </p:spPr>
      </p:sp>
      <p:sp>
        <p:nvSpPr>
          <p:cNvPr id="8" name="Text 5"/>
          <p:cNvSpPr/>
          <p:nvPr/>
        </p:nvSpPr>
        <p:spPr>
          <a:xfrm>
            <a:off x="1042416"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Năm 1: Birth</a:t>
            </a:r>
            <a:endParaRPr lang="en-US" sz="1750" dirty="0"/>
          </a:p>
        </p:txBody>
      </p:sp>
      <p:sp>
        <p:nvSpPr>
          <p:cNvPr id="9" name="Text 6"/>
          <p:cNvSpPr/>
          <p:nvPr/>
        </p:nvSpPr>
        <p:spPr>
          <a:xfrm>
            <a:off x="1042416"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Khóa naming rights và Big Idea.</a:t>
            </a:r>
            <a:endParaRPr lang="en-US" sz="1140" dirty="0"/>
          </a:p>
        </p:txBody>
      </p:sp>
      <p:sp>
        <p:nvSpPr>
          <p:cNvPr id="10" name="Text 7"/>
          <p:cNvSpPr/>
          <p:nvPr/>
        </p:nvSpPr>
        <p:spPr>
          <a:xfrm>
            <a:off x="1042416"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Sinh ra 3 WOW moments.</a:t>
            </a:r>
            <a:endParaRPr lang="en-US" sz="1140" dirty="0"/>
          </a:p>
        </p:txBody>
      </p:sp>
      <p:sp>
        <p:nvSpPr>
          <p:cNvPr id="11" name="Text 8"/>
          <p:cNvSpPr/>
          <p:nvPr/>
        </p:nvSpPr>
        <p:spPr>
          <a:xfrm>
            <a:off x="1042416"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Tạo niềm tin rằng đây là cuộc chơi nghiêm túc.</a:t>
            </a:r>
            <a:endParaRPr lang="en-US" sz="1140" dirty="0"/>
          </a:p>
        </p:txBody>
      </p:sp>
      <p:sp>
        <p:nvSpPr>
          <p:cNvPr id="12" name="Shape 9"/>
          <p:cNvSpPr/>
          <p:nvPr/>
        </p:nvSpPr>
        <p:spPr>
          <a:xfrm>
            <a:off x="1005840" y="4901184"/>
            <a:ext cx="4782312" cy="256032"/>
          </a:xfrm>
          <a:prstGeom prst="roundRect">
            <a:avLst>
              <a:gd name="adj" fmla="val 10714"/>
            </a:avLst>
          </a:prstGeom>
          <a:solidFill>
            <a:srgbClr val="F7F3E8"/>
          </a:solidFill>
          <a:ln w="12700">
            <a:solidFill>
              <a:srgbClr val="F7F3E8"/>
            </a:solidFill>
            <a:prstDash val="solid"/>
          </a:ln>
        </p:spPr>
      </p:sp>
      <p:sp>
        <p:nvSpPr>
          <p:cNvPr id="13" name="Text 10"/>
          <p:cNvSpPr/>
          <p:nvPr/>
        </p:nvSpPr>
        <p:spPr>
          <a:xfrm>
            <a:off x="1078992" y="4965192"/>
            <a:ext cx="4636008" cy="109728"/>
          </a:xfrm>
          <a:prstGeom prst="rect">
            <a:avLst/>
          </a:prstGeom>
          <a:noFill/>
          <a:ln/>
        </p:spPr>
        <p:txBody>
          <a:bodyPr wrap="square" lIns="0" tIns="0" rIns="0" bIns="0" rtlCol="0" anchor="t"/>
          <a:lstStyle/>
          <a:p>
            <a:pPr algn="l" indent="0" marL="0">
              <a:buNone/>
            </a:pPr>
            <a:r>
              <a:rPr lang="en-US" sz="880" b="1" dirty="0">
                <a:solidFill>
                  <a:srgbClr val="9F720C"/>
                </a:solidFill>
                <a:latin typeface="Barlow" pitchFamily="34" charset="0"/>
                <a:ea typeface="Barlow" pitchFamily="34" charset="-122"/>
                <a:cs typeface="Barlow" pitchFamily="34" charset="-120"/>
              </a:rPr>
              <a:t>Objective: ra đời đẹp và đúng.</a:t>
            </a:r>
            <a:endParaRPr lang="en-US" sz="880" dirty="0"/>
          </a:p>
        </p:txBody>
      </p:sp>
      <p:sp>
        <p:nvSpPr>
          <p:cNvPr id="14" name="Shape 11"/>
          <p:cNvSpPr/>
          <p:nvPr/>
        </p:nvSpPr>
        <p:spPr>
          <a:xfrm>
            <a:off x="6236208" y="1993392"/>
            <a:ext cx="5148072" cy="3383280"/>
          </a:xfrm>
          <a:prstGeom prst="roundRect">
            <a:avLst>
              <a:gd name="adj" fmla="val 1351"/>
            </a:avLst>
          </a:prstGeom>
          <a:solidFill>
            <a:srgbClr val="FFFFFF"/>
          </a:solidFill>
          <a:ln w="12700">
            <a:solidFill>
              <a:srgbClr val="D8E0E8"/>
            </a:solidFill>
            <a:prstDash val="solid"/>
          </a:ln>
        </p:spPr>
      </p:sp>
      <p:sp>
        <p:nvSpPr>
          <p:cNvPr id="15" name="Shape 12"/>
          <p:cNvSpPr/>
          <p:nvPr/>
        </p:nvSpPr>
        <p:spPr>
          <a:xfrm>
            <a:off x="6455664" y="2157984"/>
            <a:ext cx="1005840" cy="45720"/>
          </a:xfrm>
          <a:prstGeom prst="rect">
            <a:avLst/>
          </a:prstGeom>
          <a:solidFill>
            <a:srgbClr val="C99211"/>
          </a:solidFill>
          <a:ln w="12700">
            <a:solidFill>
              <a:srgbClr val="C99211"/>
            </a:solidFill>
            <a:prstDash val="solid"/>
          </a:ln>
        </p:spPr>
      </p:sp>
      <p:sp>
        <p:nvSpPr>
          <p:cNvPr id="16" name="Text 13"/>
          <p:cNvSpPr/>
          <p:nvPr/>
        </p:nvSpPr>
        <p:spPr>
          <a:xfrm>
            <a:off x="6455664" y="2267712"/>
            <a:ext cx="4709160" cy="237744"/>
          </a:xfrm>
          <a:prstGeom prst="rect">
            <a:avLst/>
          </a:prstGeom>
          <a:noFill/>
          <a:ln/>
        </p:spPr>
        <p:txBody>
          <a:bodyPr wrap="square" lIns="0" tIns="0" rIns="0" bIns="0" rtlCol="0" anchor="t"/>
          <a:lstStyle/>
          <a:p>
            <a:pPr algn="l" indent="0" marL="0">
              <a:buNone/>
            </a:pPr>
            <a:r>
              <a:rPr lang="en-US" sz="1750" b="1" dirty="0">
                <a:solidFill>
                  <a:srgbClr val="114A7A"/>
                </a:solidFill>
                <a:latin typeface="Barlow" pitchFamily="34" charset="0"/>
                <a:ea typeface="Barlow" pitchFamily="34" charset="-122"/>
                <a:cs typeface="Barlow" pitchFamily="34" charset="-120"/>
              </a:rPr>
              <a:t>Năm 2-3: Scale</a:t>
            </a:r>
            <a:endParaRPr lang="en-US" sz="1750" dirty="0"/>
          </a:p>
        </p:txBody>
      </p:sp>
      <p:sp>
        <p:nvSpPr>
          <p:cNvPr id="17" name="Text 14"/>
          <p:cNvSpPr/>
          <p:nvPr/>
        </p:nvSpPr>
        <p:spPr>
          <a:xfrm>
            <a:off x="6455664" y="272491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Mở rộng thành cultural week / tourism tie-in / family platform.</a:t>
            </a:r>
            <a:endParaRPr lang="en-US" sz="1140" dirty="0"/>
          </a:p>
        </p:txBody>
      </p:sp>
      <p:sp>
        <p:nvSpPr>
          <p:cNvPr id="18" name="Text 15"/>
          <p:cNvSpPr/>
          <p:nvPr/>
        </p:nvSpPr>
        <p:spPr>
          <a:xfrm>
            <a:off x="6455664" y="309067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Tăng lớp du lịch, giáo dục và di sản.</a:t>
            </a:r>
            <a:endParaRPr lang="en-US" sz="1140" dirty="0"/>
          </a:p>
        </p:txBody>
      </p:sp>
      <p:sp>
        <p:nvSpPr>
          <p:cNvPr id="19" name="Text 16"/>
          <p:cNvSpPr/>
          <p:nvPr/>
        </p:nvSpPr>
        <p:spPr>
          <a:xfrm>
            <a:off x="6455664" y="3456432"/>
            <a:ext cx="4617720" cy="201168"/>
          </a:xfrm>
          <a:prstGeom prst="rect">
            <a:avLst/>
          </a:prstGeom>
          <a:noFill/>
          <a:ln/>
        </p:spPr>
        <p:txBody>
          <a:bodyPr wrap="square" lIns="0" tIns="0" rIns="0" bIns="0" rtlCol="0" anchor="ctr"/>
          <a:lstStyle/>
          <a:p>
            <a:pPr marL="152400" indent="-152400">
              <a:buSzPct val="100000"/>
              <a:buChar char="•"/>
            </a:pPr>
            <a:r>
              <a:rPr lang="en-US" sz="1140" dirty="0">
                <a:solidFill>
                  <a:srgbClr val="203040"/>
                </a:solidFill>
                <a:latin typeface="Barlow" pitchFamily="34" charset="0"/>
                <a:ea typeface="Barlow" pitchFamily="34" charset="-122"/>
                <a:cs typeface="Barlow" pitchFamily="34" charset="-120"/>
              </a:rPr>
              <a:t>Định giá lại giá trị tài trợ ở mặt bằng cao hơn.</a:t>
            </a:r>
            <a:endParaRPr lang="en-US" sz="1140" dirty="0"/>
          </a:p>
        </p:txBody>
      </p:sp>
      <p:sp>
        <p:nvSpPr>
          <p:cNvPr id="20" name="Shape 17"/>
          <p:cNvSpPr/>
          <p:nvPr/>
        </p:nvSpPr>
        <p:spPr>
          <a:xfrm>
            <a:off x="6419088" y="4901184"/>
            <a:ext cx="4782312" cy="256032"/>
          </a:xfrm>
          <a:prstGeom prst="roundRect">
            <a:avLst>
              <a:gd name="adj" fmla="val 10714"/>
            </a:avLst>
          </a:prstGeom>
          <a:solidFill>
            <a:srgbClr val="F7F3E8"/>
          </a:solidFill>
          <a:ln w="12700">
            <a:solidFill>
              <a:srgbClr val="F7F3E8"/>
            </a:solidFill>
            <a:prstDash val="solid"/>
          </a:ln>
        </p:spPr>
      </p:sp>
      <p:sp>
        <p:nvSpPr>
          <p:cNvPr id="21" name="Text 18"/>
          <p:cNvSpPr/>
          <p:nvPr/>
        </p:nvSpPr>
        <p:spPr>
          <a:xfrm>
            <a:off x="6492240" y="4965192"/>
            <a:ext cx="4636008" cy="109728"/>
          </a:xfrm>
          <a:prstGeom prst="rect">
            <a:avLst/>
          </a:prstGeom>
          <a:noFill/>
          <a:ln/>
        </p:spPr>
        <p:txBody>
          <a:bodyPr wrap="square" lIns="0" tIns="0" rIns="0" bIns="0" rtlCol="0" anchor="t"/>
          <a:lstStyle/>
          <a:p>
            <a:pPr algn="l" indent="0" marL="0">
              <a:buNone/>
            </a:pPr>
            <a:r>
              <a:rPr lang="en-US" sz="880" b="1" dirty="0">
                <a:solidFill>
                  <a:srgbClr val="9F720C"/>
                </a:solidFill>
                <a:latin typeface="Barlow" pitchFamily="34" charset="0"/>
                <a:ea typeface="Barlow" pitchFamily="34" charset="-122"/>
                <a:cs typeface="Barlow" pitchFamily="34" charset="-120"/>
              </a:rPr>
              <a:t>Objective: tích lũy tài sản và premium thương hiệu.</a:t>
            </a:r>
            <a:endParaRPr lang="en-US" sz="8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1078992"/>
            <a:ext cx="2194560" cy="164592"/>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KẾT LUẬN</a:t>
            </a:r>
            <a:endParaRPr lang="en-US" sz="1000" dirty="0"/>
          </a:p>
        </p:txBody>
      </p:sp>
      <p:sp>
        <p:nvSpPr>
          <p:cNvPr id="4" name="Shape 1"/>
          <p:cNvSpPr/>
          <p:nvPr/>
        </p:nvSpPr>
        <p:spPr>
          <a:xfrm>
            <a:off x="822960" y="1572768"/>
            <a:ext cx="73152" cy="1965960"/>
          </a:xfrm>
          <a:prstGeom prst="rect">
            <a:avLst/>
          </a:prstGeom>
          <a:solidFill>
            <a:srgbClr val="0B6CB8"/>
          </a:solidFill>
          <a:ln w="12700">
            <a:solidFill>
              <a:srgbClr val="0B6CB8"/>
            </a:solidFill>
            <a:prstDash val="solid"/>
          </a:ln>
        </p:spPr>
      </p:sp>
      <p:sp>
        <p:nvSpPr>
          <p:cNvPr id="5" name="Text 2"/>
          <p:cNvSpPr/>
          <p:nvPr/>
        </p:nvSpPr>
        <p:spPr>
          <a:xfrm>
            <a:off x="1060704" y="1591056"/>
            <a:ext cx="5989320" cy="1481328"/>
          </a:xfrm>
          <a:prstGeom prst="rect">
            <a:avLst/>
          </a:prstGeom>
          <a:noFill/>
          <a:ln/>
        </p:spPr>
        <p:txBody>
          <a:bodyPr wrap="square" lIns="0" tIns="0" rIns="0" bIns="0" rtlCol="0" anchor="ctr"/>
          <a:lstStyle/>
          <a:p>
            <a:pPr indent="0" marL="0">
              <a:buNone/>
            </a:pPr>
            <a:r>
              <a:rPr lang="en-US" sz="2377" b="1" dirty="0">
                <a:solidFill>
                  <a:srgbClr val="114A7A"/>
                </a:solidFill>
                <a:latin typeface="Barlow" pitchFamily="34" charset="0"/>
                <a:ea typeface="Barlow" pitchFamily="34" charset="-122"/>
                <a:cs typeface="Barlow" pitchFamily="34" charset="-120"/>
              </a:rPr>
              <a:t>Chúng ta không chỉ tài trợ một cuộc đua.</a:t>
            </a:r>
            <a:endParaRPr lang="en-US" sz="2377" dirty="0"/>
          </a:p>
          <a:p>
            <a:pPr indent="0" marL="0">
              <a:buNone/>
            </a:pPr>
            <a:r>
              <a:rPr lang="en-US" sz="2377" b="1" dirty="0">
                <a:solidFill>
                  <a:srgbClr val="114A7A"/>
                </a:solidFill>
                <a:latin typeface="Barlow" pitchFamily="34" charset="0"/>
                <a:ea typeface="Barlow" pitchFamily="34" charset="-122"/>
                <a:cs typeface="Barlow" pitchFamily="34" charset="-120"/>
              </a:rPr>
              <a:t>Chúng ta đang giữ cho dòng chảy của hàng ngàn gia đình được tiếp tục.</a:t>
            </a:r>
            <a:endParaRPr lang="en-US" sz="2377" dirty="0"/>
          </a:p>
        </p:txBody>
      </p:sp>
      <p:sp>
        <p:nvSpPr>
          <p:cNvPr id="6" name="Text 3"/>
          <p:cNvSpPr/>
          <p:nvPr/>
        </p:nvSpPr>
        <p:spPr>
          <a:xfrm>
            <a:off x="1060704" y="3310128"/>
            <a:ext cx="5440680" cy="457200"/>
          </a:xfrm>
          <a:prstGeom prst="rect">
            <a:avLst/>
          </a:prstGeom>
          <a:noFill/>
          <a:ln/>
        </p:spPr>
        <p:txBody>
          <a:bodyPr wrap="square" lIns="0" tIns="0" rIns="0" bIns="0" rtlCol="0" anchor="t"/>
          <a:lstStyle/>
          <a:p>
            <a:pPr algn="l" indent="0" marL="0">
              <a:buNone/>
            </a:pPr>
            <a:r>
              <a:rPr lang="en-US" sz="1350" dirty="0">
                <a:solidFill>
                  <a:srgbClr val="203040"/>
                </a:solidFill>
                <a:latin typeface="Barlow" pitchFamily="34" charset="0"/>
                <a:ea typeface="Barlow" pitchFamily="34" charset="-122"/>
                <a:cs typeface="Barlow" pitchFamily="34" charset="-120"/>
              </a:rPr>
              <a:t>Bảo Việt Nhân Thọ có cơ hội biến một giải đua ghe thành signature cultural property mang tên mình, sống cùng gia đình Việt qua nhiều mùa tiếp theo.</a:t>
            </a:r>
            <a:endParaRPr lang="en-US" sz="1350" dirty="0"/>
          </a:p>
        </p:txBody>
      </p:sp>
      <p:sp>
        <p:nvSpPr>
          <p:cNvPr id="7" name="Shape 4"/>
          <p:cNvSpPr/>
          <p:nvPr/>
        </p:nvSpPr>
        <p:spPr>
          <a:xfrm>
            <a:off x="7406640" y="1755648"/>
            <a:ext cx="3977640" cy="2606040"/>
          </a:xfrm>
          <a:prstGeom prst="roundRect">
            <a:avLst>
              <a:gd name="adj" fmla="val 1754"/>
            </a:avLst>
          </a:prstGeom>
          <a:solidFill>
            <a:srgbClr val="114A7A"/>
          </a:solidFill>
          <a:ln w="12700">
            <a:solidFill>
              <a:srgbClr val="114A7A"/>
            </a:solidFill>
            <a:prstDash val="solid"/>
          </a:ln>
        </p:spPr>
      </p:sp>
      <p:sp>
        <p:nvSpPr>
          <p:cNvPr id="8" name="Text 5"/>
          <p:cNvSpPr/>
          <p:nvPr/>
        </p:nvSpPr>
        <p:spPr>
          <a:xfrm>
            <a:off x="7662672" y="1993392"/>
            <a:ext cx="1280160" cy="128016"/>
          </a:xfrm>
          <a:prstGeom prst="rect">
            <a:avLst/>
          </a:prstGeom>
          <a:noFill/>
          <a:ln/>
        </p:spPr>
        <p:txBody>
          <a:bodyPr wrap="square" lIns="0" tIns="0" rIns="0" bIns="0" rtlCol="0" anchor="t"/>
          <a:lstStyle/>
          <a:p>
            <a:pPr algn="l" indent="0" marL="0">
              <a:buNone/>
            </a:pPr>
            <a:r>
              <a:rPr lang="en-US" sz="950" b="1" dirty="0">
                <a:solidFill>
                  <a:srgbClr val="BFD5EA"/>
                </a:solidFill>
                <a:latin typeface="Barlow" pitchFamily="34" charset="0"/>
                <a:ea typeface="Barlow" pitchFamily="34" charset="-122"/>
                <a:cs typeface="Barlow" pitchFamily="34" charset="-120"/>
              </a:rPr>
              <a:t>Closing line</a:t>
            </a:r>
            <a:endParaRPr lang="en-US" sz="950" dirty="0"/>
          </a:p>
        </p:txBody>
      </p:sp>
      <p:sp>
        <p:nvSpPr>
          <p:cNvPr id="9" name="Text 6"/>
          <p:cNvSpPr/>
          <p:nvPr/>
        </p:nvSpPr>
        <p:spPr>
          <a:xfrm>
            <a:off x="7662672" y="2304288"/>
            <a:ext cx="3154680" cy="58521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hôm nay, chở che muôn thế hệ mai sau.</a:t>
            </a:r>
            <a:endParaRPr lang="en-US" sz="2200" dirty="0"/>
          </a:p>
        </p:txBody>
      </p:sp>
      <p:sp>
        <p:nvSpPr>
          <p:cNvPr id="10" name="Shape 7"/>
          <p:cNvSpPr/>
          <p:nvPr/>
        </p:nvSpPr>
        <p:spPr>
          <a:xfrm>
            <a:off x="1060704" y="4663440"/>
            <a:ext cx="22402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1115568" y="4736592"/>
            <a:ext cx="21305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GIỮ MÁI CHÈO DI SẢN</a:t>
            </a:r>
            <a:endParaRPr lang="en-US" sz="920" dirty="0"/>
          </a:p>
        </p:txBody>
      </p:sp>
      <p:sp>
        <p:nvSpPr>
          <p:cNvPr id="12" name="Shape 9"/>
          <p:cNvSpPr/>
          <p:nvPr/>
        </p:nvSpPr>
        <p:spPr>
          <a:xfrm>
            <a:off x="3474720" y="4663440"/>
            <a:ext cx="3337560" cy="310896"/>
          </a:xfrm>
          <a:prstGeom prst="roundRect">
            <a:avLst>
              <a:gd name="adj" fmla="val 23529"/>
            </a:avLst>
          </a:prstGeom>
          <a:solidFill>
            <a:srgbClr val="0B6CB8">
              <a:alpha val="92000"/>
            </a:srgbClr>
          </a:solidFill>
          <a:ln w="12700">
            <a:solidFill>
              <a:srgbClr val="0B6CB8"/>
            </a:solidFill>
            <a:prstDash val="solid"/>
          </a:ln>
        </p:spPr>
      </p:sp>
      <p:sp>
        <p:nvSpPr>
          <p:cNvPr id="13" name="Text 10"/>
          <p:cNvSpPr/>
          <p:nvPr/>
        </p:nvSpPr>
        <p:spPr>
          <a:xfrm>
            <a:off x="3529584"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BOARDROOM-READY | CULTURAL | SCALABLE</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OpenAI Codex</dc:creator>
  <cp:lastModifiedBy>OpenAI Codex</cp:lastModifiedBy>
  <cp:revision>1</cp:revision>
  <dcterms:created xsi:type="dcterms:W3CDTF">2026-03-18T02:59:27Z</dcterms:created>
  <dcterms:modified xsi:type="dcterms:W3CDTF">2026-03-18T02:59:27Z</dcterms:modified>
</cp:coreProperties>
</file>