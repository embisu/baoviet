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828800"/>
            <a:ext cx="438912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340864"/>
            <a:ext cx="7955280" cy="1097280"/>
          </a:xfrm>
          <a:prstGeom prst="rect">
            <a:avLst/>
          </a:prstGeom>
          <a:noFill/>
          <a:ln/>
        </p:spPr>
        <p:txBody>
          <a:bodyPr wrap="square" lIns="0" tIns="0" rIns="0" bIns="0" rtlCol="0" anchor="ctr"/>
          <a:lstStyle/>
          <a:p>
            <a:pPr indent="0" marL="0">
              <a:buNone/>
            </a:pPr>
            <a:r>
              <a:rPr lang="en-US" sz="2197"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197" dirty="0"/>
          </a:p>
          <a:p>
            <a:pPr indent="0" marL="0">
              <a:buNone/>
            </a:pPr>
            <a:r>
              <a:rPr lang="en-US" sz="2197" b="1" dirty="0">
                <a:solidFill>
                  <a:srgbClr val="114A7A"/>
                </a:solidFill>
                <a:latin typeface="Barlow" pitchFamily="34" charset="0"/>
                <a:ea typeface="Barlow" pitchFamily="34" charset="-122"/>
                <a:cs typeface="Barlow" pitchFamily="34" charset="-120"/>
              </a:rPr>
              <a:t>TRANH CÚP BẢO VIỆT NHÂN THỌ</a:t>
            </a:r>
            <a:endParaRPr lang="en-US" sz="2197" dirty="0"/>
          </a:p>
        </p:txBody>
      </p:sp>
      <p:sp>
        <p:nvSpPr>
          <p:cNvPr id="5" name="Text 2"/>
          <p:cNvSpPr/>
          <p:nvPr/>
        </p:nvSpPr>
        <p:spPr>
          <a:xfrm>
            <a:off x="822960" y="3675888"/>
            <a:ext cx="146304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 đề xuất</a:t>
            </a:r>
            <a:endParaRPr lang="en-US" sz="1000" dirty="0"/>
          </a:p>
        </p:txBody>
      </p:sp>
      <p:sp>
        <p:nvSpPr>
          <p:cNvPr id="6" name="Text 3"/>
          <p:cNvSpPr/>
          <p:nvPr/>
        </p:nvSpPr>
        <p:spPr>
          <a:xfrm>
            <a:off x="822960" y="3913632"/>
            <a:ext cx="4206240" cy="31089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DI SẢN</a:t>
            </a:r>
            <a:endParaRPr lang="en-US" sz="2200" dirty="0"/>
          </a:p>
        </p:txBody>
      </p:sp>
      <p:sp>
        <p:nvSpPr>
          <p:cNvPr id="7" name="Text 4"/>
          <p:cNvSpPr/>
          <p:nvPr/>
        </p:nvSpPr>
        <p:spPr>
          <a:xfrm>
            <a:off x="822960" y="4315968"/>
            <a:ext cx="5394960" cy="256032"/>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8" name="Shape 5"/>
          <p:cNvSpPr/>
          <p:nvPr/>
        </p:nvSpPr>
        <p:spPr>
          <a:xfrm>
            <a:off x="822960" y="4700016"/>
            <a:ext cx="269748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877824" y="4773168"/>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10" name="Shape 7"/>
          <p:cNvSpPr/>
          <p:nvPr/>
        </p:nvSpPr>
        <p:spPr>
          <a:xfrm>
            <a:off x="3639312" y="4700016"/>
            <a:ext cx="29260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3694176" y="4773168"/>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2" name="Shape 9"/>
          <p:cNvSpPr/>
          <p:nvPr/>
        </p:nvSpPr>
        <p:spPr>
          <a:xfrm>
            <a:off x="822960" y="5230368"/>
            <a:ext cx="5440680" cy="621792"/>
          </a:xfrm>
          <a:prstGeom prst="roundRect">
            <a:avLst>
              <a:gd name="adj" fmla="val 7353"/>
            </a:avLst>
          </a:prstGeom>
          <a:solidFill>
            <a:srgbClr val="EEF3F8"/>
          </a:solidFill>
          <a:ln w="12700">
            <a:solidFill>
              <a:srgbClr val="D8E0E8"/>
            </a:solidFill>
            <a:prstDash val="solid"/>
          </a:ln>
        </p:spPr>
      </p:sp>
      <p:sp>
        <p:nvSpPr>
          <p:cNvPr id="13" name="Text 10"/>
          <p:cNvSpPr/>
          <p:nvPr/>
        </p:nvSpPr>
        <p:spPr>
          <a:xfrm>
            <a:off x="1042416" y="5422392"/>
            <a:ext cx="4983480" cy="256032"/>
          </a:xfrm>
          <a:prstGeom prst="rect">
            <a:avLst/>
          </a:prstGeom>
          <a:noFill/>
          <a:ln/>
        </p:spPr>
        <p:txBody>
          <a:bodyPr wrap="square" lIns="0" tIns="0" rIns="0" bIns="0" rtlCol="0" anchor="t"/>
          <a:lstStyle/>
          <a:p>
            <a:pPr algn="l" indent="0" marL="0">
              <a:buNone/>
            </a:pPr>
            <a:r>
              <a:rPr lang="en-US" sz="1150" b="1" dirty="0">
                <a:solidFill>
                  <a:srgbClr val="114A7A"/>
                </a:solidFill>
                <a:latin typeface="Barlow" pitchFamily="34" charset="0"/>
                <a:ea typeface="Barlow" pitchFamily="34" charset="-122"/>
                <a:cs typeface="Barlow" pitchFamily="34" charset="-120"/>
              </a:rPr>
              <a:t>Một cơ hội hiếm để Bảo Việt Nhân Thọ biến tinh thần bảo vệ gia đình thành một nghi lễ văn hóa sống, có thể sở hữu lâu dài.</a:t>
            </a:r>
            <a:endParaRPr lang="en-US" sz="115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tài trợ một giải đua. Khởi sinh một tài sản văn hóa thương hiệu.</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sự kiện địa phương của Huế, nâng tầm thành platform thường niên mà Bảo Việt Nhân Thọ có thể sở hữu, tích lũy và làm lớn lên qua từng năm.</a:t>
            </a:r>
            <a:endParaRPr lang="en-US" sz="1400" dirty="0"/>
          </a:p>
        </p:txBody>
      </p:sp>
      <p:sp>
        <p:nvSpPr>
          <p:cNvPr id="8" name="Shape 5"/>
          <p:cNvSpPr/>
          <p:nvPr/>
        </p:nvSpPr>
        <p:spPr>
          <a:xfrm>
            <a:off x="1078992" y="4224528"/>
            <a:ext cx="1682496"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133856" y="4297680"/>
            <a:ext cx="157276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 AMBITION</a:t>
            </a:r>
            <a:endParaRPr lang="en-US" sz="920" dirty="0"/>
          </a:p>
        </p:txBody>
      </p:sp>
      <p:sp>
        <p:nvSpPr>
          <p:cNvPr id="10" name="Shape 7"/>
          <p:cNvSpPr/>
          <p:nvPr/>
        </p:nvSpPr>
        <p:spPr>
          <a:xfrm>
            <a:off x="2907792" y="4224528"/>
            <a:ext cx="1792224"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2962656" y="4297680"/>
            <a:ext cx="168249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 PROPERTY</a:t>
            </a:r>
            <a:endParaRPr lang="en-US" sz="92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Vì sao dự án này đáng làm ngay lúc này</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Bốn động lực đang hội tụ đủ mạnh để biến một giải đua địa phương thành brand property cấp quốc gia.</a:t>
            </a:r>
            <a:endParaRPr lang="en-US" sz="1100" dirty="0"/>
          </a:p>
        </p:txBody>
      </p:sp>
      <p:sp>
        <p:nvSpPr>
          <p:cNvPr id="6" name="Shape 3"/>
          <p:cNvSpPr/>
          <p:nvPr/>
        </p:nvSpPr>
        <p:spPr>
          <a:xfrm>
            <a:off x="822960" y="2029968"/>
            <a:ext cx="2450592" cy="1225296"/>
          </a:xfrm>
          <a:prstGeom prst="roundRect">
            <a:avLst>
              <a:gd name="adj" fmla="val 3731"/>
            </a:avLst>
          </a:prstGeom>
          <a:solidFill>
            <a:srgbClr val="F8F3E8"/>
          </a:solidFill>
          <a:ln w="12700">
            <a:solidFill>
              <a:srgbClr val="D8E0E8"/>
            </a:solidFill>
            <a:prstDash val="solid"/>
          </a:ln>
        </p:spPr>
      </p:sp>
      <p:sp>
        <p:nvSpPr>
          <p:cNvPr id="7" name="Shape 4"/>
          <p:cNvSpPr/>
          <p:nvPr/>
        </p:nvSpPr>
        <p:spPr>
          <a:xfrm>
            <a:off x="969264" y="2176272"/>
            <a:ext cx="2157984" cy="45720"/>
          </a:xfrm>
          <a:prstGeom prst="rect">
            <a:avLst/>
          </a:prstGeom>
          <a:solidFill>
            <a:srgbClr val="C99211"/>
          </a:solidFill>
          <a:ln w="12700">
            <a:solidFill>
              <a:srgbClr val="C99211"/>
            </a:solidFill>
            <a:prstDash val="solid"/>
          </a:ln>
        </p:spPr>
      </p:sp>
      <p:sp>
        <p:nvSpPr>
          <p:cNvPr id="8" name="Text 5"/>
          <p:cNvSpPr/>
          <p:nvPr/>
        </p:nvSpPr>
        <p:spPr>
          <a:xfrm>
            <a:off x="1024128"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THỜI ĐIỂM</a:t>
            </a:r>
            <a:endParaRPr lang="en-US" sz="920" dirty="0"/>
          </a:p>
        </p:txBody>
      </p:sp>
      <p:sp>
        <p:nvSpPr>
          <p:cNvPr id="9" name="Text 6"/>
          <p:cNvSpPr/>
          <p:nvPr/>
        </p:nvSpPr>
        <p:spPr>
          <a:xfrm>
            <a:off x="1024128"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Quốc khánh 02/09</a:t>
            </a:r>
            <a:endParaRPr lang="en-US" sz="1700" dirty="0"/>
          </a:p>
        </p:txBody>
      </p:sp>
      <p:sp>
        <p:nvSpPr>
          <p:cNvPr id="10" name="Text 7"/>
          <p:cNvSpPr/>
          <p:nvPr/>
        </p:nvSpPr>
        <p:spPr>
          <a:xfrm>
            <a:off x="1024128"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Tinh thần quốc gia giúp sự kiện có chiều sâu cộng đồng thay vì chỉ thể thao.</a:t>
            </a:r>
            <a:endParaRPr lang="en-US" sz="1080" dirty="0"/>
          </a:p>
        </p:txBody>
      </p:sp>
      <p:sp>
        <p:nvSpPr>
          <p:cNvPr id="11" name="Shape 8"/>
          <p:cNvSpPr/>
          <p:nvPr/>
        </p:nvSpPr>
        <p:spPr>
          <a:xfrm>
            <a:off x="3493008" y="2029968"/>
            <a:ext cx="2450592" cy="1225296"/>
          </a:xfrm>
          <a:prstGeom prst="roundRect">
            <a:avLst>
              <a:gd name="adj" fmla="val 3731"/>
            </a:avLst>
          </a:prstGeom>
          <a:solidFill>
            <a:srgbClr val="EEF5FB"/>
          </a:solidFill>
          <a:ln w="12700">
            <a:solidFill>
              <a:srgbClr val="D8E0E8"/>
            </a:solidFill>
            <a:prstDash val="solid"/>
          </a:ln>
        </p:spPr>
      </p:sp>
      <p:sp>
        <p:nvSpPr>
          <p:cNvPr id="12" name="Shape 9"/>
          <p:cNvSpPr/>
          <p:nvPr/>
        </p:nvSpPr>
        <p:spPr>
          <a:xfrm>
            <a:off x="3639312" y="2176272"/>
            <a:ext cx="2157984" cy="45720"/>
          </a:xfrm>
          <a:prstGeom prst="rect">
            <a:avLst/>
          </a:prstGeom>
          <a:solidFill>
            <a:srgbClr val="0B6CB8"/>
          </a:solidFill>
          <a:ln w="12700">
            <a:solidFill>
              <a:srgbClr val="0B6CB8"/>
            </a:solidFill>
            <a:prstDash val="solid"/>
          </a:ln>
        </p:spPr>
      </p:sp>
      <p:sp>
        <p:nvSpPr>
          <p:cNvPr id="13" name="Text 10"/>
          <p:cNvSpPr/>
          <p:nvPr/>
        </p:nvSpPr>
        <p:spPr>
          <a:xfrm>
            <a:off x="3694176" y="2304288"/>
            <a:ext cx="20482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BỐI CẢNH</a:t>
            </a:r>
            <a:endParaRPr lang="en-US" sz="920" dirty="0"/>
          </a:p>
        </p:txBody>
      </p:sp>
      <p:sp>
        <p:nvSpPr>
          <p:cNvPr id="14" name="Text 11"/>
          <p:cNvSpPr/>
          <p:nvPr/>
        </p:nvSpPr>
        <p:spPr>
          <a:xfrm>
            <a:off x="3694176"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 thành phố của ký ức</a:t>
            </a:r>
            <a:endParaRPr lang="en-US" sz="1700" dirty="0"/>
          </a:p>
        </p:txBody>
      </p:sp>
      <p:sp>
        <p:nvSpPr>
          <p:cNvPr id="15" name="Text 12"/>
          <p:cNvSpPr/>
          <p:nvPr/>
        </p:nvSpPr>
        <p:spPr>
          <a:xfrm>
            <a:off x="3694176"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chuẩn mực và cảm xúc khiến câu chuyện bảo vệ trở nên đắt giá hơn.</a:t>
            </a:r>
            <a:endParaRPr lang="en-US" sz="1080" dirty="0"/>
          </a:p>
        </p:txBody>
      </p:sp>
      <p:sp>
        <p:nvSpPr>
          <p:cNvPr id="16" name="Shape 13"/>
          <p:cNvSpPr/>
          <p:nvPr/>
        </p:nvSpPr>
        <p:spPr>
          <a:xfrm>
            <a:off x="6163056" y="2029968"/>
            <a:ext cx="2450592" cy="1225296"/>
          </a:xfrm>
          <a:prstGeom prst="roundRect">
            <a:avLst>
              <a:gd name="adj" fmla="val 3731"/>
            </a:avLst>
          </a:prstGeom>
          <a:solidFill>
            <a:srgbClr val="F8F3E8"/>
          </a:solidFill>
          <a:ln w="12700">
            <a:solidFill>
              <a:srgbClr val="D8E0E8"/>
            </a:solidFill>
            <a:prstDash val="solid"/>
          </a:ln>
        </p:spPr>
      </p:sp>
      <p:sp>
        <p:nvSpPr>
          <p:cNvPr id="17" name="Shape 14"/>
          <p:cNvSpPr/>
          <p:nvPr/>
        </p:nvSpPr>
        <p:spPr>
          <a:xfrm>
            <a:off x="6309360" y="2176272"/>
            <a:ext cx="2157984" cy="45720"/>
          </a:xfrm>
          <a:prstGeom prst="rect">
            <a:avLst/>
          </a:prstGeom>
          <a:solidFill>
            <a:srgbClr val="C99211"/>
          </a:solidFill>
          <a:ln w="12700">
            <a:solidFill>
              <a:srgbClr val="C99211"/>
            </a:solidFill>
            <a:prstDash val="solid"/>
          </a:ln>
        </p:spPr>
      </p:sp>
      <p:sp>
        <p:nvSpPr>
          <p:cNvPr id="18" name="Text 15"/>
          <p:cNvSpPr/>
          <p:nvPr/>
        </p:nvSpPr>
        <p:spPr>
          <a:xfrm>
            <a:off x="6364224"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HÌNH ẢNH</a:t>
            </a:r>
            <a:endParaRPr lang="en-US" sz="920" dirty="0"/>
          </a:p>
        </p:txBody>
      </p:sp>
      <p:sp>
        <p:nvSpPr>
          <p:cNvPr id="19" name="Text 16"/>
          <p:cNvSpPr/>
          <p:nvPr/>
        </p:nvSpPr>
        <p:spPr>
          <a:xfrm>
            <a:off x="6364224"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Đua ghe có visual power</a:t>
            </a:r>
            <a:endParaRPr lang="en-US" sz="1700" dirty="0"/>
          </a:p>
        </p:txBody>
      </p:sp>
      <p:sp>
        <p:nvSpPr>
          <p:cNvPr id="20" name="Text 17"/>
          <p:cNvSpPr/>
          <p:nvPr/>
        </p:nvSpPr>
        <p:spPr>
          <a:xfrm>
            <a:off x="6364224"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Dễ tạo spectacle, livestream và short-form có độ lan tỏa tự nhiên.</a:t>
            </a:r>
            <a:endParaRPr lang="en-US" sz="1080" dirty="0"/>
          </a:p>
        </p:txBody>
      </p:sp>
      <p:sp>
        <p:nvSpPr>
          <p:cNvPr id="21" name="Shape 18"/>
          <p:cNvSpPr/>
          <p:nvPr/>
        </p:nvSpPr>
        <p:spPr>
          <a:xfrm>
            <a:off x="8833104" y="2029968"/>
            <a:ext cx="2560320" cy="1225296"/>
          </a:xfrm>
          <a:prstGeom prst="roundRect">
            <a:avLst>
              <a:gd name="adj" fmla="val 3731"/>
            </a:avLst>
          </a:prstGeom>
          <a:solidFill>
            <a:srgbClr val="EEF5FB"/>
          </a:solidFill>
          <a:ln w="12700">
            <a:solidFill>
              <a:srgbClr val="D8E0E8"/>
            </a:solidFill>
            <a:prstDash val="solid"/>
          </a:ln>
        </p:spPr>
      </p:sp>
      <p:sp>
        <p:nvSpPr>
          <p:cNvPr id="22" name="Shape 19"/>
          <p:cNvSpPr/>
          <p:nvPr/>
        </p:nvSpPr>
        <p:spPr>
          <a:xfrm>
            <a:off x="8979408" y="2176272"/>
            <a:ext cx="2267712" cy="45720"/>
          </a:xfrm>
          <a:prstGeom prst="rect">
            <a:avLst/>
          </a:prstGeom>
          <a:solidFill>
            <a:srgbClr val="0B6CB8"/>
          </a:solidFill>
          <a:ln w="12700">
            <a:solidFill>
              <a:srgbClr val="0B6CB8"/>
            </a:solidFill>
            <a:prstDash val="solid"/>
          </a:ln>
        </p:spPr>
      </p:sp>
      <p:sp>
        <p:nvSpPr>
          <p:cNvPr id="23" name="Text 20"/>
          <p:cNvSpPr/>
          <p:nvPr/>
        </p:nvSpPr>
        <p:spPr>
          <a:xfrm>
            <a:off x="9034272" y="2304288"/>
            <a:ext cx="2157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04 | THƯƠNG HIỆU</a:t>
            </a:r>
            <a:endParaRPr lang="en-US" sz="920" dirty="0"/>
          </a:p>
        </p:txBody>
      </p:sp>
      <p:sp>
        <p:nvSpPr>
          <p:cNvPr id="24" name="Text 21"/>
          <p:cNvSpPr/>
          <p:nvPr/>
        </p:nvSpPr>
        <p:spPr>
          <a:xfrm>
            <a:off x="9034272" y="2560320"/>
            <a:ext cx="2157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có right to play</a:t>
            </a:r>
            <a:endParaRPr lang="en-US" sz="1700" dirty="0"/>
          </a:p>
        </p:txBody>
      </p:sp>
      <p:sp>
        <p:nvSpPr>
          <p:cNvPr id="25" name="Text 22"/>
          <p:cNvSpPr/>
          <p:nvPr/>
        </p:nvSpPr>
        <p:spPr>
          <a:xfrm>
            <a:off x="9034272" y="2962656"/>
            <a:ext cx="2157984"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Vai trò giữ cho gia đình đi tiếp khớp tự nhiên với tinh thần của cuộc đua.</a:t>
            </a:r>
            <a:endParaRPr lang="en-US" sz="1080" dirty="0"/>
          </a:p>
        </p:txBody>
      </p:sp>
      <p:sp>
        <p:nvSpPr>
          <p:cNvPr id="26" name="Shape 23"/>
          <p:cNvSpPr/>
          <p:nvPr/>
        </p:nvSpPr>
        <p:spPr>
          <a:xfrm>
            <a:off x="822960" y="3822192"/>
            <a:ext cx="10561320" cy="1024128"/>
          </a:xfrm>
          <a:prstGeom prst="roundRect">
            <a:avLst>
              <a:gd name="adj" fmla="val 4464"/>
            </a:avLst>
          </a:prstGeom>
          <a:solidFill>
            <a:srgbClr val="114A7A"/>
          </a:solidFill>
          <a:ln w="12700">
            <a:solidFill>
              <a:srgbClr val="114A7A"/>
            </a:solidFill>
            <a:prstDash val="solid"/>
          </a:ln>
        </p:spPr>
      </p:sp>
      <p:sp>
        <p:nvSpPr>
          <p:cNvPr id="27" name="Text 24"/>
          <p:cNvSpPr/>
          <p:nvPr/>
        </p:nvSpPr>
        <p:spPr>
          <a:xfrm>
            <a:off x="1060704" y="4041648"/>
            <a:ext cx="10085832" cy="713232"/>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thời điểm hiếm khi giá trị văn hóa, tinh thần Quốc khánh và nhu cầu thương hiệu cùng đứng về một phía.</a:t>
            </a:r>
            <a:endParaRPr lang="en-US" sz="200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WINDOW OF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Nếu chỉ tài trợ logo, giá trị sẽ dừng ở hiện diện. Nếu sở hữu platform, giá trị sẽ tích lũy qua nhiều mùa.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Khoảng chênh lớn nhất của dự án này không nằm ở media. Nó nằm ở cách định nghĩa vai trò thương hiệu.</a:t>
            </a:r>
            <a:endParaRPr lang="en-US" sz="1100" dirty="0"/>
          </a:p>
        </p:txBody>
      </p:sp>
      <p:sp>
        <p:nvSpPr>
          <p:cNvPr id="6" name="Shape 3"/>
          <p:cNvSpPr/>
          <p:nvPr/>
        </p:nvSpPr>
        <p:spPr>
          <a:xfrm>
            <a:off x="822960" y="2048256"/>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22576"/>
            <a:ext cx="2377440" cy="182880"/>
          </a:xfrm>
          <a:prstGeom prst="rect">
            <a:avLst/>
          </a:prstGeom>
          <a:noFill/>
          <a:ln/>
        </p:spPr>
        <p:txBody>
          <a:bodyPr wrap="square" lIns="0" tIns="0" rIns="0" bIns="0" rtlCol="0" anchor="t"/>
          <a:lstStyle/>
          <a:p>
            <a:pPr algn="l" indent="0" marL="0">
              <a:buNone/>
            </a:pPr>
            <a:r>
              <a:rPr lang="en-US" sz="1700" b="1" dirty="0">
                <a:solidFill>
                  <a:srgbClr val="5C6C7B"/>
                </a:solidFill>
                <a:latin typeface="Barlow" pitchFamily="34" charset="0"/>
                <a:ea typeface="Barlow" pitchFamily="34" charset="-122"/>
                <a:cs typeface="Barlow" pitchFamily="34" charset="-120"/>
              </a:rPr>
              <a:t>Nếu chỉ là sponsorship</a:t>
            </a:r>
            <a:endParaRPr lang="en-US" sz="1700" dirty="0"/>
          </a:p>
        </p:txBody>
      </p:sp>
      <p:sp>
        <p:nvSpPr>
          <p:cNvPr id="8" name="Text 5"/>
          <p:cNvSpPr/>
          <p:nvPr/>
        </p:nvSpPr>
        <p:spPr>
          <a:xfrm>
            <a:off x="1078992" y="2761488"/>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Nhận biết cao trong ngắn hạn nhưng khó sở hữu ý nghĩa.</a:t>
            </a:r>
            <a:endParaRPr lang="en-US" sz="1120" dirty="0"/>
          </a:p>
        </p:txBody>
      </p:sp>
      <p:sp>
        <p:nvSpPr>
          <p:cNvPr id="9" name="Text 6"/>
          <p:cNvSpPr/>
          <p:nvPr/>
        </p:nvSpPr>
        <p:spPr>
          <a:xfrm>
            <a:off x="1078992" y="3163824"/>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Hình ảnh sự kiện trôi qua sau ngày đua.</a:t>
            </a:r>
            <a:endParaRPr lang="en-US" sz="1120" dirty="0"/>
          </a:p>
        </p:txBody>
      </p:sp>
      <p:sp>
        <p:nvSpPr>
          <p:cNvPr id="10" name="Text 7"/>
          <p:cNvSpPr/>
          <p:nvPr/>
        </p:nvSpPr>
        <p:spPr>
          <a:xfrm>
            <a:off x="1078992" y="3566160"/>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Khó tạo premium thương hiệu hay động lực quay lại năm sau.</a:t>
            </a:r>
            <a:endParaRPr lang="en-US" sz="1120" dirty="0"/>
          </a:p>
        </p:txBody>
      </p:sp>
      <p:sp>
        <p:nvSpPr>
          <p:cNvPr id="11" name="Shape 8"/>
          <p:cNvSpPr/>
          <p:nvPr/>
        </p:nvSpPr>
        <p:spPr>
          <a:xfrm>
            <a:off x="6382512" y="2048256"/>
            <a:ext cx="5001768" cy="3072384"/>
          </a:xfrm>
          <a:prstGeom prst="roundRect">
            <a:avLst>
              <a:gd name="adj" fmla="val 1488"/>
            </a:avLst>
          </a:prstGeom>
          <a:solidFill>
            <a:srgbClr val="EEF5FB"/>
          </a:solidFill>
          <a:ln w="12700">
            <a:solidFill>
              <a:srgbClr val="D8E0E8"/>
            </a:solidFill>
            <a:prstDash val="solid"/>
          </a:ln>
        </p:spPr>
      </p:sp>
      <p:sp>
        <p:nvSpPr>
          <p:cNvPr id="12" name="Text 9"/>
          <p:cNvSpPr/>
          <p:nvPr/>
        </p:nvSpPr>
        <p:spPr>
          <a:xfrm>
            <a:off x="6638544" y="2322576"/>
            <a:ext cx="292608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Nếu là cultural brand platform</a:t>
            </a:r>
            <a:endParaRPr lang="en-US" sz="1700" dirty="0"/>
          </a:p>
        </p:txBody>
      </p:sp>
      <p:sp>
        <p:nvSpPr>
          <p:cNvPr id="13" name="Text 10"/>
          <p:cNvSpPr/>
          <p:nvPr/>
        </p:nvSpPr>
        <p:spPr>
          <a:xfrm>
            <a:off x="6638544" y="2761488"/>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Sở hữu một biểu tượng cảm xúc gắn với gia đình Việt.</a:t>
            </a:r>
            <a:endParaRPr lang="en-US" sz="1120" dirty="0"/>
          </a:p>
        </p:txBody>
      </p:sp>
      <p:sp>
        <p:nvSpPr>
          <p:cNvPr id="14" name="Text 11"/>
          <p:cNvSpPr/>
          <p:nvPr/>
        </p:nvSpPr>
        <p:spPr>
          <a:xfrm>
            <a:off x="6638544" y="3163824"/>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Tạo nghi lễ và visual signature có thể lặp lại hàng năm.</a:t>
            </a:r>
            <a:endParaRPr lang="en-US" sz="1120" dirty="0"/>
          </a:p>
        </p:txBody>
      </p:sp>
      <p:sp>
        <p:nvSpPr>
          <p:cNvPr id="15" name="Text 12"/>
          <p:cNvSpPr/>
          <p:nvPr/>
        </p:nvSpPr>
        <p:spPr>
          <a:xfrm>
            <a:off x="6638544" y="3566160"/>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Gắn awareness với trust, earned media và commercial momentum.</a:t>
            </a:r>
            <a:endParaRPr lang="en-US" sz="1120" dirty="0"/>
          </a:p>
        </p:txBody>
      </p:sp>
      <p:sp>
        <p:nvSpPr>
          <p:cNvPr id="16" name="Shape 13"/>
          <p:cNvSpPr/>
          <p:nvPr/>
        </p:nvSpPr>
        <p:spPr>
          <a:xfrm>
            <a:off x="6638544" y="4663440"/>
            <a:ext cx="3337560" cy="310896"/>
          </a:xfrm>
          <a:prstGeom prst="roundRect">
            <a:avLst>
              <a:gd name="adj" fmla="val 23529"/>
            </a:avLst>
          </a:prstGeom>
          <a:solidFill>
            <a:srgbClr val="C99211">
              <a:alpha val="92000"/>
            </a:srgbClr>
          </a:solidFill>
          <a:ln w="12700">
            <a:solidFill>
              <a:srgbClr val="C99211"/>
            </a:solidFill>
            <a:prstDash val="solid"/>
          </a:ln>
        </p:spPr>
      </p:sp>
      <p:sp>
        <p:nvSpPr>
          <p:cNvPr id="17" name="Text 14"/>
          <p:cNvSpPr/>
          <p:nvPr/>
        </p:nvSpPr>
        <p:spPr>
          <a:xfrm>
            <a:off x="6693408"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FROM SPONSOR TO CULTURAL CUSTODIAN</a:t>
            </a:r>
            <a:endParaRPr lang="en-US" sz="92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53"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15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dòng sông không chỉ để đi qua. Dòng sông là ký ức, là nếp sống và là nơi truyền thống tiếp tục được gìn giữ.</a:t>
            </a:r>
            <a:endParaRPr lang="en-US" sz="1100" dirty="0"/>
          </a:p>
        </p:txBody>
      </p:sp>
      <p:sp>
        <p:nvSpPr>
          <p:cNvPr id="6" name="Shape 3"/>
          <p:cNvSpPr/>
          <p:nvPr/>
        </p:nvSpPr>
        <p:spPr>
          <a:xfrm>
            <a:off x="822960" y="1993392"/>
            <a:ext cx="5074920" cy="3584448"/>
          </a:xfrm>
          <a:prstGeom prst="roundRect">
            <a:avLst>
              <a:gd name="adj" fmla="val 1276"/>
            </a:avLst>
          </a:prstGeom>
          <a:solidFill>
            <a:srgbClr val="FFFFFF"/>
          </a:solidFill>
          <a:ln w="12700">
            <a:solidFill>
              <a:srgbClr val="D8E0E8"/>
            </a:solidFill>
            <a:prstDash val="solid"/>
          </a:ln>
        </p:spPr>
      </p:sp>
      <p:sp>
        <p:nvSpPr>
          <p:cNvPr id="7" name="Text 4"/>
          <p:cNvSpPr/>
          <p:nvPr/>
        </p:nvSpPr>
        <p:spPr>
          <a:xfrm>
            <a:off x="1060704"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CHIỀU SÂU VĂN HÓA</a:t>
            </a:r>
            <a:endParaRPr lang="en-US" sz="950" dirty="0"/>
          </a:p>
        </p:txBody>
      </p:sp>
      <p:sp>
        <p:nvSpPr>
          <p:cNvPr id="8" name="Text 5"/>
          <p:cNvSpPr/>
          <p:nvPr/>
        </p:nvSpPr>
        <p:spPr>
          <a:xfrm>
            <a:off x="1060704" y="2578608"/>
            <a:ext cx="406908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Huế là thành phố của ký ức và sự kế thừa.</a:t>
            </a:r>
            <a:endParaRPr lang="en-US" sz="2100" dirty="0"/>
          </a:p>
        </p:txBody>
      </p:sp>
      <p:sp>
        <p:nvSpPr>
          <p:cNvPr id="9" name="Text 6"/>
          <p:cNvSpPr/>
          <p:nvPr/>
        </p:nvSpPr>
        <p:spPr>
          <a:xfrm>
            <a:off x="1060704" y="3236976"/>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Sông Hương, Phu Văn Lâu, Trường Tiền tạo nên một phông nền di sản có thật.</a:t>
            </a:r>
            <a:endParaRPr lang="en-US" sz="1110" dirty="0"/>
          </a:p>
        </p:txBody>
      </p:sp>
      <p:sp>
        <p:nvSpPr>
          <p:cNvPr id="10" name="Text 7"/>
          <p:cNvSpPr/>
          <p:nvPr/>
        </p:nvSpPr>
        <p:spPr>
          <a:xfrm>
            <a:off x="1060704" y="3639312"/>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Gia phong, nề nếp và sự gìn giữ giúp ngôn ngữ 'bảo vệ' trở nên tự nhiên.</a:t>
            </a:r>
            <a:endParaRPr lang="en-US" sz="1110" dirty="0"/>
          </a:p>
        </p:txBody>
      </p:sp>
      <p:sp>
        <p:nvSpPr>
          <p:cNvPr id="11" name="Text 8"/>
          <p:cNvSpPr/>
          <p:nvPr/>
        </p:nvSpPr>
        <p:spPr>
          <a:xfrm>
            <a:off x="1060704" y="4041648"/>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Mọi thứ ở Huế đều đẹp hơn khi được làm bằng sự chuẩn mực và restraint.</a:t>
            </a:r>
            <a:endParaRPr lang="en-US" sz="1110" dirty="0"/>
          </a:p>
        </p:txBody>
      </p:sp>
      <p:sp>
        <p:nvSpPr>
          <p:cNvPr id="12" name="Shape 9"/>
          <p:cNvSpPr/>
          <p:nvPr/>
        </p:nvSpPr>
        <p:spPr>
          <a:xfrm>
            <a:off x="6309360" y="1993392"/>
            <a:ext cx="5074920" cy="3584448"/>
          </a:xfrm>
          <a:prstGeom prst="roundRect">
            <a:avLst>
              <a:gd name="adj" fmla="val 1276"/>
            </a:avLst>
          </a:prstGeom>
          <a:solidFill>
            <a:srgbClr val="F6F8FB"/>
          </a:solidFill>
          <a:ln w="12700">
            <a:solidFill>
              <a:srgbClr val="D8E0E8"/>
            </a:solidFill>
            <a:prstDash val="solid"/>
          </a:ln>
        </p:spPr>
      </p:sp>
      <p:sp>
        <p:nvSpPr>
          <p:cNvPr id="13" name="Text 10"/>
          <p:cNvSpPr/>
          <p:nvPr/>
        </p:nvSpPr>
        <p:spPr>
          <a:xfrm>
            <a:off x="6547104" y="2286000"/>
            <a:ext cx="13716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NGHI LỄ SỐNG</a:t>
            </a:r>
            <a:endParaRPr lang="en-US" sz="950" dirty="0"/>
          </a:p>
        </p:txBody>
      </p:sp>
      <p:sp>
        <p:nvSpPr>
          <p:cNvPr id="14" name="Text 11"/>
          <p:cNvSpPr/>
          <p:nvPr/>
        </p:nvSpPr>
        <p:spPr>
          <a:xfrm>
            <a:off x="6547104" y="2578608"/>
            <a:ext cx="416052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Đua ghe là một nghi lễ cộng đồng chứ không chỉ là môn thi.</a:t>
            </a:r>
            <a:endParaRPr lang="en-US" sz="2100" dirty="0"/>
          </a:p>
        </p:txBody>
      </p:sp>
      <p:sp>
        <p:nvSpPr>
          <p:cNvPr id="15" name="Text 12"/>
          <p:cNvSpPr/>
          <p:nvPr/>
        </p:nvSpPr>
        <p:spPr>
          <a:xfrm>
            <a:off x="6547104" y="3236976"/>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Mỗi ghe vận hành như một gia đình: cùng nhịp, cùng gánh, cùng vượt sóng.</a:t>
            </a:r>
            <a:endParaRPr lang="en-US" sz="1110" dirty="0"/>
          </a:p>
        </p:txBody>
      </p:sp>
      <p:sp>
        <p:nvSpPr>
          <p:cNvPr id="16" name="Text 13"/>
          <p:cNvSpPr/>
          <p:nvPr/>
        </p:nvSpPr>
        <p:spPr>
          <a:xfrm>
            <a:off x="6547104" y="363931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Người cầm lái là hình tượng trách nhiệm và dẫn dắt.</a:t>
            </a:r>
            <a:endParaRPr lang="en-US" sz="1110" dirty="0"/>
          </a:p>
        </p:txBody>
      </p:sp>
      <p:sp>
        <p:nvSpPr>
          <p:cNvPr id="17" name="Text 14"/>
          <p:cNvSpPr/>
          <p:nvPr/>
        </p:nvSpPr>
        <p:spPr>
          <a:xfrm>
            <a:off x="6547104"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Khán giả dọc hai bờ sông làm cho cuộc đua trở thành ký ức chung của cả cộng đồng.</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INSIGHT</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Điều gia đình sợ nhất không phải sóng gió. Mà là hành trình bị dừng giữa dòng.</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Khi người giữ nhịp gặp biến cố, nỗi lo lớn nhất không nằm ở một khoảnh khắc khó khăn, mà nằm ở việc gia đình có còn đi tiếp được như trước hay không.</a:t>
            </a:r>
            <a:endParaRPr lang="en-US" sz="1400" dirty="0"/>
          </a:p>
        </p:txBody>
      </p:sp>
      <p:sp>
        <p:nvSpPr>
          <p:cNvPr id="8" name="Shape 5"/>
          <p:cNvSpPr/>
          <p:nvPr/>
        </p:nvSpPr>
        <p:spPr>
          <a:xfrm>
            <a:off x="1078992" y="4315968"/>
            <a:ext cx="13167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89120"/>
            <a:ext cx="12070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HUMAN TRUTH</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Đua ghe là một ẩn dụ Việt Nam rất đắt cho câu chuyện bảo vệ gia đình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Chỉ cần giải mã đúng biểu tượng, Bảo Việt Nhân Thọ sẽ có một ngôn ngữ cảm xúc vừa gần gũi, vừa sang trọng.</a:t>
            </a:r>
            <a:endParaRPr lang="en-US" sz="1100" dirty="0"/>
          </a:p>
        </p:txBody>
      </p:sp>
      <p:sp>
        <p:nvSpPr>
          <p:cNvPr id="6" name="Shape 3"/>
          <p:cNvSpPr/>
          <p:nvPr/>
        </p:nvSpPr>
        <p:spPr>
          <a:xfrm>
            <a:off x="822960" y="2011680"/>
            <a:ext cx="2331720" cy="822960"/>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Gia đình</a:t>
            </a:r>
            <a:endParaRPr lang="en-US" sz="1500" dirty="0"/>
          </a:p>
        </p:txBody>
      </p:sp>
      <p:sp>
        <p:nvSpPr>
          <p:cNvPr id="9" name="Shape 6"/>
          <p:cNvSpPr/>
          <p:nvPr/>
        </p:nvSpPr>
        <p:spPr>
          <a:xfrm>
            <a:off x="3474720" y="2011680"/>
            <a:ext cx="2331720" cy="822960"/>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Người trụ cột</a:t>
            </a:r>
            <a:endParaRPr lang="en-US" sz="1500" dirty="0"/>
          </a:p>
        </p:txBody>
      </p:sp>
      <p:sp>
        <p:nvSpPr>
          <p:cNvPr id="12" name="Shape 9"/>
          <p:cNvSpPr/>
          <p:nvPr/>
        </p:nvSpPr>
        <p:spPr>
          <a:xfrm>
            <a:off x="6126480" y="2011680"/>
            <a:ext cx="2331720" cy="822960"/>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Cuộc đời</a:t>
            </a:r>
            <a:endParaRPr lang="en-US" sz="1500" dirty="0"/>
          </a:p>
        </p:txBody>
      </p:sp>
      <p:sp>
        <p:nvSpPr>
          <p:cNvPr id="15" name="Shape 12"/>
          <p:cNvSpPr/>
          <p:nvPr/>
        </p:nvSpPr>
        <p:spPr>
          <a:xfrm>
            <a:off x="8778240" y="2011680"/>
            <a:ext cx="2331720" cy="822960"/>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Rủi ro</a:t>
            </a:r>
            <a:endParaRPr lang="en-US" sz="1500" dirty="0"/>
          </a:p>
        </p:txBody>
      </p:sp>
      <p:sp>
        <p:nvSpPr>
          <p:cNvPr id="18" name="Shape 15"/>
          <p:cNvSpPr/>
          <p:nvPr/>
        </p:nvSpPr>
        <p:spPr>
          <a:xfrm>
            <a:off x="822960" y="3108960"/>
            <a:ext cx="6583680" cy="1828800"/>
          </a:xfrm>
          <a:prstGeom prst="roundRect">
            <a:avLst>
              <a:gd name="adj" fmla="val 2500"/>
            </a:avLst>
          </a:prstGeom>
          <a:solidFill>
            <a:srgbClr val="114A7A"/>
          </a:solidFill>
          <a:ln w="12700">
            <a:solidFill>
              <a:srgbClr val="114A7A"/>
            </a:solidFill>
            <a:prstDash val="solid"/>
          </a:ln>
        </p:spPr>
      </p:sp>
      <p:sp>
        <p:nvSpPr>
          <p:cNvPr id="19" name="Text 16"/>
          <p:cNvSpPr/>
          <p:nvPr/>
        </p:nvSpPr>
        <p:spPr>
          <a:xfrm>
            <a:off x="1060704" y="3328416"/>
            <a:ext cx="6108192" cy="15179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Đó chính là lý do bảo hiểm nhân thọ không chỉ là tài chính, mà là lời hứa giữ cho hành trình gia đình không ngắt mạch.</a:t>
            </a:r>
            <a:endParaRPr lang="en-US" sz="2000" dirty="0"/>
          </a:p>
        </p:txBody>
      </p:sp>
      <p:sp>
        <p:nvSpPr>
          <p:cNvPr id="20" name="Shape 17"/>
          <p:cNvSpPr/>
          <p:nvPr/>
        </p:nvSpPr>
        <p:spPr>
          <a:xfrm>
            <a:off x="7626096" y="3108960"/>
            <a:ext cx="3758184" cy="1828800"/>
          </a:xfrm>
          <a:prstGeom prst="roundRect">
            <a:avLst>
              <a:gd name="adj" fmla="val 2500"/>
            </a:avLst>
          </a:prstGeom>
          <a:solidFill>
            <a:srgbClr val="FFFFFF"/>
          </a:solidFill>
          <a:ln w="12700">
            <a:solidFill>
              <a:srgbClr val="D8E0E8"/>
            </a:solidFill>
            <a:prstDash val="solid"/>
          </a:ln>
        </p:spPr>
      </p:sp>
      <p:sp>
        <p:nvSpPr>
          <p:cNvPr id="21" name="Text 18"/>
          <p:cNvSpPr/>
          <p:nvPr/>
        </p:nvSpPr>
        <p:spPr>
          <a:xfrm>
            <a:off x="7863840" y="336499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Ý nghĩa với thương hiệu</a:t>
            </a:r>
            <a:endParaRPr lang="en-US" sz="950" dirty="0"/>
          </a:p>
        </p:txBody>
      </p:sp>
      <p:sp>
        <p:nvSpPr>
          <p:cNvPr id="22" name="Text 19"/>
          <p:cNvSpPr/>
          <p:nvPr/>
        </p:nvSpPr>
        <p:spPr>
          <a:xfrm>
            <a:off x="7845552" y="3694176"/>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Bảo Việt Nhân Thọ là thương hiệu giữ cho hành trình tiếp tục.</a:t>
            </a:r>
            <a:endParaRPr lang="en-US" sz="1120" dirty="0"/>
          </a:p>
        </p:txBody>
      </p:sp>
      <p:sp>
        <p:nvSpPr>
          <p:cNvPr id="23" name="Text 20"/>
          <p:cNvSpPr/>
          <p:nvPr/>
        </p:nvSpPr>
        <p:spPr>
          <a:xfrm>
            <a:off x="7845552" y="4041648"/>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Ngôn ngữ event trở thành ngôn ngữ thương hiệu một cách tự nhiên.</a:t>
            </a:r>
            <a:endParaRPr lang="en-US" sz="1120" dirty="0"/>
          </a:p>
        </p:txBody>
      </p:sp>
      <p:sp>
        <p:nvSpPr>
          <p:cNvPr id="24" name="Text 21"/>
          <p:cNvSpPr/>
          <p:nvPr/>
        </p:nvSpPr>
        <p:spPr>
          <a:xfrm>
            <a:off x="7845552" y="4389120"/>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Insight này đủ giàu để phát triển thành platform nhiều năm.</a:t>
            </a:r>
            <a:endParaRPr lang="en-US" sz="112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PROBLEM +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Bài toán không phải tìm chỗ đặt logo. Bài toán là tạo nơi để niềm tin được cảm nhận.</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bảo hiểm thường đúng về lý lẽ, nhưng thiếu những khoảnh khắc văn hóa đủ mạnh để được nhớ bằng cảm xúc.</a:t>
            </a:r>
            <a:endParaRPr lang="en-US" sz="1100" dirty="0"/>
          </a:p>
        </p:txBody>
      </p:sp>
      <p:sp>
        <p:nvSpPr>
          <p:cNvPr id="6" name="Shape 3"/>
          <p:cNvSpPr/>
          <p:nvPr/>
        </p:nvSpPr>
        <p:spPr>
          <a:xfrm>
            <a:off x="822960" y="2048256"/>
            <a:ext cx="4983480" cy="2999232"/>
          </a:xfrm>
          <a:prstGeom prst="roundRect">
            <a:avLst>
              <a:gd name="adj" fmla="val 1524"/>
            </a:avLst>
          </a:prstGeom>
          <a:solidFill>
            <a:srgbClr val="FFFFFF"/>
          </a:solidFill>
          <a:ln w="12700">
            <a:solidFill>
              <a:srgbClr val="D8E0E8"/>
            </a:solidFill>
            <a:prstDash val="solid"/>
          </a:ln>
        </p:spPr>
      </p:sp>
      <p:sp>
        <p:nvSpPr>
          <p:cNvPr id="7" name="Text 4"/>
          <p:cNvSpPr/>
          <p:nvPr/>
        </p:nvSpPr>
        <p:spPr>
          <a:xfrm>
            <a:off x="1078992" y="2322576"/>
            <a:ext cx="1645920" cy="146304"/>
          </a:xfrm>
          <a:prstGeom prst="rect">
            <a:avLst/>
          </a:prstGeom>
          <a:noFill/>
          <a:ln/>
        </p:spPr>
        <p:txBody>
          <a:bodyPr wrap="square" lIns="0" tIns="0" rIns="0" bIns="0" rtlCol="0" anchor="t"/>
          <a:lstStyle/>
          <a:p>
            <a:pPr algn="l" indent="0" marL="0">
              <a:buNone/>
            </a:pPr>
            <a:r>
              <a:rPr lang="en-US" sz="950" b="1" dirty="0">
                <a:solidFill>
                  <a:srgbClr val="5C6C7B"/>
                </a:solidFill>
                <a:latin typeface="Barlow" pitchFamily="34" charset="0"/>
                <a:ea typeface="Barlow" pitchFamily="34" charset="-122"/>
                <a:cs typeface="Barlow" pitchFamily="34" charset="-120"/>
              </a:rPr>
              <a:t>BRAND PROBLEM</a:t>
            </a:r>
            <a:endParaRPr lang="en-US" sz="950" dirty="0"/>
          </a:p>
        </p:txBody>
      </p:sp>
      <p:sp>
        <p:nvSpPr>
          <p:cNvPr id="8" name="Text 5"/>
          <p:cNvSpPr/>
          <p:nvPr/>
        </p:nvSpPr>
        <p:spPr>
          <a:xfrm>
            <a:off x="1078992" y="2615184"/>
            <a:ext cx="4114800" cy="438912"/>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Thông điệp bảo vệ gia đình đúng, nhưng nghe đã quen.</a:t>
            </a:r>
            <a:endParaRPr lang="en-US" sz="2000" dirty="0"/>
          </a:p>
        </p:txBody>
      </p:sp>
      <p:sp>
        <p:nvSpPr>
          <p:cNvPr id="9" name="Text 6"/>
          <p:cNvSpPr/>
          <p:nvPr/>
        </p:nvSpPr>
        <p:spPr>
          <a:xfrm>
            <a:off x="1078992" y="327355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Truyền thông ngắn hạn tạo reach nhưng hiếm khi tạo tài sản sở hữu lâu dài.</a:t>
            </a:r>
            <a:endParaRPr lang="en-US" sz="1110" dirty="0"/>
          </a:p>
        </p:txBody>
      </p:sp>
      <p:sp>
        <p:nvSpPr>
          <p:cNvPr id="10" name="Text 7"/>
          <p:cNvSpPr/>
          <p:nvPr/>
        </p:nvSpPr>
        <p:spPr>
          <a:xfrm>
            <a:off x="1078992" y="3657600"/>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hàng cần cảm thấy thương hiệu đáng tin, không chỉ thấy thương hiệu xuất hiện.</a:t>
            </a:r>
            <a:endParaRPr lang="en-US" sz="1110" dirty="0"/>
          </a:p>
        </p:txBody>
      </p:sp>
      <p:sp>
        <p:nvSpPr>
          <p:cNvPr id="11" name="Text 8"/>
          <p:cNvSpPr/>
          <p:nvPr/>
        </p:nvSpPr>
        <p:spPr>
          <a:xfrm>
            <a:off x="1078992"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Cần một không gian để brand truth được trải nghiệm bằng văn hóa.</a:t>
            </a:r>
            <a:endParaRPr lang="en-US" sz="1110" dirty="0"/>
          </a:p>
        </p:txBody>
      </p:sp>
      <p:sp>
        <p:nvSpPr>
          <p:cNvPr id="12" name="Shape 9"/>
          <p:cNvSpPr/>
          <p:nvPr/>
        </p:nvSpPr>
        <p:spPr>
          <a:xfrm>
            <a:off x="6382512" y="2048256"/>
            <a:ext cx="5001768" cy="2999232"/>
          </a:xfrm>
          <a:prstGeom prst="roundRect">
            <a:avLst>
              <a:gd name="adj" fmla="val 1524"/>
            </a:avLst>
          </a:prstGeom>
          <a:solidFill>
            <a:srgbClr val="EEF5FB"/>
          </a:solidFill>
          <a:ln w="12700">
            <a:solidFill>
              <a:srgbClr val="D8E0E8"/>
            </a:solidFill>
            <a:prstDash val="solid"/>
          </a:ln>
        </p:spPr>
      </p:sp>
      <p:sp>
        <p:nvSpPr>
          <p:cNvPr id="13" name="Text 10"/>
          <p:cNvSpPr/>
          <p:nvPr/>
        </p:nvSpPr>
        <p:spPr>
          <a:xfrm>
            <a:off x="6638544" y="2322576"/>
            <a:ext cx="18288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BRAND OPPORTUNITY</a:t>
            </a:r>
            <a:endParaRPr lang="en-US" sz="950" dirty="0"/>
          </a:p>
        </p:txBody>
      </p:sp>
      <p:sp>
        <p:nvSpPr>
          <p:cNvPr id="14" name="Text 11"/>
          <p:cNvSpPr/>
          <p:nvPr/>
        </p:nvSpPr>
        <p:spPr>
          <a:xfrm>
            <a:off x="6638544" y="2615184"/>
            <a:ext cx="4206240" cy="493776"/>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Trở thành người giữ nhịp cho một nghi lễ cộng đồng được mong đợi.</a:t>
            </a:r>
            <a:endParaRPr lang="en-US" sz="2000" dirty="0"/>
          </a:p>
        </p:txBody>
      </p:sp>
      <p:sp>
        <p:nvSpPr>
          <p:cNvPr id="15" name="Text 12"/>
          <p:cNvSpPr/>
          <p:nvPr/>
        </p:nvSpPr>
        <p:spPr>
          <a:xfrm>
            <a:off x="6638544" y="3273552"/>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tên cho một chuẩn mực tổ chức mới của giải đua ghe Huế.</a:t>
            </a:r>
            <a:endParaRPr lang="en-US" sz="1110" dirty="0"/>
          </a:p>
        </p:txBody>
      </p:sp>
      <p:sp>
        <p:nvSpPr>
          <p:cNvPr id="16" name="Text 13"/>
          <p:cNvSpPr/>
          <p:nvPr/>
        </p:nvSpPr>
        <p:spPr>
          <a:xfrm>
            <a:off x="6638544" y="3657600"/>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Biến 'bảo vệ sự tiếp nối' thành trải nghiệm nhìn thấy và chạm được.</a:t>
            </a:r>
            <a:endParaRPr lang="en-US" sz="1110" dirty="0"/>
          </a:p>
        </p:txBody>
      </p:sp>
      <p:sp>
        <p:nvSpPr>
          <p:cNvPr id="17" name="Text 14"/>
          <p:cNvSpPr/>
          <p:nvPr/>
        </p:nvSpPr>
        <p:spPr>
          <a:xfrm>
            <a:off x="6638544" y="4041648"/>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Mở ra hệ IMC đủ lớn để kể chuyện thương hiệu ở quy mô quốc gia.</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44" b="1" dirty="0">
                <a:solidFill>
                  <a:srgbClr val="114A7A"/>
                </a:solidFill>
                <a:latin typeface="Barlow" pitchFamily="34" charset="0"/>
                <a:ea typeface="Barlow" pitchFamily="34" charset="-122"/>
                <a:cs typeface="Barlow" pitchFamily="34" charset="-120"/>
              </a:rPr>
              <a:t>Vai trò của Bảo Việt Nhân Thọ phải lớn hơn một title sponsor.</a:t>
            </a:r>
            <a:endParaRPr lang="en-US" sz="2144"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không chỉ hiện diện ở giải đấu. Thương hiệu hiện diện ở chính ý nghĩa làm cho giải đấu đáng nhớ hơn.</a:t>
            </a:r>
            <a:endParaRPr lang="en-US" sz="1100" dirty="0"/>
          </a:p>
        </p:txBody>
      </p:sp>
      <p:sp>
        <p:nvSpPr>
          <p:cNvPr id="6" name="Shape 3"/>
          <p:cNvSpPr/>
          <p:nvPr/>
        </p:nvSpPr>
        <p:spPr>
          <a:xfrm>
            <a:off x="822960" y="2103120"/>
            <a:ext cx="3310128" cy="2999232"/>
          </a:xfrm>
          <a:prstGeom prst="roundRect">
            <a:avLst>
              <a:gd name="adj" fmla="val 1524"/>
            </a:avLst>
          </a:prstGeom>
          <a:solidFill>
            <a:srgbClr val="FFFFFF"/>
          </a:solidFill>
          <a:ln w="12700">
            <a:solidFill>
              <a:srgbClr val="D8E0E8"/>
            </a:solidFill>
            <a:prstDash val="solid"/>
          </a:ln>
        </p:spPr>
      </p:sp>
      <p:sp>
        <p:nvSpPr>
          <p:cNvPr id="7" name="Shape 4"/>
          <p:cNvSpPr/>
          <p:nvPr/>
        </p:nvSpPr>
        <p:spPr>
          <a:xfrm>
            <a:off x="969264" y="2249424"/>
            <a:ext cx="3017520" cy="45720"/>
          </a:xfrm>
          <a:prstGeom prst="rect">
            <a:avLst/>
          </a:prstGeom>
          <a:solidFill>
            <a:srgbClr val="0B6CB8"/>
          </a:solidFill>
          <a:ln w="12700">
            <a:solidFill>
              <a:srgbClr val="0B6CB8"/>
            </a:solidFill>
            <a:prstDash val="solid"/>
          </a:ln>
        </p:spPr>
      </p:sp>
      <p:sp>
        <p:nvSpPr>
          <p:cNvPr id="8" name="Text 5"/>
          <p:cNvSpPr/>
          <p:nvPr/>
        </p:nvSpPr>
        <p:spPr>
          <a:xfrm>
            <a:off x="1024128" y="2377440"/>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ROLE</a:t>
            </a:r>
            <a:endParaRPr lang="en-US" sz="920" dirty="0"/>
          </a:p>
        </p:txBody>
      </p:sp>
      <p:sp>
        <p:nvSpPr>
          <p:cNvPr id="9" name="Text 6"/>
          <p:cNvSpPr/>
          <p:nvPr/>
        </p:nvSpPr>
        <p:spPr>
          <a:xfrm>
            <a:off x="1024128"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Title sponsor of a new standard</a:t>
            </a:r>
            <a:endParaRPr lang="en-US" sz="1700" dirty="0"/>
          </a:p>
        </p:txBody>
      </p:sp>
      <p:sp>
        <p:nvSpPr>
          <p:cNvPr id="10" name="Text 7"/>
          <p:cNvSpPr/>
          <p:nvPr/>
        </p:nvSpPr>
        <p:spPr>
          <a:xfrm>
            <a:off x="1024128"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Đặt tên cho giải đấu, cúp vô địch và toàn bộ chuẩn mực tổ chức mới của sự kiện.</a:t>
            </a:r>
            <a:endParaRPr lang="en-US" sz="1080" dirty="0"/>
          </a:p>
        </p:txBody>
      </p:sp>
      <p:sp>
        <p:nvSpPr>
          <p:cNvPr id="11" name="Shape 8"/>
          <p:cNvSpPr/>
          <p:nvPr/>
        </p:nvSpPr>
        <p:spPr>
          <a:xfrm>
            <a:off x="4443984" y="2103120"/>
            <a:ext cx="3310128" cy="2999232"/>
          </a:xfrm>
          <a:prstGeom prst="roundRect">
            <a:avLst>
              <a:gd name="adj" fmla="val 1524"/>
            </a:avLst>
          </a:prstGeom>
          <a:solidFill>
            <a:srgbClr val="F8F3E8"/>
          </a:solidFill>
          <a:ln w="12700">
            <a:solidFill>
              <a:srgbClr val="D8E0E8"/>
            </a:solidFill>
            <a:prstDash val="solid"/>
          </a:ln>
        </p:spPr>
      </p:sp>
      <p:sp>
        <p:nvSpPr>
          <p:cNvPr id="12" name="Shape 9"/>
          <p:cNvSpPr/>
          <p:nvPr/>
        </p:nvSpPr>
        <p:spPr>
          <a:xfrm>
            <a:off x="4590288" y="2249424"/>
            <a:ext cx="3017520" cy="45720"/>
          </a:xfrm>
          <a:prstGeom prst="rect">
            <a:avLst/>
          </a:prstGeom>
          <a:solidFill>
            <a:srgbClr val="C99211"/>
          </a:solidFill>
          <a:ln w="12700">
            <a:solidFill>
              <a:srgbClr val="C99211"/>
            </a:solidFill>
            <a:prstDash val="solid"/>
          </a:ln>
        </p:spPr>
      </p:sp>
      <p:sp>
        <p:nvSpPr>
          <p:cNvPr id="13" name="Text 10"/>
          <p:cNvSpPr/>
          <p:nvPr/>
        </p:nvSpPr>
        <p:spPr>
          <a:xfrm>
            <a:off x="4645152" y="2377440"/>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ROLE</a:t>
            </a:r>
            <a:endParaRPr lang="en-US" sz="920" dirty="0"/>
          </a:p>
        </p:txBody>
      </p:sp>
      <p:sp>
        <p:nvSpPr>
          <p:cNvPr id="14" name="Text 11"/>
          <p:cNvSpPr/>
          <p:nvPr/>
        </p:nvSpPr>
        <p:spPr>
          <a:xfrm>
            <a:off x="4645152"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Guardian of continuity</a:t>
            </a:r>
            <a:endParaRPr lang="en-US" sz="1700" dirty="0"/>
          </a:p>
        </p:txBody>
      </p:sp>
      <p:sp>
        <p:nvSpPr>
          <p:cNvPr id="15" name="Text 12"/>
          <p:cNvSpPr/>
          <p:nvPr/>
        </p:nvSpPr>
        <p:spPr>
          <a:xfrm>
            <a:off x="4645152"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Đại diện cho lời hứa giữ cho hành trình gia đình, cộng đồng và di sản không ngừng lại.</a:t>
            </a:r>
            <a:endParaRPr lang="en-US" sz="1080" dirty="0"/>
          </a:p>
        </p:txBody>
      </p:sp>
      <p:sp>
        <p:nvSpPr>
          <p:cNvPr id="16" name="Shape 13"/>
          <p:cNvSpPr/>
          <p:nvPr/>
        </p:nvSpPr>
        <p:spPr>
          <a:xfrm>
            <a:off x="8065008" y="2103120"/>
            <a:ext cx="3319272" cy="2999232"/>
          </a:xfrm>
          <a:prstGeom prst="roundRect">
            <a:avLst>
              <a:gd name="adj" fmla="val 1524"/>
            </a:avLst>
          </a:prstGeom>
          <a:solidFill>
            <a:srgbClr val="FFFFFF"/>
          </a:solidFill>
          <a:ln w="12700">
            <a:solidFill>
              <a:srgbClr val="D8E0E8"/>
            </a:solidFill>
            <a:prstDash val="solid"/>
          </a:ln>
        </p:spPr>
      </p:sp>
      <p:sp>
        <p:nvSpPr>
          <p:cNvPr id="17" name="Shape 14"/>
          <p:cNvSpPr/>
          <p:nvPr/>
        </p:nvSpPr>
        <p:spPr>
          <a:xfrm>
            <a:off x="8211312" y="2249424"/>
            <a:ext cx="3026664" cy="45720"/>
          </a:xfrm>
          <a:prstGeom prst="rect">
            <a:avLst/>
          </a:prstGeom>
          <a:solidFill>
            <a:srgbClr val="0B6CB8"/>
          </a:solidFill>
          <a:ln w="12700">
            <a:solidFill>
              <a:srgbClr val="0B6CB8"/>
            </a:solidFill>
            <a:prstDash val="solid"/>
          </a:ln>
        </p:spPr>
      </p:sp>
      <p:sp>
        <p:nvSpPr>
          <p:cNvPr id="18" name="Text 15"/>
          <p:cNvSpPr/>
          <p:nvPr/>
        </p:nvSpPr>
        <p:spPr>
          <a:xfrm>
            <a:off x="8266176" y="2377440"/>
            <a:ext cx="291693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ROLE</a:t>
            </a:r>
            <a:endParaRPr lang="en-US" sz="920" dirty="0"/>
          </a:p>
        </p:txBody>
      </p:sp>
      <p:sp>
        <p:nvSpPr>
          <p:cNvPr id="19" name="Text 16"/>
          <p:cNvSpPr/>
          <p:nvPr/>
        </p:nvSpPr>
        <p:spPr>
          <a:xfrm>
            <a:off x="8266176" y="2633472"/>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Curator of cultural pride</a:t>
            </a:r>
            <a:endParaRPr lang="en-US" sz="1700" dirty="0"/>
          </a:p>
        </p:txBody>
      </p:sp>
      <p:sp>
        <p:nvSpPr>
          <p:cNvPr id="20" name="Text 17"/>
          <p:cNvSpPr/>
          <p:nvPr/>
        </p:nvSpPr>
        <p:spPr>
          <a:xfrm>
            <a:off x="8266176" y="3035808"/>
            <a:ext cx="2916936"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Tôn vinh Huế bằng cách nâng nghi lễ truyền thống thành một trải nghiệm có sức lan tỏa quốc gia.</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Lãnh thổ chiến lược trung tâm</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29968"/>
            <a:ext cx="10561320" cy="1426464"/>
          </a:xfrm>
          <a:prstGeom prst="roundRect">
            <a:avLst>
              <a:gd name="adj" fmla="val 3205"/>
            </a:avLst>
          </a:prstGeom>
          <a:solidFill>
            <a:srgbClr val="114A7A"/>
          </a:solidFill>
          <a:ln w="12700">
            <a:solidFill>
              <a:srgbClr val="114A7A"/>
            </a:solidFill>
            <a:prstDash val="solid"/>
          </a:ln>
        </p:spPr>
      </p:sp>
      <p:sp>
        <p:nvSpPr>
          <p:cNvPr id="7" name="Text 4"/>
          <p:cNvSpPr/>
          <p:nvPr/>
        </p:nvSpPr>
        <p:spPr>
          <a:xfrm>
            <a:off x="1060704" y="2249424"/>
            <a:ext cx="10085832" cy="111556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platform đủ rộng để kể về bảo vệ gia đình, đủ sâu để chạm vào văn hóa Huế, và đủ linh hoạt để trở thành tài sản thương hiệu thường niên.</a:t>
            </a:r>
            <a:endParaRPr lang="en-US" sz="2000" dirty="0"/>
          </a:p>
        </p:txBody>
      </p:sp>
      <p:sp>
        <p:nvSpPr>
          <p:cNvPr id="8" name="Shape 5"/>
          <p:cNvSpPr/>
          <p:nvPr/>
        </p:nvSpPr>
        <p:spPr>
          <a:xfrm>
            <a:off x="822960" y="3730752"/>
            <a:ext cx="3310128" cy="1572768"/>
          </a:xfrm>
          <a:prstGeom prst="roundRect">
            <a:avLst>
              <a:gd name="adj" fmla="val 2907"/>
            </a:avLst>
          </a:prstGeom>
          <a:solidFill>
            <a:srgbClr val="F8F3E8"/>
          </a:solidFill>
          <a:ln w="12700">
            <a:solidFill>
              <a:srgbClr val="D8E0E8"/>
            </a:solidFill>
            <a:prstDash val="solid"/>
          </a:ln>
        </p:spPr>
      </p:sp>
      <p:sp>
        <p:nvSpPr>
          <p:cNvPr id="9" name="Shape 6"/>
          <p:cNvSpPr/>
          <p:nvPr/>
        </p:nvSpPr>
        <p:spPr>
          <a:xfrm>
            <a:off x="969264" y="3877056"/>
            <a:ext cx="3017520" cy="45720"/>
          </a:xfrm>
          <a:prstGeom prst="rect">
            <a:avLst/>
          </a:prstGeom>
          <a:solidFill>
            <a:srgbClr val="C99211"/>
          </a:solidFill>
          <a:ln w="12700">
            <a:solidFill>
              <a:srgbClr val="C99211"/>
            </a:solidFill>
            <a:prstDash val="solid"/>
          </a:ln>
        </p:spPr>
      </p:sp>
      <p:sp>
        <p:nvSpPr>
          <p:cNvPr id="10" name="Text 7"/>
          <p:cNvSpPr/>
          <p:nvPr/>
        </p:nvSpPr>
        <p:spPr>
          <a:xfrm>
            <a:off x="1024128" y="400507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BRAND TRUTH</a:t>
            </a:r>
            <a:endParaRPr lang="en-US" sz="920" dirty="0"/>
          </a:p>
        </p:txBody>
      </p:sp>
      <p:sp>
        <p:nvSpPr>
          <p:cNvPr id="11" name="Text 8"/>
          <p:cNvSpPr/>
          <p:nvPr/>
        </p:nvSpPr>
        <p:spPr>
          <a:xfrm>
            <a:off x="1024128"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bảo vệ sự tiếp nối</a:t>
            </a:r>
            <a:endParaRPr lang="en-US" sz="1700" dirty="0"/>
          </a:p>
        </p:txBody>
      </p:sp>
      <p:sp>
        <p:nvSpPr>
          <p:cNvPr id="12" name="Text 9"/>
          <p:cNvSpPr/>
          <p:nvPr/>
        </p:nvSpPr>
        <p:spPr>
          <a:xfrm>
            <a:off x="1024128"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Giữ cho gia đình đi tiếp qua biến động.</a:t>
            </a:r>
            <a:endParaRPr lang="en-US" sz="1080" dirty="0"/>
          </a:p>
        </p:txBody>
      </p:sp>
      <p:sp>
        <p:nvSpPr>
          <p:cNvPr id="13" name="Shape 10"/>
          <p:cNvSpPr/>
          <p:nvPr/>
        </p:nvSpPr>
        <p:spPr>
          <a:xfrm>
            <a:off x="4443984" y="3730752"/>
            <a:ext cx="3310128" cy="1572768"/>
          </a:xfrm>
          <a:prstGeom prst="roundRect">
            <a:avLst>
              <a:gd name="adj" fmla="val 2907"/>
            </a:avLst>
          </a:prstGeom>
          <a:solidFill>
            <a:srgbClr val="EEF5FB"/>
          </a:solidFill>
          <a:ln w="12700">
            <a:solidFill>
              <a:srgbClr val="D8E0E8"/>
            </a:solidFill>
            <a:prstDash val="solid"/>
          </a:ln>
        </p:spPr>
      </p:sp>
      <p:sp>
        <p:nvSpPr>
          <p:cNvPr id="14" name="Shape 11"/>
          <p:cNvSpPr/>
          <p:nvPr/>
        </p:nvSpPr>
        <p:spPr>
          <a:xfrm>
            <a:off x="4590288" y="3877056"/>
            <a:ext cx="3017520" cy="45720"/>
          </a:xfrm>
          <a:prstGeom prst="rect">
            <a:avLst/>
          </a:prstGeom>
          <a:solidFill>
            <a:srgbClr val="0B6CB8"/>
          </a:solidFill>
          <a:ln w="12700">
            <a:solidFill>
              <a:srgbClr val="0B6CB8"/>
            </a:solidFill>
            <a:prstDash val="solid"/>
          </a:ln>
        </p:spPr>
      </p:sp>
      <p:sp>
        <p:nvSpPr>
          <p:cNvPr id="15" name="Text 12"/>
          <p:cNvSpPr/>
          <p:nvPr/>
        </p:nvSpPr>
        <p:spPr>
          <a:xfrm>
            <a:off x="4645152" y="400507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HUMAN TRUTH</a:t>
            </a:r>
            <a:endParaRPr lang="en-US" sz="920" dirty="0"/>
          </a:p>
        </p:txBody>
      </p:sp>
      <p:sp>
        <p:nvSpPr>
          <p:cNvPr id="16" name="Text 13"/>
          <p:cNvSpPr/>
          <p:nvPr/>
        </p:nvSpPr>
        <p:spPr>
          <a:xfrm>
            <a:off x="4645152"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Gia đình luôn cần một điểm tựa</a:t>
            </a:r>
            <a:endParaRPr lang="en-US" sz="1700" dirty="0"/>
          </a:p>
        </p:txBody>
      </p:sp>
      <p:sp>
        <p:nvSpPr>
          <p:cNvPr id="17" name="Text 14"/>
          <p:cNvSpPr/>
          <p:nvPr/>
        </p:nvSpPr>
        <p:spPr>
          <a:xfrm>
            <a:off x="4645152"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Điều được bảo vệ không chỉ là tài chính, mà là nhịp sống.</a:t>
            </a:r>
            <a:endParaRPr lang="en-US" sz="1080" dirty="0"/>
          </a:p>
        </p:txBody>
      </p:sp>
      <p:sp>
        <p:nvSpPr>
          <p:cNvPr id="18" name="Shape 15"/>
          <p:cNvSpPr/>
          <p:nvPr/>
        </p:nvSpPr>
        <p:spPr>
          <a:xfrm>
            <a:off x="8065008" y="3730752"/>
            <a:ext cx="3319272" cy="1572768"/>
          </a:xfrm>
          <a:prstGeom prst="roundRect">
            <a:avLst>
              <a:gd name="adj" fmla="val 2907"/>
            </a:avLst>
          </a:prstGeom>
          <a:solidFill>
            <a:srgbClr val="F8F3E8"/>
          </a:solidFill>
          <a:ln w="12700">
            <a:solidFill>
              <a:srgbClr val="D8E0E8"/>
            </a:solidFill>
            <a:prstDash val="solid"/>
          </a:ln>
        </p:spPr>
      </p:sp>
      <p:sp>
        <p:nvSpPr>
          <p:cNvPr id="19" name="Shape 16"/>
          <p:cNvSpPr/>
          <p:nvPr/>
        </p:nvSpPr>
        <p:spPr>
          <a:xfrm>
            <a:off x="8211312" y="3877056"/>
            <a:ext cx="3026664" cy="45720"/>
          </a:xfrm>
          <a:prstGeom prst="rect">
            <a:avLst/>
          </a:prstGeom>
          <a:solidFill>
            <a:srgbClr val="C99211"/>
          </a:solidFill>
          <a:ln w="12700">
            <a:solidFill>
              <a:srgbClr val="C99211"/>
            </a:solidFill>
            <a:prstDash val="solid"/>
          </a:ln>
        </p:spPr>
      </p:sp>
      <p:sp>
        <p:nvSpPr>
          <p:cNvPr id="20" name="Text 17"/>
          <p:cNvSpPr/>
          <p:nvPr/>
        </p:nvSpPr>
        <p:spPr>
          <a:xfrm>
            <a:off x="8266176" y="400507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CULTURAL TRUTH</a:t>
            </a:r>
            <a:endParaRPr lang="en-US" sz="920" dirty="0"/>
          </a:p>
        </p:txBody>
      </p:sp>
      <p:sp>
        <p:nvSpPr>
          <p:cNvPr id="21" name="Text 18"/>
          <p:cNvSpPr/>
          <p:nvPr/>
        </p:nvSpPr>
        <p:spPr>
          <a:xfrm>
            <a:off x="8266176" y="426110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tôn vinh sự gìn giữ</a:t>
            </a:r>
            <a:endParaRPr lang="en-US" sz="1700" dirty="0"/>
          </a:p>
        </p:txBody>
      </p:sp>
      <p:sp>
        <p:nvSpPr>
          <p:cNvPr id="22" name="Text 19"/>
          <p:cNvSpPr/>
          <p:nvPr/>
        </p:nvSpPr>
        <p:spPr>
          <a:xfrm>
            <a:off x="8266176" y="4663440"/>
            <a:ext cx="2916936"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Nơi ký ức và truyền đời luôn có giá trị đặc biệt.</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3396" b="1" dirty="0">
                <a:solidFill>
                  <a:srgbClr val="FFFFFF"/>
                </a:solidFill>
                <a:latin typeface="Barlow" pitchFamily="34" charset="0"/>
                <a:ea typeface="Barlow" pitchFamily="34" charset="-122"/>
                <a:cs typeface="Barlow" pitchFamily="34" charset="-120"/>
              </a:rPr>
              <a:t>GIỮ MÁI CHÈO DI SẢN</a:t>
            </a:r>
            <a:endParaRPr lang="en-US" sz="3396"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Một câu nói gói được cả người trụ cột, gia đình, Huế, và vai trò bảo vệ của thương hiệu.</a:t>
            </a:r>
            <a:endParaRPr lang="en-US" sz="1400" dirty="0"/>
          </a:p>
        </p:txBody>
      </p:sp>
      <p:sp>
        <p:nvSpPr>
          <p:cNvPr id="8" name="Shape 5"/>
          <p:cNvSpPr/>
          <p:nvPr/>
        </p:nvSpPr>
        <p:spPr>
          <a:xfrm>
            <a:off x="1078992" y="4297680"/>
            <a:ext cx="1572768"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70832"/>
            <a:ext cx="146304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BIG IDEA REVEAL</a:t>
            </a:r>
            <a:endParaRPr lang="en-US" sz="920" dirty="0"/>
          </a:p>
        </p:txBody>
      </p:sp>
      <p:sp>
        <p:nvSpPr>
          <p:cNvPr id="10" name="Shape 7"/>
          <p:cNvSpPr/>
          <p:nvPr/>
        </p:nvSpPr>
        <p:spPr>
          <a:xfrm>
            <a:off x="1078992" y="4736592"/>
            <a:ext cx="4206240" cy="566928"/>
          </a:xfrm>
          <a:prstGeom prst="roundRect">
            <a:avLst>
              <a:gd name="adj" fmla="val 8065"/>
            </a:avLst>
          </a:prstGeom>
          <a:solidFill>
            <a:srgbClr val="EEF3F8"/>
          </a:solidFill>
          <a:ln w="12700">
            <a:solidFill>
              <a:srgbClr val="D8E0E8"/>
            </a:solidFill>
            <a:prstDash val="solid"/>
          </a:ln>
        </p:spPr>
      </p:sp>
      <p:sp>
        <p:nvSpPr>
          <p:cNvPr id="11" name="Text 8"/>
          <p:cNvSpPr/>
          <p:nvPr/>
        </p:nvSpPr>
        <p:spPr>
          <a:xfrm>
            <a:off x="1261872" y="4928616"/>
            <a:ext cx="38404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Bảo Việt Nhân Thọ - Giữ mái chèo hôm nay, chở che muôn thế hệ mai sau.</a:t>
            </a:r>
            <a:endParaRPr lang="en-US" sz="116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THIS IDEA WORKS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Big Idea mạnh phải đúng với thương hiệu, đúng với văn hóa và đủ lớn để tích lũy qua nhiều năm.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'Giữ Mái Chèo Di Sản' chiến thắng vì vừa có hình ảnh mạnh, vừa có chiều sâu ngữ nghĩa và quyền sở hữu thương hiệu.</a:t>
            </a:r>
            <a:endParaRPr lang="en-US" sz="1100" dirty="0"/>
          </a:p>
        </p:txBody>
      </p:sp>
      <p:sp>
        <p:nvSpPr>
          <p:cNvPr id="6" name="Shape 3"/>
          <p:cNvSpPr/>
          <p:nvPr/>
        </p:nvSpPr>
        <p:spPr>
          <a:xfrm>
            <a:off x="822960" y="2029968"/>
            <a:ext cx="3310128" cy="1755648"/>
          </a:xfrm>
          <a:prstGeom prst="roundRect">
            <a:avLst>
              <a:gd name="adj" fmla="val 2604"/>
            </a:avLst>
          </a:prstGeom>
          <a:solidFill>
            <a:srgbClr val="F8F3E8"/>
          </a:solidFill>
          <a:ln w="12700">
            <a:solidFill>
              <a:srgbClr val="D8E0E8"/>
            </a:solidFill>
            <a:prstDash val="solid"/>
          </a:ln>
        </p:spPr>
      </p:sp>
      <p:sp>
        <p:nvSpPr>
          <p:cNvPr id="7" name="Shape 4"/>
          <p:cNvSpPr/>
          <p:nvPr/>
        </p:nvSpPr>
        <p:spPr>
          <a:xfrm>
            <a:off x="969264" y="2176272"/>
            <a:ext cx="3017520" cy="45720"/>
          </a:xfrm>
          <a:prstGeom prst="rect">
            <a:avLst/>
          </a:prstGeom>
          <a:solidFill>
            <a:srgbClr val="C99211"/>
          </a:solidFill>
          <a:ln w="12700">
            <a:solidFill>
              <a:srgbClr val="C99211"/>
            </a:solidFill>
            <a:prstDash val="solid"/>
          </a:ln>
        </p:spPr>
      </p:sp>
      <p:sp>
        <p:nvSpPr>
          <p:cNvPr id="8" name="Text 5"/>
          <p:cNvSpPr/>
          <p:nvPr/>
        </p:nvSpPr>
        <p:spPr>
          <a:xfrm>
            <a:off x="1024128" y="230428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EMOTIONAL</a:t>
            </a:r>
            <a:endParaRPr lang="en-US" sz="920" dirty="0"/>
          </a:p>
        </p:txBody>
      </p:sp>
      <p:sp>
        <p:nvSpPr>
          <p:cNvPr id="9" name="Text 6"/>
          <p:cNvSpPr/>
          <p:nvPr/>
        </p:nvSpPr>
        <p:spPr>
          <a:xfrm>
            <a:off x="1024128"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Chạm vào người giữ nhịp</a:t>
            </a:r>
            <a:endParaRPr lang="en-US" sz="1700" dirty="0"/>
          </a:p>
        </p:txBody>
      </p:sp>
      <p:sp>
        <p:nvSpPr>
          <p:cNvPr id="10" name="Text 7"/>
          <p:cNvSpPr/>
          <p:nvPr/>
        </p:nvSpPr>
        <p:spPr>
          <a:xfrm>
            <a:off x="1024128"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Mái chèo là biểu tượng của trách nhiệm, bền bỉ và dẫn dắt gia đình.</a:t>
            </a:r>
            <a:endParaRPr lang="en-US" sz="1080" dirty="0"/>
          </a:p>
        </p:txBody>
      </p:sp>
      <p:sp>
        <p:nvSpPr>
          <p:cNvPr id="11" name="Shape 8"/>
          <p:cNvSpPr/>
          <p:nvPr/>
        </p:nvSpPr>
        <p:spPr>
          <a:xfrm>
            <a:off x="4443984" y="2029968"/>
            <a:ext cx="3310128" cy="1755648"/>
          </a:xfrm>
          <a:prstGeom prst="roundRect">
            <a:avLst>
              <a:gd name="adj" fmla="val 2604"/>
            </a:avLst>
          </a:prstGeom>
          <a:solidFill>
            <a:srgbClr val="EEF5FB"/>
          </a:solidFill>
          <a:ln w="12700">
            <a:solidFill>
              <a:srgbClr val="D8E0E8"/>
            </a:solidFill>
            <a:prstDash val="solid"/>
          </a:ln>
        </p:spPr>
      </p:sp>
      <p:sp>
        <p:nvSpPr>
          <p:cNvPr id="12" name="Shape 9"/>
          <p:cNvSpPr/>
          <p:nvPr/>
        </p:nvSpPr>
        <p:spPr>
          <a:xfrm>
            <a:off x="4590288" y="2176272"/>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0428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CULTURAL</a:t>
            </a:r>
            <a:endParaRPr lang="en-US" sz="920" dirty="0"/>
          </a:p>
        </p:txBody>
      </p:sp>
      <p:sp>
        <p:nvSpPr>
          <p:cNvPr id="14" name="Text 11"/>
          <p:cNvSpPr/>
          <p:nvPr/>
        </p:nvSpPr>
        <p:spPr>
          <a:xfrm>
            <a:off x="4645152"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Gắn với Huế một cách tự nhiên</a:t>
            </a:r>
            <a:endParaRPr lang="en-US" sz="1700" dirty="0"/>
          </a:p>
        </p:txBody>
      </p:sp>
      <p:sp>
        <p:nvSpPr>
          <p:cNvPr id="15" name="Text 12"/>
          <p:cNvSpPr/>
          <p:nvPr/>
        </p:nvSpPr>
        <p:spPr>
          <a:xfrm>
            <a:off x="4645152"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mở từ di sản cố đô sang di sản gia đình, không khiên cưỡng.</a:t>
            </a:r>
            <a:endParaRPr lang="en-US" sz="1080" dirty="0"/>
          </a:p>
        </p:txBody>
      </p:sp>
      <p:sp>
        <p:nvSpPr>
          <p:cNvPr id="16" name="Shape 13"/>
          <p:cNvSpPr/>
          <p:nvPr/>
        </p:nvSpPr>
        <p:spPr>
          <a:xfrm>
            <a:off x="8065008" y="2029968"/>
            <a:ext cx="3319272" cy="1755648"/>
          </a:xfrm>
          <a:prstGeom prst="roundRect">
            <a:avLst>
              <a:gd name="adj" fmla="val 2604"/>
            </a:avLst>
          </a:prstGeom>
          <a:solidFill>
            <a:srgbClr val="F8F3E8"/>
          </a:solidFill>
          <a:ln w="12700">
            <a:solidFill>
              <a:srgbClr val="D8E0E8"/>
            </a:solidFill>
            <a:prstDash val="solid"/>
          </a:ln>
        </p:spPr>
      </p:sp>
      <p:sp>
        <p:nvSpPr>
          <p:cNvPr id="17" name="Shape 14"/>
          <p:cNvSpPr/>
          <p:nvPr/>
        </p:nvSpPr>
        <p:spPr>
          <a:xfrm>
            <a:off x="8211312" y="2176272"/>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0428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BRAND FIT</a:t>
            </a:r>
            <a:endParaRPr lang="en-US" sz="920" dirty="0"/>
          </a:p>
        </p:txBody>
      </p:sp>
      <p:sp>
        <p:nvSpPr>
          <p:cNvPr id="19" name="Text 16"/>
          <p:cNvSpPr/>
          <p:nvPr/>
        </p:nvSpPr>
        <p:spPr>
          <a:xfrm>
            <a:off x="8266176" y="256032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Ngôn ngữ sang và đúng chất BVNT</a:t>
            </a:r>
            <a:endParaRPr lang="en-US" sz="1700" dirty="0"/>
          </a:p>
        </p:txBody>
      </p:sp>
      <p:sp>
        <p:nvSpPr>
          <p:cNvPr id="20" name="Text 17"/>
          <p:cNvSpPr/>
          <p:nvPr/>
        </p:nvSpPr>
        <p:spPr>
          <a:xfrm>
            <a:off x="8266176" y="2962656"/>
            <a:ext cx="2916936"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Chữ 'giữ' gần với vai trò cốt lõi của bảo hiểm nhân thọ.</a:t>
            </a:r>
            <a:endParaRPr lang="en-US" sz="1080" dirty="0"/>
          </a:p>
        </p:txBody>
      </p:sp>
      <p:sp>
        <p:nvSpPr>
          <p:cNvPr id="21" name="Shape 18"/>
          <p:cNvSpPr/>
          <p:nvPr/>
        </p:nvSpPr>
        <p:spPr>
          <a:xfrm>
            <a:off x="822960" y="4224528"/>
            <a:ext cx="10561320" cy="950976"/>
          </a:xfrm>
          <a:prstGeom prst="roundRect">
            <a:avLst>
              <a:gd name="adj" fmla="val 4808"/>
            </a:avLst>
          </a:prstGeom>
          <a:solidFill>
            <a:srgbClr val="EEF5FB"/>
          </a:solidFill>
          <a:ln w="12700">
            <a:solidFill>
              <a:srgbClr val="EEF5FB"/>
            </a:solidFill>
            <a:prstDash val="solid"/>
          </a:ln>
        </p:spPr>
      </p:sp>
      <p:sp>
        <p:nvSpPr>
          <p:cNvPr id="22" name="Text 19"/>
          <p:cNvSpPr/>
          <p:nvPr/>
        </p:nvSpPr>
        <p:spPr>
          <a:xfrm>
            <a:off x="1060704" y="4443984"/>
            <a:ext cx="10085832" cy="640080"/>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Không chỉ là idea cho năm 2026. Đây là một territory có thể mở rộng thành signature property nhiều mùa.</a:t>
            </a:r>
            <a:endParaRPr lang="en-US" sz="200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09" b="1" dirty="0">
                <a:solidFill>
                  <a:srgbClr val="114A7A"/>
                </a:solidFill>
                <a:latin typeface="Barlow" pitchFamily="34" charset="0"/>
                <a:ea typeface="Barlow" pitchFamily="34" charset="-122"/>
                <a:cs typeface="Barlow" pitchFamily="34" charset="-120"/>
              </a:rPr>
              <a:t>Hệ thống thông điệp cần rõ tầng, dễ nhớ và dễ triển khai.</a:t>
            </a:r>
            <a:endParaRPr lang="en-US" sz="2309"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Từ boardroom statement đến social hashtag, mọi lớp thông điệp phải dẫn về cùng một vai trò thương hiệu.</a:t>
            </a:r>
            <a:endParaRPr lang="en-US" sz="1100" dirty="0"/>
          </a:p>
        </p:txBody>
      </p:sp>
      <p:sp>
        <p:nvSpPr>
          <p:cNvPr id="6" name="Shape 3"/>
          <p:cNvSpPr/>
          <p:nvPr/>
        </p:nvSpPr>
        <p:spPr>
          <a:xfrm>
            <a:off x="822960" y="2029968"/>
            <a:ext cx="10561320" cy="1225296"/>
          </a:xfrm>
          <a:prstGeom prst="roundRect">
            <a:avLst>
              <a:gd name="adj" fmla="val 3731"/>
            </a:avLst>
          </a:prstGeom>
          <a:solidFill>
            <a:srgbClr val="114A7A"/>
          </a:solidFill>
          <a:ln w="12700">
            <a:solidFill>
              <a:srgbClr val="114A7A"/>
            </a:solidFill>
            <a:prstDash val="solid"/>
          </a:ln>
        </p:spPr>
      </p:sp>
      <p:sp>
        <p:nvSpPr>
          <p:cNvPr id="7" name="Text 4"/>
          <p:cNvSpPr/>
          <p:nvPr/>
        </p:nvSpPr>
        <p:spPr>
          <a:xfrm>
            <a:off x="1060704" y="2249424"/>
            <a:ext cx="10085832" cy="91440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000" dirty="0"/>
          </a:p>
        </p:txBody>
      </p:sp>
      <p:sp>
        <p:nvSpPr>
          <p:cNvPr id="8" name="Shape 5"/>
          <p:cNvSpPr/>
          <p:nvPr/>
        </p:nvSpPr>
        <p:spPr>
          <a:xfrm>
            <a:off x="822960" y="3584448"/>
            <a:ext cx="3310128" cy="1700784"/>
          </a:xfrm>
          <a:prstGeom prst="roundRect">
            <a:avLst>
              <a:gd name="adj" fmla="val 2688"/>
            </a:avLst>
          </a:prstGeom>
          <a:solidFill>
            <a:srgbClr val="F8F3E8"/>
          </a:solidFill>
          <a:ln w="12700">
            <a:solidFill>
              <a:srgbClr val="D8E0E8"/>
            </a:solidFill>
            <a:prstDash val="solid"/>
          </a:ln>
        </p:spPr>
      </p:sp>
      <p:sp>
        <p:nvSpPr>
          <p:cNvPr id="9" name="Shape 6"/>
          <p:cNvSpPr/>
          <p:nvPr/>
        </p:nvSpPr>
        <p:spPr>
          <a:xfrm>
            <a:off x="969264" y="3730752"/>
            <a:ext cx="3017520" cy="45720"/>
          </a:xfrm>
          <a:prstGeom prst="rect">
            <a:avLst/>
          </a:prstGeom>
          <a:solidFill>
            <a:srgbClr val="C99211"/>
          </a:solidFill>
          <a:ln w="12700">
            <a:solidFill>
              <a:srgbClr val="C99211"/>
            </a:solidFill>
            <a:prstDash val="solid"/>
          </a:ln>
        </p:spPr>
      </p:sp>
      <p:sp>
        <p:nvSpPr>
          <p:cNvPr id="10" name="Text 7"/>
          <p:cNvSpPr/>
          <p:nvPr/>
        </p:nvSpPr>
        <p:spPr>
          <a:xfrm>
            <a:off x="1024128" y="385876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BIG IDEA</a:t>
            </a:r>
            <a:endParaRPr lang="en-US" sz="920" dirty="0"/>
          </a:p>
        </p:txBody>
      </p:sp>
      <p:sp>
        <p:nvSpPr>
          <p:cNvPr id="11" name="Text 8"/>
          <p:cNvSpPr/>
          <p:nvPr/>
        </p:nvSpPr>
        <p:spPr>
          <a:xfrm>
            <a:off x="1024128"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di sản</a:t>
            </a:r>
            <a:endParaRPr lang="en-US" sz="1700" dirty="0"/>
          </a:p>
        </p:txBody>
      </p:sp>
      <p:sp>
        <p:nvSpPr>
          <p:cNvPr id="12" name="Text 9"/>
          <p:cNvSpPr/>
          <p:nvPr/>
        </p:nvSpPr>
        <p:spPr>
          <a:xfrm>
            <a:off x="1024128"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event title frame, key visual, teaser và PR headline.</a:t>
            </a:r>
            <a:endParaRPr lang="en-US" sz="1080" dirty="0"/>
          </a:p>
        </p:txBody>
      </p:sp>
      <p:sp>
        <p:nvSpPr>
          <p:cNvPr id="13" name="Shape 10"/>
          <p:cNvSpPr/>
          <p:nvPr/>
        </p:nvSpPr>
        <p:spPr>
          <a:xfrm>
            <a:off x="4443984" y="3584448"/>
            <a:ext cx="3310128" cy="1700784"/>
          </a:xfrm>
          <a:prstGeom prst="roundRect">
            <a:avLst>
              <a:gd name="adj" fmla="val 2688"/>
            </a:avLst>
          </a:prstGeom>
          <a:solidFill>
            <a:srgbClr val="EEF5FB"/>
          </a:solidFill>
          <a:ln w="12700">
            <a:solidFill>
              <a:srgbClr val="D8E0E8"/>
            </a:solidFill>
            <a:prstDash val="solid"/>
          </a:ln>
        </p:spPr>
      </p:sp>
      <p:sp>
        <p:nvSpPr>
          <p:cNvPr id="14" name="Shape 11"/>
          <p:cNvSpPr/>
          <p:nvPr/>
        </p:nvSpPr>
        <p:spPr>
          <a:xfrm>
            <a:off x="4590288" y="3730752"/>
            <a:ext cx="3017520" cy="45720"/>
          </a:xfrm>
          <a:prstGeom prst="rect">
            <a:avLst/>
          </a:prstGeom>
          <a:solidFill>
            <a:srgbClr val="0B6CB8"/>
          </a:solidFill>
          <a:ln w="12700">
            <a:solidFill>
              <a:srgbClr val="0B6CB8"/>
            </a:solidFill>
            <a:prstDash val="solid"/>
          </a:ln>
        </p:spPr>
      </p:sp>
      <p:sp>
        <p:nvSpPr>
          <p:cNvPr id="15" name="Text 12"/>
          <p:cNvSpPr/>
          <p:nvPr/>
        </p:nvSpPr>
        <p:spPr>
          <a:xfrm>
            <a:off x="4645152" y="385876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SIGN-OFF</a:t>
            </a:r>
            <a:endParaRPr lang="en-US" sz="920" dirty="0"/>
          </a:p>
        </p:txBody>
      </p:sp>
      <p:sp>
        <p:nvSpPr>
          <p:cNvPr id="16" name="Text 13"/>
          <p:cNvSpPr/>
          <p:nvPr/>
        </p:nvSpPr>
        <p:spPr>
          <a:xfrm>
            <a:off x="4645152"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7" name="Text 14"/>
          <p:cNvSpPr/>
          <p:nvPr/>
        </p:nvSpPr>
        <p:spPr>
          <a:xfrm>
            <a:off x="4645152"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Lớp ngôn ngữ giàu cảm xúc cho film, lễ tôn vinh và closing.</a:t>
            </a:r>
            <a:endParaRPr lang="en-US" sz="1080" dirty="0"/>
          </a:p>
        </p:txBody>
      </p:sp>
      <p:sp>
        <p:nvSpPr>
          <p:cNvPr id="18" name="Shape 15"/>
          <p:cNvSpPr/>
          <p:nvPr/>
        </p:nvSpPr>
        <p:spPr>
          <a:xfrm>
            <a:off x="8065008" y="3584448"/>
            <a:ext cx="3319272" cy="1700784"/>
          </a:xfrm>
          <a:prstGeom prst="roundRect">
            <a:avLst>
              <a:gd name="adj" fmla="val 2688"/>
            </a:avLst>
          </a:prstGeom>
          <a:solidFill>
            <a:srgbClr val="F8F3E8"/>
          </a:solidFill>
          <a:ln w="12700">
            <a:solidFill>
              <a:srgbClr val="D8E0E8"/>
            </a:solidFill>
            <a:prstDash val="solid"/>
          </a:ln>
        </p:spPr>
      </p:sp>
      <p:sp>
        <p:nvSpPr>
          <p:cNvPr id="19" name="Shape 16"/>
          <p:cNvSpPr/>
          <p:nvPr/>
        </p:nvSpPr>
        <p:spPr>
          <a:xfrm>
            <a:off x="8211312" y="3730752"/>
            <a:ext cx="3026664" cy="45720"/>
          </a:xfrm>
          <a:prstGeom prst="rect">
            <a:avLst/>
          </a:prstGeom>
          <a:solidFill>
            <a:srgbClr val="C99211"/>
          </a:solidFill>
          <a:ln w="12700">
            <a:solidFill>
              <a:srgbClr val="C99211"/>
            </a:solidFill>
            <a:prstDash val="solid"/>
          </a:ln>
        </p:spPr>
      </p:sp>
      <p:sp>
        <p:nvSpPr>
          <p:cNvPr id="20" name="Text 17"/>
          <p:cNvSpPr/>
          <p:nvPr/>
        </p:nvSpPr>
        <p:spPr>
          <a:xfrm>
            <a:off x="8266176" y="385876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66176" y="411480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  #DongChayKhongNgungLai</a:t>
            </a:r>
            <a:endParaRPr lang="en-US" sz="1700" dirty="0"/>
          </a:p>
        </p:txBody>
      </p:sp>
      <p:sp>
        <p:nvSpPr>
          <p:cNvPr id="22" name="Text 19"/>
          <p:cNvSpPr/>
          <p:nvPr/>
        </p:nvSpPr>
        <p:spPr>
          <a:xfrm>
            <a:off x="8266176" y="4517136"/>
            <a:ext cx="2916936"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UGC, challenge và realtime conversation.</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WILL WIN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đề xuất thắng lớn phải chạm đúng ba tầng: ý nghĩa, hình ảnh và khả năng sở hữu.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loại ý tưởng vừa có thể thuyết phục lãnh đạo, vừa đủ mạnh để báo chí và công chúng tự lan truyền.</a:t>
            </a:r>
            <a:endParaRPr lang="en-US" sz="1100" dirty="0"/>
          </a:p>
        </p:txBody>
      </p:sp>
      <p:sp>
        <p:nvSpPr>
          <p:cNvPr id="6" name="Shape 3"/>
          <p:cNvSpPr/>
          <p:nvPr/>
        </p:nvSpPr>
        <p:spPr>
          <a:xfrm>
            <a:off x="822960" y="2048256"/>
            <a:ext cx="5148072" cy="1389888"/>
          </a:xfrm>
          <a:prstGeom prst="roundRect">
            <a:avLst>
              <a:gd name="adj" fmla="val 3289"/>
            </a:avLst>
          </a:prstGeom>
          <a:solidFill>
            <a:srgbClr val="FFFFFF"/>
          </a:solidFill>
          <a:ln w="12700">
            <a:solidFill>
              <a:srgbClr val="D8E0E8"/>
            </a:solidFill>
            <a:prstDash val="solid"/>
          </a:ln>
        </p:spPr>
      </p:sp>
      <p:sp>
        <p:nvSpPr>
          <p:cNvPr id="7" name="Shape 4"/>
          <p:cNvSpPr/>
          <p:nvPr/>
        </p:nvSpPr>
        <p:spPr>
          <a:xfrm>
            <a:off x="969264" y="2194560"/>
            <a:ext cx="4855464" cy="45720"/>
          </a:xfrm>
          <a:prstGeom prst="rect">
            <a:avLst/>
          </a:prstGeom>
          <a:solidFill>
            <a:srgbClr val="0B6CB8"/>
          </a:solidFill>
          <a:ln w="12700">
            <a:solidFill>
              <a:srgbClr val="0B6CB8"/>
            </a:solidFill>
            <a:prstDash val="solid"/>
          </a:ln>
        </p:spPr>
      </p:sp>
      <p:sp>
        <p:nvSpPr>
          <p:cNvPr id="8" name="Text 5"/>
          <p:cNvSpPr/>
          <p:nvPr/>
        </p:nvSpPr>
        <p:spPr>
          <a:xfrm>
            <a:off x="1024128"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9" name="Text 6"/>
          <p:cNvSpPr/>
          <p:nvPr/>
        </p:nvSpPr>
        <p:spPr>
          <a:xfrm>
            <a:off x="1024128"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Liên kết tự nhiên giữa đua ghe, người trụ cột và bảo vệ gia đình.</a:t>
            </a:r>
            <a:endParaRPr lang="en-US" sz="1080" dirty="0"/>
          </a:p>
        </p:txBody>
      </p:sp>
      <p:sp>
        <p:nvSpPr>
          <p:cNvPr id="10" name="Shape 7"/>
          <p:cNvSpPr/>
          <p:nvPr/>
        </p:nvSpPr>
        <p:spPr>
          <a:xfrm>
            <a:off x="6236208" y="2048256"/>
            <a:ext cx="5148072" cy="1389888"/>
          </a:xfrm>
          <a:prstGeom prst="roundRect">
            <a:avLst>
              <a:gd name="adj" fmla="val 3289"/>
            </a:avLst>
          </a:prstGeom>
          <a:solidFill>
            <a:srgbClr val="EEF5FB"/>
          </a:solidFill>
          <a:ln w="12700">
            <a:solidFill>
              <a:srgbClr val="D8E0E8"/>
            </a:solidFill>
            <a:prstDash val="solid"/>
          </a:ln>
        </p:spPr>
      </p:sp>
      <p:sp>
        <p:nvSpPr>
          <p:cNvPr id="11" name="Shape 8"/>
          <p:cNvSpPr/>
          <p:nvPr/>
        </p:nvSpPr>
        <p:spPr>
          <a:xfrm>
            <a:off x="6382512" y="2194560"/>
            <a:ext cx="4855464" cy="45720"/>
          </a:xfrm>
          <a:prstGeom prst="rect">
            <a:avLst/>
          </a:prstGeom>
          <a:solidFill>
            <a:srgbClr val="C99211"/>
          </a:solidFill>
          <a:ln w="12700">
            <a:solidFill>
              <a:srgbClr val="C99211"/>
            </a:solidFill>
            <a:prstDash val="solid"/>
          </a:ln>
        </p:spPr>
      </p:sp>
      <p:sp>
        <p:nvSpPr>
          <p:cNvPr id="12" name="Text 9"/>
          <p:cNvSpPr/>
          <p:nvPr/>
        </p:nvSpPr>
        <p:spPr>
          <a:xfrm>
            <a:off x="6437376"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3" name="Text 10"/>
          <p:cNvSpPr/>
          <p:nvPr/>
        </p:nvSpPr>
        <p:spPr>
          <a:xfrm>
            <a:off x="6437376"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080" dirty="0"/>
          </a:p>
        </p:txBody>
      </p:sp>
      <p:sp>
        <p:nvSpPr>
          <p:cNvPr id="14" name="Shape 11"/>
          <p:cNvSpPr/>
          <p:nvPr/>
        </p:nvSpPr>
        <p:spPr>
          <a:xfrm>
            <a:off x="822960" y="3822192"/>
            <a:ext cx="5148072" cy="1389888"/>
          </a:xfrm>
          <a:prstGeom prst="roundRect">
            <a:avLst>
              <a:gd name="adj" fmla="val 3289"/>
            </a:avLst>
          </a:prstGeom>
          <a:solidFill>
            <a:srgbClr val="F8F3E8"/>
          </a:solidFill>
          <a:ln w="12700">
            <a:solidFill>
              <a:srgbClr val="D8E0E8"/>
            </a:solidFill>
            <a:prstDash val="solid"/>
          </a:ln>
        </p:spPr>
      </p:sp>
      <p:sp>
        <p:nvSpPr>
          <p:cNvPr id="15" name="Shape 12"/>
          <p:cNvSpPr/>
          <p:nvPr/>
        </p:nvSpPr>
        <p:spPr>
          <a:xfrm>
            <a:off x="969264" y="3968496"/>
            <a:ext cx="4855464" cy="45720"/>
          </a:xfrm>
          <a:prstGeom prst="rect">
            <a:avLst/>
          </a:prstGeom>
          <a:solidFill>
            <a:srgbClr val="C99211"/>
          </a:solidFill>
          <a:ln w="12700">
            <a:solidFill>
              <a:srgbClr val="C99211"/>
            </a:solidFill>
            <a:prstDash val="solid"/>
          </a:ln>
        </p:spPr>
      </p:sp>
      <p:sp>
        <p:nvSpPr>
          <p:cNvPr id="16" name="Text 13"/>
          <p:cNvSpPr/>
          <p:nvPr/>
        </p:nvSpPr>
        <p:spPr>
          <a:xfrm>
            <a:off x="1024128"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17" name="Text 14"/>
          <p:cNvSpPr/>
          <p:nvPr/>
        </p:nvSpPr>
        <p:spPr>
          <a:xfrm>
            <a:off x="1024128"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Naming rights và các nghi lễ độc quyền giúp thương hiệu giữ tài sản.</a:t>
            </a:r>
            <a:endParaRPr lang="en-US" sz="1080" dirty="0"/>
          </a:p>
        </p:txBody>
      </p:sp>
      <p:sp>
        <p:nvSpPr>
          <p:cNvPr id="18" name="Shape 15"/>
          <p:cNvSpPr/>
          <p:nvPr/>
        </p:nvSpPr>
        <p:spPr>
          <a:xfrm>
            <a:off x="6236208" y="3822192"/>
            <a:ext cx="5148072" cy="1389888"/>
          </a:xfrm>
          <a:prstGeom prst="roundRect">
            <a:avLst>
              <a:gd name="adj" fmla="val 3289"/>
            </a:avLst>
          </a:prstGeom>
          <a:solidFill>
            <a:srgbClr val="FFFFFF"/>
          </a:solidFill>
          <a:ln w="12700">
            <a:solidFill>
              <a:srgbClr val="D8E0E8"/>
            </a:solidFill>
            <a:prstDash val="solid"/>
          </a:ln>
        </p:spPr>
      </p:sp>
      <p:sp>
        <p:nvSpPr>
          <p:cNvPr id="19" name="Shape 16"/>
          <p:cNvSpPr/>
          <p:nvPr/>
        </p:nvSpPr>
        <p:spPr>
          <a:xfrm>
            <a:off x="6382512" y="3968496"/>
            <a:ext cx="4855464" cy="45720"/>
          </a:xfrm>
          <a:prstGeom prst="rect">
            <a:avLst/>
          </a:prstGeom>
          <a:solidFill>
            <a:srgbClr val="0B6CB8"/>
          </a:solidFill>
          <a:ln w="12700">
            <a:solidFill>
              <a:srgbClr val="0B6CB8"/>
            </a:solidFill>
            <a:prstDash val="solid"/>
          </a:ln>
        </p:spPr>
      </p:sp>
      <p:sp>
        <p:nvSpPr>
          <p:cNvPr id="20" name="Text 17"/>
          <p:cNvSpPr/>
          <p:nvPr/>
        </p:nvSpPr>
        <p:spPr>
          <a:xfrm>
            <a:off x="6437376"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1" name="Text 18"/>
          <p:cNvSpPr/>
          <p:nvPr/>
        </p:nvSpPr>
        <p:spPr>
          <a:xfrm>
            <a:off x="6437376"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Mỗi mùa giải cộng dồn thêm content, dữ liệu và thiện cảm thương hiệu.</a:t>
            </a:r>
            <a:endParaRPr lang="en-US" sz="10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Từ cuộc đua trên sông thành một hiện tượng văn hóa đương đại.</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toàn bộ trải nghiệm như một ritual premium: có nghi thức, có spectacle, có lớp nội dung khiến công chúng muốn xem và muốn kể lại.</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EVENT VISION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tổ chức một race day. Tổ chức một cultural show day trên mặt nước.</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nghi thức mở màn đến khoảnh khắc trao cúp, mọi phần của ngày đua đều cần được dàn dựng như một trải nghiệm đáng nhớ chứ không chỉ là lịch thi đấu.</a:t>
            </a:r>
            <a:endParaRPr lang="en-US" sz="1400" dirty="0"/>
          </a:p>
        </p:txBody>
      </p:sp>
      <p:sp>
        <p:nvSpPr>
          <p:cNvPr id="8" name="Shape 5"/>
          <p:cNvSpPr/>
          <p:nvPr/>
        </p:nvSpPr>
        <p:spPr>
          <a:xfrm>
            <a:off x="1078992" y="4443984"/>
            <a:ext cx="91440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517136"/>
            <a:ext cx="80467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a:t>
            </a:r>
            <a:endParaRPr lang="en-US" sz="920" dirty="0"/>
          </a:p>
        </p:txBody>
      </p:sp>
      <p:sp>
        <p:nvSpPr>
          <p:cNvPr id="10" name="Shape 7"/>
          <p:cNvSpPr/>
          <p:nvPr/>
        </p:nvSpPr>
        <p:spPr>
          <a:xfrm>
            <a:off x="2139696" y="4443984"/>
            <a:ext cx="1133856"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2194560" y="4517136"/>
            <a:ext cx="102412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a:t>
            </a:r>
            <a:endParaRPr lang="en-US" sz="920" dirty="0"/>
          </a:p>
        </p:txBody>
      </p:sp>
      <p:sp>
        <p:nvSpPr>
          <p:cNvPr id="12" name="Shape 9"/>
          <p:cNvSpPr/>
          <p:nvPr/>
        </p:nvSpPr>
        <p:spPr>
          <a:xfrm>
            <a:off x="3419856" y="4443984"/>
            <a:ext cx="102412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3474720" y="4517136"/>
            <a:ext cx="91440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CONTENT</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Lễ Tôn Vinh Người Cầm Lái</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nghi thức mở màn giàu biểu tượng, đủ sang trọng để trở thành visual signature của giải đấu.</a:t>
            </a:r>
            <a:endParaRPr lang="en-US" sz="1100" dirty="0"/>
          </a:p>
        </p:txBody>
      </p:sp>
      <p:sp>
        <p:nvSpPr>
          <p:cNvPr id="6" name="Shape 3"/>
          <p:cNvSpPr/>
          <p:nvPr/>
        </p:nvSpPr>
        <p:spPr>
          <a:xfrm>
            <a:off x="822960" y="2029968"/>
            <a:ext cx="6355080" cy="2066544"/>
          </a:xfrm>
          <a:prstGeom prst="roundRect">
            <a:avLst>
              <a:gd name="adj" fmla="val 2212"/>
            </a:avLst>
          </a:prstGeom>
          <a:solidFill>
            <a:srgbClr val="114A7A"/>
          </a:solidFill>
          <a:ln w="12700">
            <a:solidFill>
              <a:srgbClr val="114A7A"/>
            </a:solidFill>
            <a:prstDash val="solid"/>
          </a:ln>
        </p:spPr>
      </p:sp>
      <p:sp>
        <p:nvSpPr>
          <p:cNvPr id="7" name="Text 4"/>
          <p:cNvSpPr/>
          <p:nvPr/>
        </p:nvSpPr>
        <p:spPr>
          <a:xfrm>
            <a:off x="1060704" y="2249424"/>
            <a:ext cx="5879592" cy="175564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20 đội ghe đồng loạt dựng mái chèo và hướng về bờ danh dự - khoảnh khắc biến cuộc đua thành một lễ tôn vinh người giữ nhịp.</a:t>
            </a:r>
            <a:endParaRPr lang="en-US" sz="2000" dirty="0"/>
          </a:p>
        </p:txBody>
      </p:sp>
      <p:sp>
        <p:nvSpPr>
          <p:cNvPr id="8" name="Shape 5"/>
          <p:cNvSpPr/>
          <p:nvPr/>
        </p:nvSpPr>
        <p:spPr>
          <a:xfrm>
            <a:off x="7406640" y="2029968"/>
            <a:ext cx="3977640" cy="2066544"/>
          </a:xfrm>
          <a:prstGeom prst="roundRect">
            <a:avLst>
              <a:gd name="adj" fmla="val 2212"/>
            </a:avLst>
          </a:prstGeom>
          <a:solidFill>
            <a:srgbClr val="FFFFFF"/>
          </a:solidFill>
          <a:ln w="12700">
            <a:solidFill>
              <a:srgbClr val="D8E0E8"/>
            </a:solidFill>
            <a:prstDash val="solid"/>
          </a:ln>
        </p:spPr>
      </p:sp>
      <p:sp>
        <p:nvSpPr>
          <p:cNvPr id="9" name="Text 6"/>
          <p:cNvSpPr/>
          <p:nvPr/>
        </p:nvSpPr>
        <p:spPr>
          <a:xfrm>
            <a:off x="7662672"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Vì sao shareable</a:t>
            </a:r>
            <a:endParaRPr lang="en-US" sz="950" dirty="0"/>
          </a:p>
        </p:txBody>
      </p:sp>
      <p:sp>
        <p:nvSpPr>
          <p:cNvPr id="10" name="Text 7"/>
          <p:cNvSpPr/>
          <p:nvPr/>
        </p:nvSpPr>
        <p:spPr>
          <a:xfrm>
            <a:off x="7644384" y="2615184"/>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Tạo một hình ảnh mở màn đủ đẹp cho TV, báo chí và social.</a:t>
            </a:r>
            <a:endParaRPr lang="en-US" sz="1110" dirty="0"/>
          </a:p>
        </p:txBody>
      </p:sp>
      <p:sp>
        <p:nvSpPr>
          <p:cNvPr id="11" name="Text 8"/>
          <p:cNvSpPr/>
          <p:nvPr/>
        </p:nvSpPr>
        <p:spPr>
          <a:xfrm>
            <a:off x="7644384" y="2962656"/>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10" dirty="0"/>
          </a:p>
        </p:txBody>
      </p:sp>
      <p:sp>
        <p:nvSpPr>
          <p:cNvPr id="12" name="Text 9"/>
          <p:cNvSpPr/>
          <p:nvPr/>
        </p:nvSpPr>
        <p:spPr>
          <a:xfrm>
            <a:off x="7644384" y="3310128"/>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Dễ cắt thành short-form video giàu cảm xúc và niềm tự hào cộng đồng.</a:t>
            </a:r>
            <a:endParaRPr lang="en-US" sz="1110" dirty="0"/>
          </a:p>
        </p:txBody>
      </p:sp>
      <p:sp>
        <p:nvSpPr>
          <p:cNvPr id="13" name="Shape 10"/>
          <p:cNvSpPr/>
          <p:nvPr/>
        </p:nvSpPr>
        <p:spPr>
          <a:xfrm>
            <a:off x="822960" y="4407408"/>
            <a:ext cx="1609344"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877824" y="4480560"/>
            <a:ext cx="149961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 OF RESPECT</a:t>
            </a:r>
            <a:endParaRPr lang="en-US" sz="920" dirty="0"/>
          </a:p>
        </p:txBody>
      </p:sp>
      <p:sp>
        <p:nvSpPr>
          <p:cNvPr id="15" name="Text 1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WOW MOMENT 02</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892" b="1" dirty="0">
                <a:solidFill>
                  <a:srgbClr val="FFFFFF"/>
                </a:solidFill>
                <a:latin typeface="Barlow" pitchFamily="34" charset="0"/>
                <a:ea typeface="Barlow" pitchFamily="34" charset="-122"/>
                <a:cs typeface="Barlow" pitchFamily="34" charset="-120"/>
              </a:rPr>
              <a:t>SÔNG HƯƠNG - DÒNG SÔNG ÁNH SÁNG</a:t>
            </a:r>
            <a:endParaRPr lang="en-US" sz="2892"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lời nhắn và niềm tin.</a:t>
            </a:r>
            <a:endParaRPr lang="en-US" sz="1400" dirty="0"/>
          </a:p>
        </p:txBody>
      </p:sp>
      <p:sp>
        <p:nvSpPr>
          <p:cNvPr id="8" name="Shape 5"/>
          <p:cNvSpPr/>
          <p:nvPr/>
        </p:nvSpPr>
        <p:spPr>
          <a:xfrm>
            <a:off x="6784848" y="4133088"/>
            <a:ext cx="4370832" cy="1261872"/>
          </a:xfrm>
          <a:prstGeom prst="roundRect">
            <a:avLst>
              <a:gd name="adj" fmla="val 3623"/>
            </a:avLst>
          </a:prstGeom>
          <a:solidFill>
            <a:srgbClr val="FFFFFF"/>
          </a:solidFill>
          <a:ln w="12700">
            <a:solidFill>
              <a:srgbClr val="D8E0E8"/>
            </a:solidFill>
            <a:prstDash val="solid"/>
          </a:ln>
        </p:spPr>
      </p:sp>
      <p:sp>
        <p:nvSpPr>
          <p:cNvPr id="9" name="Text 6"/>
          <p:cNvSpPr/>
          <p:nvPr/>
        </p:nvSpPr>
        <p:spPr>
          <a:xfrm>
            <a:off x="7022592" y="4389120"/>
            <a:ext cx="109728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TRẢI NGHIỆM</a:t>
            </a:r>
            <a:endParaRPr lang="en-US" sz="950" dirty="0"/>
          </a:p>
        </p:txBody>
      </p:sp>
      <p:sp>
        <p:nvSpPr>
          <p:cNvPr id="10" name="Text 7"/>
          <p:cNvSpPr/>
          <p:nvPr/>
        </p:nvSpPr>
        <p:spPr>
          <a:xfrm>
            <a:off x="7004304" y="4681728"/>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Dải ánh sáng vàng - xanh tạo signature nhận diện trên mặt sông.</a:t>
            </a:r>
            <a:endParaRPr lang="en-US" sz="1080" dirty="0"/>
          </a:p>
        </p:txBody>
      </p:sp>
      <p:sp>
        <p:nvSpPr>
          <p:cNvPr id="11" name="Text 8"/>
          <p:cNvSpPr/>
          <p:nvPr/>
        </p:nvSpPr>
        <p:spPr>
          <a:xfrm>
            <a:off x="7004304" y="4901184"/>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Lời nhắn gia đình hiển thị trên màn hình bờ sông hoặc livestream ticker.</a:t>
            </a:r>
            <a:endParaRPr lang="en-US" sz="1080" dirty="0"/>
          </a:p>
        </p:txBody>
      </p:sp>
      <p:sp>
        <p:nvSpPr>
          <p:cNvPr id="12" name="Text 9"/>
          <p:cNvSpPr/>
          <p:nvPr/>
        </p:nvSpPr>
        <p:spPr>
          <a:xfrm>
            <a:off x="7004304" y="5120640"/>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Một visual đủ cinematic để social buzz vượt ra ngoài phạm vi Huế.</a:t>
            </a:r>
            <a:endParaRPr lang="en-US" sz="1080" dirty="0"/>
          </a:p>
        </p:txBody>
      </p:sp>
      <p:sp>
        <p:nvSpPr>
          <p:cNvPr id="13" name="Text 1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Drone Tribute - Giữ Mái Chèo Di Sản</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2066544"/>
            <a:ext cx="3200400" cy="2871216"/>
          </a:xfrm>
          <a:prstGeom prst="roundRect">
            <a:avLst>
              <a:gd name="adj" fmla="val 1592"/>
            </a:avLst>
          </a:prstGeom>
          <a:solidFill>
            <a:srgbClr val="F8F3E8"/>
          </a:solidFill>
          <a:ln w="12700">
            <a:solidFill>
              <a:srgbClr val="D8E0E8"/>
            </a:solidFill>
            <a:prstDash val="solid"/>
          </a:ln>
        </p:spPr>
      </p:sp>
      <p:sp>
        <p:nvSpPr>
          <p:cNvPr id="7" name="Shape 4"/>
          <p:cNvSpPr/>
          <p:nvPr/>
        </p:nvSpPr>
        <p:spPr>
          <a:xfrm>
            <a:off x="969264" y="2212848"/>
            <a:ext cx="2907792" cy="45720"/>
          </a:xfrm>
          <a:prstGeom prst="rect">
            <a:avLst/>
          </a:prstGeom>
          <a:solidFill>
            <a:srgbClr val="C99211"/>
          </a:solidFill>
          <a:ln w="12700">
            <a:solidFill>
              <a:srgbClr val="C99211"/>
            </a:solidFill>
            <a:prstDash val="solid"/>
          </a:ln>
        </p:spPr>
      </p:sp>
      <p:sp>
        <p:nvSpPr>
          <p:cNvPr id="8" name="Text 5"/>
          <p:cNvSpPr/>
          <p:nvPr/>
        </p:nvSpPr>
        <p:spPr>
          <a:xfrm>
            <a:off x="1024128" y="2340864"/>
            <a:ext cx="279806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01</a:t>
            </a:r>
            <a:endParaRPr lang="en-US" sz="920" dirty="0"/>
          </a:p>
        </p:txBody>
      </p:sp>
      <p:sp>
        <p:nvSpPr>
          <p:cNvPr id="9" name="Text 6"/>
          <p:cNvSpPr/>
          <p:nvPr/>
        </p:nvSpPr>
        <p:spPr>
          <a:xfrm>
            <a:off x="1024128"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Mái chèo</a:t>
            </a:r>
            <a:endParaRPr lang="en-US" sz="1700" dirty="0"/>
          </a:p>
        </p:txBody>
      </p:sp>
      <p:sp>
        <p:nvSpPr>
          <p:cNvPr id="10" name="Text 7"/>
          <p:cNvSpPr/>
          <p:nvPr/>
        </p:nvSpPr>
        <p:spPr>
          <a:xfrm>
            <a:off x="1024128"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Biểu tượng người giữ nhịp xuất hiện đầu tiên như lời chào của cả platform.</a:t>
            </a:r>
            <a:endParaRPr lang="en-US" sz="1080" dirty="0"/>
          </a:p>
        </p:txBody>
      </p:sp>
      <p:sp>
        <p:nvSpPr>
          <p:cNvPr id="11" name="Shape 8"/>
          <p:cNvSpPr/>
          <p:nvPr/>
        </p:nvSpPr>
        <p:spPr>
          <a:xfrm>
            <a:off x="4498848" y="2066544"/>
            <a:ext cx="3200400" cy="2871216"/>
          </a:xfrm>
          <a:prstGeom prst="roundRect">
            <a:avLst>
              <a:gd name="adj" fmla="val 1592"/>
            </a:avLst>
          </a:prstGeom>
          <a:solidFill>
            <a:srgbClr val="EEF5FB"/>
          </a:solidFill>
          <a:ln w="12700">
            <a:solidFill>
              <a:srgbClr val="D8E0E8"/>
            </a:solidFill>
            <a:prstDash val="solid"/>
          </a:ln>
        </p:spPr>
      </p:sp>
      <p:sp>
        <p:nvSpPr>
          <p:cNvPr id="12" name="Shape 9"/>
          <p:cNvSpPr/>
          <p:nvPr/>
        </p:nvSpPr>
        <p:spPr>
          <a:xfrm>
            <a:off x="4645152" y="2212848"/>
            <a:ext cx="2907792" cy="45720"/>
          </a:xfrm>
          <a:prstGeom prst="rect">
            <a:avLst/>
          </a:prstGeom>
          <a:solidFill>
            <a:srgbClr val="0B6CB8"/>
          </a:solidFill>
          <a:ln w="12700">
            <a:solidFill>
              <a:srgbClr val="0B6CB8"/>
            </a:solidFill>
            <a:prstDash val="solid"/>
          </a:ln>
        </p:spPr>
      </p:sp>
      <p:sp>
        <p:nvSpPr>
          <p:cNvPr id="13" name="Text 10"/>
          <p:cNvSpPr/>
          <p:nvPr/>
        </p:nvSpPr>
        <p:spPr>
          <a:xfrm>
            <a:off x="4700016" y="2340864"/>
            <a:ext cx="279806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SEQUENCE 02</a:t>
            </a:r>
            <a:endParaRPr lang="en-US" sz="920" dirty="0"/>
          </a:p>
        </p:txBody>
      </p:sp>
      <p:sp>
        <p:nvSpPr>
          <p:cNvPr id="14" name="Text 11"/>
          <p:cNvSpPr/>
          <p:nvPr/>
        </p:nvSpPr>
        <p:spPr>
          <a:xfrm>
            <a:off x="4700016"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Dòng chảy</a:t>
            </a:r>
            <a:endParaRPr lang="en-US" sz="1700" dirty="0"/>
          </a:p>
        </p:txBody>
      </p:sp>
      <p:sp>
        <p:nvSpPr>
          <p:cNvPr id="15" name="Text 12"/>
          <p:cNvSpPr/>
          <p:nvPr/>
        </p:nvSpPr>
        <p:spPr>
          <a:xfrm>
            <a:off x="4700016"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Từ con sông Huế mở ra ý niệm gia đình tiếp tục đi tới qua nhiều thế hệ.</a:t>
            </a:r>
            <a:endParaRPr lang="en-US" sz="1080" dirty="0"/>
          </a:p>
        </p:txBody>
      </p:sp>
      <p:sp>
        <p:nvSpPr>
          <p:cNvPr id="16" name="Shape 13"/>
          <p:cNvSpPr/>
          <p:nvPr/>
        </p:nvSpPr>
        <p:spPr>
          <a:xfrm>
            <a:off x="8174736" y="2066544"/>
            <a:ext cx="3209544" cy="2871216"/>
          </a:xfrm>
          <a:prstGeom prst="roundRect">
            <a:avLst>
              <a:gd name="adj" fmla="val 1592"/>
            </a:avLst>
          </a:prstGeom>
          <a:solidFill>
            <a:srgbClr val="F8F3E8"/>
          </a:solidFill>
          <a:ln w="12700">
            <a:solidFill>
              <a:srgbClr val="D8E0E8"/>
            </a:solidFill>
            <a:prstDash val="solid"/>
          </a:ln>
        </p:spPr>
      </p:sp>
      <p:sp>
        <p:nvSpPr>
          <p:cNvPr id="17" name="Shape 14"/>
          <p:cNvSpPr/>
          <p:nvPr/>
        </p:nvSpPr>
        <p:spPr>
          <a:xfrm>
            <a:off x="8321040" y="2212848"/>
            <a:ext cx="2916936" cy="45720"/>
          </a:xfrm>
          <a:prstGeom prst="rect">
            <a:avLst/>
          </a:prstGeom>
          <a:solidFill>
            <a:srgbClr val="C99211"/>
          </a:solidFill>
          <a:ln w="12700">
            <a:solidFill>
              <a:srgbClr val="C99211"/>
            </a:solidFill>
            <a:prstDash val="solid"/>
          </a:ln>
        </p:spPr>
      </p:sp>
      <p:sp>
        <p:nvSpPr>
          <p:cNvPr id="18" name="Text 15"/>
          <p:cNvSpPr/>
          <p:nvPr/>
        </p:nvSpPr>
        <p:spPr>
          <a:xfrm>
            <a:off x="8375904" y="2340864"/>
            <a:ext cx="2807208"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03</a:t>
            </a:r>
            <a:endParaRPr lang="en-US" sz="920" dirty="0"/>
          </a:p>
        </p:txBody>
      </p:sp>
      <p:sp>
        <p:nvSpPr>
          <p:cNvPr id="19" name="Text 16"/>
          <p:cNvSpPr/>
          <p:nvPr/>
        </p:nvSpPr>
        <p:spPr>
          <a:xfrm>
            <a:off x="8375904" y="2596896"/>
            <a:ext cx="2807208"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Cúp và lời hẹn mùa sau</a:t>
            </a:r>
            <a:endParaRPr lang="en-US" sz="1700" dirty="0"/>
          </a:p>
        </p:txBody>
      </p:sp>
      <p:sp>
        <p:nvSpPr>
          <p:cNvPr id="20" name="Text 17"/>
          <p:cNvSpPr/>
          <p:nvPr/>
        </p:nvSpPr>
        <p:spPr>
          <a:xfrm>
            <a:off x="8375904" y="2999232"/>
            <a:ext cx="2807208"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định vị cho năm đầu và mở lời hẹn cho signature property thường niên.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JOURNEY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Ngày sự kiện cần được viết như một đường cong cảm xúc, không phải một bảng giờ thi đấu.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Mỗi mốc thời gian đều phải có một vai trò rõ ràng: dựng ý nghĩa, tạo cao trào hoặc kéo dài ký ức.</a:t>
            </a:r>
            <a:endParaRPr lang="en-US" sz="1100" dirty="0"/>
          </a:p>
        </p:txBody>
      </p:sp>
      <p:sp>
        <p:nvSpPr>
          <p:cNvPr id="6" name="Shape 3"/>
          <p:cNvSpPr/>
          <p:nvPr/>
        </p:nvSpPr>
        <p:spPr>
          <a:xfrm>
            <a:off x="822960" y="2029968"/>
            <a:ext cx="10561320" cy="438912"/>
          </a:xfrm>
          <a:prstGeom prst="roundRect">
            <a:avLst>
              <a:gd name="adj" fmla="val 10417"/>
            </a:avLst>
          </a:prstGeom>
          <a:solidFill>
            <a:srgbClr val="FFFFFF"/>
          </a:solidFill>
          <a:ln w="12700">
            <a:solidFill>
              <a:srgbClr val="D8E0E8"/>
            </a:solidFill>
            <a:prstDash val="solid"/>
          </a:ln>
        </p:spPr>
      </p:sp>
      <p:sp>
        <p:nvSpPr>
          <p:cNvPr id="7" name="Text 4"/>
          <p:cNvSpPr/>
          <p:nvPr/>
        </p:nvSpPr>
        <p:spPr>
          <a:xfrm>
            <a:off x="1024128" y="214884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919472" y="213969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Check-in bờ sông, media warm-up, activation đầu ngày</a:t>
            </a:r>
            <a:endParaRPr lang="en-US" sz="1100" dirty="0"/>
          </a:p>
        </p:txBody>
      </p:sp>
      <p:sp>
        <p:nvSpPr>
          <p:cNvPr id="10" name="Shape 7"/>
          <p:cNvSpPr/>
          <p:nvPr/>
        </p:nvSpPr>
        <p:spPr>
          <a:xfrm>
            <a:off x="822960" y="2596896"/>
            <a:ext cx="10561320" cy="438912"/>
          </a:xfrm>
          <a:prstGeom prst="roundRect">
            <a:avLst>
              <a:gd name="adj" fmla="val 10417"/>
            </a:avLst>
          </a:prstGeom>
          <a:solidFill>
            <a:srgbClr val="F6F8FB"/>
          </a:solidFill>
          <a:ln w="12700">
            <a:solidFill>
              <a:srgbClr val="D8E0E8"/>
            </a:solidFill>
            <a:prstDash val="solid"/>
          </a:ln>
        </p:spPr>
      </p:sp>
      <p:sp>
        <p:nvSpPr>
          <p:cNvPr id="11" name="Text 8"/>
          <p:cNvSpPr/>
          <p:nvPr/>
        </p:nvSpPr>
        <p:spPr>
          <a:xfrm>
            <a:off x="1024128" y="2715768"/>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706624"/>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919472" y="2706624"/>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Mở màn bằng nghi thức và dignity</a:t>
            </a:r>
            <a:endParaRPr lang="en-US" sz="1100" dirty="0"/>
          </a:p>
        </p:txBody>
      </p:sp>
      <p:sp>
        <p:nvSpPr>
          <p:cNvPr id="14" name="Shape 11"/>
          <p:cNvSpPr/>
          <p:nvPr/>
        </p:nvSpPr>
        <p:spPr>
          <a:xfrm>
            <a:off x="822960" y="3163824"/>
            <a:ext cx="10561320" cy="438912"/>
          </a:xfrm>
          <a:prstGeom prst="roundRect">
            <a:avLst>
              <a:gd name="adj" fmla="val 10417"/>
            </a:avLst>
          </a:prstGeom>
          <a:solidFill>
            <a:srgbClr val="FFFFFF"/>
          </a:solidFill>
          <a:ln w="12700">
            <a:solidFill>
              <a:srgbClr val="D8E0E8"/>
            </a:solidFill>
            <a:prstDash val="solid"/>
          </a:ln>
        </p:spPr>
      </p:sp>
      <p:sp>
        <p:nvSpPr>
          <p:cNvPr id="15" name="Text 12"/>
          <p:cNvSpPr/>
          <p:nvPr/>
        </p:nvSpPr>
        <p:spPr>
          <a:xfrm>
            <a:off x="1024128" y="3282696"/>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73552"/>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 kể chuyện trực tiếp</a:t>
            </a:r>
            <a:endParaRPr lang="en-US" sz="1220" dirty="0"/>
          </a:p>
        </p:txBody>
      </p:sp>
      <p:sp>
        <p:nvSpPr>
          <p:cNvPr id="17" name="Text 14"/>
          <p:cNvSpPr/>
          <p:nvPr/>
        </p:nvSpPr>
        <p:spPr>
          <a:xfrm>
            <a:off x="4919472" y="3273552"/>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Livestream layer thêm narrative thương hiệu</a:t>
            </a:r>
            <a:endParaRPr lang="en-US" sz="1100" dirty="0"/>
          </a:p>
        </p:txBody>
      </p:sp>
      <p:sp>
        <p:nvSpPr>
          <p:cNvPr id="18" name="Shape 15"/>
          <p:cNvSpPr/>
          <p:nvPr/>
        </p:nvSpPr>
        <p:spPr>
          <a:xfrm>
            <a:off x="822960" y="3730752"/>
            <a:ext cx="10561320" cy="438912"/>
          </a:xfrm>
          <a:prstGeom prst="roundRect">
            <a:avLst>
              <a:gd name="adj" fmla="val 10417"/>
            </a:avLst>
          </a:prstGeom>
          <a:solidFill>
            <a:srgbClr val="F6F8FB"/>
          </a:solidFill>
          <a:ln w="12700">
            <a:solidFill>
              <a:srgbClr val="D8E0E8"/>
            </a:solidFill>
            <a:prstDash val="solid"/>
          </a:ln>
        </p:spPr>
      </p:sp>
      <p:sp>
        <p:nvSpPr>
          <p:cNvPr id="19" name="Text 16"/>
          <p:cNvSpPr/>
          <p:nvPr/>
        </p:nvSpPr>
        <p:spPr>
          <a:xfrm>
            <a:off x="1024128" y="3849624"/>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840480"/>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Activation cộng đồng</a:t>
            </a:r>
            <a:endParaRPr lang="en-US" sz="1220" dirty="0"/>
          </a:p>
        </p:txBody>
      </p:sp>
      <p:sp>
        <p:nvSpPr>
          <p:cNvPr id="21" name="Text 18"/>
          <p:cNvSpPr/>
          <p:nvPr/>
        </p:nvSpPr>
        <p:spPr>
          <a:xfrm>
            <a:off x="4919472" y="3840480"/>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Lời nhắn gia đình, social challenge, data capture</a:t>
            </a:r>
            <a:endParaRPr lang="en-US" sz="1100" dirty="0"/>
          </a:p>
        </p:txBody>
      </p:sp>
      <p:sp>
        <p:nvSpPr>
          <p:cNvPr id="22" name="Shape 19"/>
          <p:cNvSpPr/>
          <p:nvPr/>
        </p:nvSpPr>
        <p:spPr>
          <a:xfrm>
            <a:off x="822960" y="4297680"/>
            <a:ext cx="10561320" cy="438912"/>
          </a:xfrm>
          <a:prstGeom prst="roundRect">
            <a:avLst>
              <a:gd name="adj" fmla="val 10417"/>
            </a:avLst>
          </a:prstGeom>
          <a:solidFill>
            <a:srgbClr val="FFFFFF"/>
          </a:solidFill>
          <a:ln w="12700">
            <a:solidFill>
              <a:srgbClr val="D8E0E8"/>
            </a:solidFill>
            <a:prstDash val="solid"/>
          </a:ln>
        </p:spPr>
      </p:sp>
      <p:sp>
        <p:nvSpPr>
          <p:cNvPr id="23" name="Text 20"/>
          <p:cNvSpPr/>
          <p:nvPr/>
        </p:nvSpPr>
        <p:spPr>
          <a:xfrm>
            <a:off x="1024128" y="4416552"/>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407408"/>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919472" y="4407408"/>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Cao trào cạnh tranh và vinh danh</a:t>
            </a:r>
            <a:endParaRPr lang="en-US" sz="1100" dirty="0"/>
          </a:p>
        </p:txBody>
      </p:sp>
      <p:sp>
        <p:nvSpPr>
          <p:cNvPr id="26" name="Shape 23"/>
          <p:cNvSpPr/>
          <p:nvPr/>
        </p:nvSpPr>
        <p:spPr>
          <a:xfrm>
            <a:off x="822960" y="4864608"/>
            <a:ext cx="10561320" cy="438912"/>
          </a:xfrm>
          <a:prstGeom prst="roundRect">
            <a:avLst>
              <a:gd name="adj" fmla="val 10417"/>
            </a:avLst>
          </a:prstGeom>
          <a:solidFill>
            <a:srgbClr val="F6F8FB"/>
          </a:solidFill>
          <a:ln w="12700">
            <a:solidFill>
              <a:srgbClr val="D8E0E8"/>
            </a:solidFill>
            <a:prstDash val="solid"/>
          </a:ln>
        </p:spPr>
      </p:sp>
      <p:sp>
        <p:nvSpPr>
          <p:cNvPr id="27" name="Text 24"/>
          <p:cNvSpPr/>
          <p:nvPr/>
        </p:nvSpPr>
        <p:spPr>
          <a:xfrm>
            <a:off x="1024128" y="498348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97433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919472" y="497433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Ánh sáng, drone, lời hẹn mùa sau</a:t>
            </a:r>
            <a:endParaRPr lang="en-US" sz="11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Một ngày trên sông. Ba tháng lan tỏa. Nhiều năm tài sản.</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Kiến trúc IMC được thiết kế để kéo dài ý nghĩa trước sự kiện, bùng nổ đúng ngày đua, rồi tích lũy thành trust, content asset và commercial momentum.</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kiến trúc IMC mạnh phải làm ba việc cùng lúc: build meaning, create buzz, and accumulate value.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một campaign ngắn hạn, đây là một system gồm ba phase có vai trò rõ ràng và chạm vào các kênh khác nhau.</a:t>
            </a:r>
            <a:endParaRPr lang="en-US" sz="1100" dirty="0"/>
          </a:p>
        </p:txBody>
      </p:sp>
      <p:sp>
        <p:nvSpPr>
          <p:cNvPr id="6" name="Shape 3"/>
          <p:cNvSpPr/>
          <p:nvPr/>
        </p:nvSpPr>
        <p:spPr>
          <a:xfrm>
            <a:off x="822960" y="2121408"/>
            <a:ext cx="2926080" cy="2103120"/>
          </a:xfrm>
          <a:prstGeom prst="roundRect">
            <a:avLst>
              <a:gd name="adj" fmla="val 2174"/>
            </a:avLst>
          </a:prstGeom>
          <a:solidFill>
            <a:srgbClr val="F8F3E8"/>
          </a:solidFill>
          <a:ln w="12700">
            <a:solidFill>
              <a:srgbClr val="D8E0E8"/>
            </a:solidFill>
            <a:prstDash val="solid"/>
          </a:ln>
        </p:spPr>
      </p:sp>
      <p:sp>
        <p:nvSpPr>
          <p:cNvPr id="7" name="Shape 4"/>
          <p:cNvSpPr/>
          <p:nvPr/>
        </p:nvSpPr>
        <p:spPr>
          <a:xfrm>
            <a:off x="969264" y="2267712"/>
            <a:ext cx="2633472" cy="45720"/>
          </a:xfrm>
          <a:prstGeom prst="rect">
            <a:avLst/>
          </a:prstGeom>
          <a:solidFill>
            <a:srgbClr val="C99211"/>
          </a:solidFill>
          <a:ln w="12700">
            <a:solidFill>
              <a:srgbClr val="C99211"/>
            </a:solidFill>
            <a:prstDash val="solid"/>
          </a:ln>
        </p:spPr>
      </p:sp>
      <p:sp>
        <p:nvSpPr>
          <p:cNvPr id="8" name="Text 5"/>
          <p:cNvSpPr/>
          <p:nvPr/>
        </p:nvSpPr>
        <p:spPr>
          <a:xfrm>
            <a:off x="102412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1</a:t>
            </a:r>
            <a:endParaRPr lang="en-US" sz="920" dirty="0"/>
          </a:p>
        </p:txBody>
      </p:sp>
      <p:sp>
        <p:nvSpPr>
          <p:cNvPr id="9" name="Text 6"/>
          <p:cNvSpPr/>
          <p:nvPr/>
        </p:nvSpPr>
        <p:spPr>
          <a:xfrm>
            <a:off x="102412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Teasing &amp; Meaning Build</a:t>
            </a:r>
            <a:endParaRPr lang="en-US" sz="1700" dirty="0"/>
          </a:p>
        </p:txBody>
      </p:sp>
      <p:sp>
        <p:nvSpPr>
          <p:cNvPr id="10" name="Text 7"/>
          <p:cNvSpPr/>
          <p:nvPr/>
        </p:nvSpPr>
        <p:spPr>
          <a:xfrm>
            <a:off x="102412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Khơi mở hình tượng người giữ nhịp, kể về gia đình, dựng kỳ vọng cho event.</a:t>
            </a:r>
            <a:endParaRPr lang="en-US" sz="1080" dirty="0"/>
          </a:p>
        </p:txBody>
      </p:sp>
      <p:sp>
        <p:nvSpPr>
          <p:cNvPr id="11" name="Shape 8"/>
          <p:cNvSpPr/>
          <p:nvPr/>
        </p:nvSpPr>
        <p:spPr>
          <a:xfrm>
            <a:off x="4069080" y="2121408"/>
            <a:ext cx="2926080" cy="2103120"/>
          </a:xfrm>
          <a:prstGeom prst="roundRect">
            <a:avLst>
              <a:gd name="adj" fmla="val 2174"/>
            </a:avLst>
          </a:prstGeom>
          <a:solidFill>
            <a:srgbClr val="EEF5FB"/>
          </a:solidFill>
          <a:ln w="12700">
            <a:solidFill>
              <a:srgbClr val="D8E0E8"/>
            </a:solidFill>
            <a:prstDash val="solid"/>
          </a:ln>
        </p:spPr>
      </p:sp>
      <p:sp>
        <p:nvSpPr>
          <p:cNvPr id="12" name="Shape 9"/>
          <p:cNvSpPr/>
          <p:nvPr/>
        </p:nvSpPr>
        <p:spPr>
          <a:xfrm>
            <a:off x="4215384" y="2267712"/>
            <a:ext cx="2633472" cy="45720"/>
          </a:xfrm>
          <a:prstGeom prst="rect">
            <a:avLst/>
          </a:prstGeom>
          <a:solidFill>
            <a:srgbClr val="0B6CB8"/>
          </a:solidFill>
          <a:ln w="12700">
            <a:solidFill>
              <a:srgbClr val="0B6CB8"/>
            </a:solidFill>
            <a:prstDash val="solid"/>
          </a:ln>
        </p:spPr>
      </p:sp>
      <p:sp>
        <p:nvSpPr>
          <p:cNvPr id="13" name="Text 10"/>
          <p:cNvSpPr/>
          <p:nvPr/>
        </p:nvSpPr>
        <p:spPr>
          <a:xfrm>
            <a:off x="4270248" y="2395728"/>
            <a:ext cx="25237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PHASE 2</a:t>
            </a:r>
            <a:endParaRPr lang="en-US" sz="920" dirty="0"/>
          </a:p>
        </p:txBody>
      </p:sp>
      <p:sp>
        <p:nvSpPr>
          <p:cNvPr id="14" name="Text 11"/>
          <p:cNvSpPr/>
          <p:nvPr/>
        </p:nvSpPr>
        <p:spPr>
          <a:xfrm>
            <a:off x="427024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Explosion &amp; Event Day</a:t>
            </a:r>
            <a:endParaRPr lang="en-US" sz="1700" dirty="0"/>
          </a:p>
        </p:txBody>
      </p:sp>
      <p:sp>
        <p:nvSpPr>
          <p:cNvPr id="15" name="Text 12"/>
          <p:cNvSpPr/>
          <p:nvPr/>
        </p:nvSpPr>
        <p:spPr>
          <a:xfrm>
            <a:off x="427024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ngày đua thành national spectacle trên social, livestream và PR.</a:t>
            </a:r>
            <a:endParaRPr lang="en-US" sz="1080" dirty="0"/>
          </a:p>
        </p:txBody>
      </p:sp>
      <p:sp>
        <p:nvSpPr>
          <p:cNvPr id="16" name="Shape 13"/>
          <p:cNvSpPr/>
          <p:nvPr/>
        </p:nvSpPr>
        <p:spPr>
          <a:xfrm>
            <a:off x="7315200" y="2121408"/>
            <a:ext cx="2926080" cy="2103120"/>
          </a:xfrm>
          <a:prstGeom prst="roundRect">
            <a:avLst>
              <a:gd name="adj" fmla="val 2174"/>
            </a:avLst>
          </a:prstGeom>
          <a:solidFill>
            <a:srgbClr val="F8F3E8"/>
          </a:solidFill>
          <a:ln w="12700">
            <a:solidFill>
              <a:srgbClr val="D8E0E8"/>
            </a:solidFill>
            <a:prstDash val="solid"/>
          </a:ln>
        </p:spPr>
      </p:sp>
      <p:sp>
        <p:nvSpPr>
          <p:cNvPr id="17" name="Shape 14"/>
          <p:cNvSpPr/>
          <p:nvPr/>
        </p:nvSpPr>
        <p:spPr>
          <a:xfrm>
            <a:off x="7461504" y="2267712"/>
            <a:ext cx="2633472" cy="45720"/>
          </a:xfrm>
          <a:prstGeom prst="rect">
            <a:avLst/>
          </a:prstGeom>
          <a:solidFill>
            <a:srgbClr val="C99211"/>
          </a:solidFill>
          <a:ln w="12700">
            <a:solidFill>
              <a:srgbClr val="C99211"/>
            </a:solidFill>
            <a:prstDash val="solid"/>
          </a:ln>
        </p:spPr>
      </p:sp>
      <p:sp>
        <p:nvSpPr>
          <p:cNvPr id="18" name="Text 15"/>
          <p:cNvSpPr/>
          <p:nvPr/>
        </p:nvSpPr>
        <p:spPr>
          <a:xfrm>
            <a:off x="751636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3</a:t>
            </a:r>
            <a:endParaRPr lang="en-US" sz="920" dirty="0"/>
          </a:p>
        </p:txBody>
      </p:sp>
      <p:sp>
        <p:nvSpPr>
          <p:cNvPr id="19" name="Text 16"/>
          <p:cNvSpPr/>
          <p:nvPr/>
        </p:nvSpPr>
        <p:spPr>
          <a:xfrm>
            <a:off x="751636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Amplification &amp; Legacy</a:t>
            </a:r>
            <a:endParaRPr lang="en-US" sz="1700" dirty="0"/>
          </a:p>
        </p:txBody>
      </p:sp>
      <p:sp>
        <p:nvSpPr>
          <p:cNvPr id="20" name="Text 17"/>
          <p:cNvSpPr/>
          <p:nvPr/>
        </p:nvSpPr>
        <p:spPr>
          <a:xfrm>
            <a:off x="751636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080" dirty="0"/>
          </a:p>
        </p:txBody>
      </p:sp>
      <p:sp>
        <p:nvSpPr>
          <p:cNvPr id="21" name="Text 18"/>
          <p:cNvSpPr/>
          <p:nvPr/>
        </p:nvSpPr>
        <p:spPr>
          <a:xfrm>
            <a:off x="822960" y="4590288"/>
            <a:ext cx="146304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CHANNEL SYSTEM</a:t>
            </a:r>
            <a:endParaRPr lang="en-US" sz="950" dirty="0"/>
          </a:p>
        </p:txBody>
      </p:sp>
      <p:sp>
        <p:nvSpPr>
          <p:cNvPr id="22" name="Shape 19"/>
          <p:cNvSpPr/>
          <p:nvPr/>
        </p:nvSpPr>
        <p:spPr>
          <a:xfrm>
            <a:off x="822960" y="4864608"/>
            <a:ext cx="4800600" cy="310896"/>
          </a:xfrm>
          <a:prstGeom prst="roundRect">
            <a:avLst>
              <a:gd name="adj" fmla="val 23529"/>
            </a:avLst>
          </a:prstGeom>
          <a:solidFill>
            <a:srgbClr val="0B6CB8">
              <a:alpha val="92000"/>
            </a:srgbClr>
          </a:solidFill>
          <a:ln w="12700">
            <a:solidFill>
              <a:srgbClr val="0B6CB8"/>
            </a:solidFill>
            <a:prstDash val="solid"/>
          </a:ln>
        </p:spPr>
      </p:sp>
      <p:sp>
        <p:nvSpPr>
          <p:cNvPr id="23" name="Text 20"/>
          <p:cNvSpPr/>
          <p:nvPr/>
        </p:nvSpPr>
        <p:spPr>
          <a:xfrm>
            <a:off x="877824" y="4937760"/>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Owned: social BVNT, landing page, CRM journey</a:t>
            </a:r>
            <a:endParaRPr lang="en-US" sz="900" dirty="0"/>
          </a:p>
        </p:txBody>
      </p:sp>
      <p:sp>
        <p:nvSpPr>
          <p:cNvPr id="24" name="Shape 21"/>
          <p:cNvSpPr/>
          <p:nvPr/>
        </p:nvSpPr>
        <p:spPr>
          <a:xfrm>
            <a:off x="6035040" y="4864608"/>
            <a:ext cx="5074920" cy="310896"/>
          </a:xfrm>
          <a:prstGeom prst="roundRect">
            <a:avLst>
              <a:gd name="adj" fmla="val 23529"/>
            </a:avLst>
          </a:prstGeom>
          <a:solidFill>
            <a:srgbClr val="C99211">
              <a:alpha val="92000"/>
            </a:srgbClr>
          </a:solidFill>
          <a:ln w="12700">
            <a:solidFill>
              <a:srgbClr val="C99211"/>
            </a:solidFill>
            <a:prstDash val="solid"/>
          </a:ln>
        </p:spPr>
      </p:sp>
      <p:sp>
        <p:nvSpPr>
          <p:cNvPr id="25" name="Text 22"/>
          <p:cNvSpPr/>
          <p:nvPr/>
        </p:nvSpPr>
        <p:spPr>
          <a:xfrm>
            <a:off x="6089904" y="4937760"/>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Earned: PR văn hóa - cộng đồng - thương hiệu</a:t>
            </a:r>
            <a:endParaRPr lang="en-US" sz="900" dirty="0"/>
          </a:p>
        </p:txBody>
      </p:sp>
      <p:sp>
        <p:nvSpPr>
          <p:cNvPr id="26" name="Shape 23"/>
          <p:cNvSpPr/>
          <p:nvPr/>
        </p:nvSpPr>
        <p:spPr>
          <a:xfrm>
            <a:off x="822960" y="5285232"/>
            <a:ext cx="4800600" cy="310896"/>
          </a:xfrm>
          <a:prstGeom prst="roundRect">
            <a:avLst>
              <a:gd name="adj" fmla="val 23529"/>
            </a:avLst>
          </a:prstGeom>
          <a:solidFill>
            <a:srgbClr val="0B6CB8">
              <a:alpha val="92000"/>
            </a:srgbClr>
          </a:solidFill>
          <a:ln w="12700">
            <a:solidFill>
              <a:srgbClr val="0B6CB8"/>
            </a:solidFill>
            <a:prstDash val="solid"/>
          </a:ln>
        </p:spPr>
      </p:sp>
      <p:sp>
        <p:nvSpPr>
          <p:cNvPr id="27" name="Text 24"/>
          <p:cNvSpPr/>
          <p:nvPr/>
        </p:nvSpPr>
        <p:spPr>
          <a:xfrm>
            <a:off x="877824" y="5358384"/>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Shared: TikTok, reels, livestream clips, UGC</a:t>
            </a:r>
            <a:endParaRPr lang="en-US" sz="900" dirty="0"/>
          </a:p>
        </p:txBody>
      </p:sp>
      <p:sp>
        <p:nvSpPr>
          <p:cNvPr id="28" name="Shape 25"/>
          <p:cNvSpPr/>
          <p:nvPr/>
        </p:nvSpPr>
        <p:spPr>
          <a:xfrm>
            <a:off x="6035040" y="5285232"/>
            <a:ext cx="5074920" cy="310896"/>
          </a:xfrm>
          <a:prstGeom prst="roundRect">
            <a:avLst>
              <a:gd name="adj" fmla="val 23529"/>
            </a:avLst>
          </a:prstGeom>
          <a:solidFill>
            <a:srgbClr val="C99211">
              <a:alpha val="92000"/>
            </a:srgbClr>
          </a:solidFill>
          <a:ln w="12700">
            <a:solidFill>
              <a:srgbClr val="C99211"/>
            </a:solidFill>
            <a:prstDash val="solid"/>
          </a:ln>
        </p:spPr>
      </p:sp>
      <p:sp>
        <p:nvSpPr>
          <p:cNvPr id="29" name="Text 26"/>
          <p:cNvSpPr/>
          <p:nvPr/>
        </p:nvSpPr>
        <p:spPr>
          <a:xfrm>
            <a:off x="6089904" y="5358384"/>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Paid: OOH chọn lọc tại Huế / Đà Nẵng, digital video, boost short-form</a:t>
            </a:r>
            <a:endParaRPr lang="en-US" sz="9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1 - TEASING</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Dựng ý nghĩa trước khi dựng sân khấu.</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Giai đoạn mở màn phải khiến công chúng cảm thấy đây không chỉ là một cuộc đua, mà là một biểu tượng đáng chờ đợi.</a:t>
            </a:r>
            <a:endParaRPr lang="en-US" sz="1100" dirty="0"/>
          </a:p>
        </p:txBody>
      </p:sp>
      <p:sp>
        <p:nvSpPr>
          <p:cNvPr id="6" name="Shape 3"/>
          <p:cNvSpPr/>
          <p:nvPr/>
        </p:nvSpPr>
        <p:spPr>
          <a:xfrm>
            <a:off x="822960" y="2103120"/>
            <a:ext cx="3246120" cy="2944368"/>
          </a:xfrm>
          <a:prstGeom prst="roundRect">
            <a:avLst>
              <a:gd name="adj" fmla="val 1553"/>
            </a:avLst>
          </a:prstGeom>
          <a:solidFill>
            <a:srgbClr val="F8F3E8"/>
          </a:solidFill>
          <a:ln w="12700">
            <a:solidFill>
              <a:srgbClr val="D8E0E8"/>
            </a:solidFill>
            <a:prstDash val="solid"/>
          </a:ln>
        </p:spPr>
      </p:sp>
      <p:sp>
        <p:nvSpPr>
          <p:cNvPr id="7" name="Shape 4"/>
          <p:cNvSpPr/>
          <p:nvPr/>
        </p:nvSpPr>
        <p:spPr>
          <a:xfrm>
            <a:off x="969264" y="2249424"/>
            <a:ext cx="2953512" cy="45720"/>
          </a:xfrm>
          <a:prstGeom prst="rect">
            <a:avLst/>
          </a:prstGeom>
          <a:solidFill>
            <a:srgbClr val="C99211"/>
          </a:solidFill>
          <a:ln w="12700">
            <a:solidFill>
              <a:srgbClr val="C99211"/>
            </a:solidFill>
            <a:prstDash val="solid"/>
          </a:ln>
        </p:spPr>
      </p:sp>
      <p:sp>
        <p:nvSpPr>
          <p:cNvPr id="8" name="Text 5"/>
          <p:cNvSpPr/>
          <p:nvPr/>
        </p:nvSpPr>
        <p:spPr>
          <a:xfrm>
            <a:off x="10241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CONTENT</a:t>
            </a:r>
            <a:endParaRPr lang="en-US" sz="920" dirty="0"/>
          </a:p>
        </p:txBody>
      </p:sp>
      <p:sp>
        <p:nvSpPr>
          <p:cNvPr id="9" name="Text 6"/>
          <p:cNvSpPr/>
          <p:nvPr/>
        </p:nvSpPr>
        <p:spPr>
          <a:xfrm>
            <a:off x="10241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Nội dung mồi cảm xúc</a:t>
            </a:r>
            <a:endParaRPr lang="en-US" sz="1700" dirty="0"/>
          </a:p>
        </p:txBody>
      </p:sp>
      <p:sp>
        <p:nvSpPr>
          <p:cNvPr id="10" name="Text 7"/>
          <p:cNvSpPr/>
          <p:nvPr/>
        </p:nvSpPr>
        <p:spPr>
          <a:xfrm>
            <a:off x="10241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Short video về người giữ nhịp trong gia đình, poster series mái chèo - bàn tay - dòng sông, key visual countdown gắn với Huế và Quốc khánh.</a:t>
            </a:r>
            <a:endParaRPr lang="en-US" sz="1080" dirty="0"/>
          </a:p>
        </p:txBody>
      </p:sp>
      <p:sp>
        <p:nvSpPr>
          <p:cNvPr id="11" name="Shape 8"/>
          <p:cNvSpPr/>
          <p:nvPr/>
        </p:nvSpPr>
        <p:spPr>
          <a:xfrm>
            <a:off x="4480560" y="2103120"/>
            <a:ext cx="3246120" cy="2944368"/>
          </a:xfrm>
          <a:prstGeom prst="roundRect">
            <a:avLst>
              <a:gd name="adj" fmla="val 1553"/>
            </a:avLst>
          </a:prstGeom>
          <a:solidFill>
            <a:srgbClr val="EEF5FB"/>
          </a:solidFill>
          <a:ln w="12700">
            <a:solidFill>
              <a:srgbClr val="D8E0E8"/>
            </a:solidFill>
            <a:prstDash val="solid"/>
          </a:ln>
        </p:spPr>
      </p:sp>
      <p:sp>
        <p:nvSpPr>
          <p:cNvPr id="12" name="Shape 9"/>
          <p:cNvSpPr/>
          <p:nvPr/>
        </p:nvSpPr>
        <p:spPr>
          <a:xfrm>
            <a:off x="4626864" y="2249424"/>
            <a:ext cx="2953512" cy="45720"/>
          </a:xfrm>
          <a:prstGeom prst="rect">
            <a:avLst/>
          </a:prstGeom>
          <a:solidFill>
            <a:srgbClr val="0B6CB8"/>
          </a:solidFill>
          <a:ln w="12700">
            <a:solidFill>
              <a:srgbClr val="0B6CB8"/>
            </a:solidFill>
            <a:prstDash val="solid"/>
          </a:ln>
        </p:spPr>
      </p:sp>
      <p:sp>
        <p:nvSpPr>
          <p:cNvPr id="13" name="Text 10"/>
          <p:cNvSpPr/>
          <p:nvPr/>
        </p:nvSpPr>
        <p:spPr>
          <a:xfrm>
            <a:off x="4681728" y="2377440"/>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PR</a:t>
            </a:r>
            <a:endParaRPr lang="en-US" sz="920" dirty="0"/>
          </a:p>
        </p:txBody>
      </p:sp>
      <p:sp>
        <p:nvSpPr>
          <p:cNvPr id="14" name="Text 11"/>
          <p:cNvSpPr/>
          <p:nvPr/>
        </p:nvSpPr>
        <p:spPr>
          <a:xfrm>
            <a:off x="46817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câu chuyện cộng đồng</a:t>
            </a:r>
            <a:endParaRPr lang="en-US" sz="1700" dirty="0"/>
          </a:p>
        </p:txBody>
      </p:sp>
      <p:sp>
        <p:nvSpPr>
          <p:cNvPr id="15" name="Text 12"/>
          <p:cNvSpPr/>
          <p:nvPr/>
        </p:nvSpPr>
        <p:spPr>
          <a:xfrm>
            <a:off x="46817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Kể chuyện đội ghe, người cầm lái, ký ức đua ghe và tham vọng nâng cấp giải đấu thành platform văn hóa mới.</a:t>
            </a:r>
            <a:endParaRPr lang="en-US" sz="1080" dirty="0"/>
          </a:p>
        </p:txBody>
      </p:sp>
      <p:sp>
        <p:nvSpPr>
          <p:cNvPr id="16" name="Shape 13"/>
          <p:cNvSpPr/>
          <p:nvPr/>
        </p:nvSpPr>
        <p:spPr>
          <a:xfrm>
            <a:off x="8138160" y="2103120"/>
            <a:ext cx="3246120" cy="2944368"/>
          </a:xfrm>
          <a:prstGeom prst="roundRect">
            <a:avLst>
              <a:gd name="adj" fmla="val 1553"/>
            </a:avLst>
          </a:prstGeom>
          <a:solidFill>
            <a:srgbClr val="F8F3E8"/>
          </a:solidFill>
          <a:ln w="12700">
            <a:solidFill>
              <a:srgbClr val="D8E0E8"/>
            </a:solidFill>
            <a:prstDash val="solid"/>
          </a:ln>
        </p:spPr>
      </p:sp>
      <p:sp>
        <p:nvSpPr>
          <p:cNvPr id="17" name="Shape 14"/>
          <p:cNvSpPr/>
          <p:nvPr/>
        </p:nvSpPr>
        <p:spPr>
          <a:xfrm>
            <a:off x="8284464" y="2249424"/>
            <a:ext cx="2953512" cy="45720"/>
          </a:xfrm>
          <a:prstGeom prst="rect">
            <a:avLst/>
          </a:prstGeom>
          <a:solidFill>
            <a:srgbClr val="C99211"/>
          </a:solidFill>
          <a:ln w="12700">
            <a:solidFill>
              <a:srgbClr val="C99211"/>
            </a:solidFill>
            <a:prstDash val="solid"/>
          </a:ln>
        </p:spPr>
      </p:sp>
      <p:sp>
        <p:nvSpPr>
          <p:cNvPr id="18" name="Text 15"/>
          <p:cNvSpPr/>
          <p:nvPr/>
        </p:nvSpPr>
        <p:spPr>
          <a:xfrm>
            <a:off x="83393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SEEDING</a:t>
            </a:r>
            <a:endParaRPr lang="en-US" sz="920" dirty="0"/>
          </a:p>
        </p:txBody>
      </p:sp>
      <p:sp>
        <p:nvSpPr>
          <p:cNvPr id="19" name="Text 16"/>
          <p:cNvSpPr/>
          <p:nvPr/>
        </p:nvSpPr>
        <p:spPr>
          <a:xfrm>
            <a:off x="83393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to national seeding</a:t>
            </a:r>
            <a:endParaRPr lang="en-US" sz="1700" dirty="0"/>
          </a:p>
        </p:txBody>
      </p:sp>
      <p:sp>
        <p:nvSpPr>
          <p:cNvPr id="20" name="Text 17"/>
          <p:cNvSpPr/>
          <p:nvPr/>
        </p:nvSpPr>
        <p:spPr>
          <a:xfrm>
            <a:off x="83393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Seeding tại Huế, Đà Nẵng, cộng đồng yêu văn hóa, travel creator và family voices để mở rộng biên độ thảo luận.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2 - EXPLOSION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63" b="1" dirty="0">
                <a:solidFill>
                  <a:srgbClr val="114A7A"/>
                </a:solidFill>
                <a:latin typeface="Barlow" pitchFamily="34" charset="0"/>
                <a:ea typeface="Barlow" pitchFamily="34" charset="-122"/>
                <a:cs typeface="Barlow" pitchFamily="34" charset="-120"/>
              </a:rPr>
              <a:t>Ngày sự kiện phải bùng nổ về hình ảnh lẫn khả năng chia sẻ.</a:t>
            </a:r>
            <a:endParaRPr lang="en-US" sz="216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campaign, nhưng không được chỉ là phát sóng diễn biến thi đấu.</a:t>
            </a:r>
            <a:endParaRPr lang="en-US" sz="1100" dirty="0"/>
          </a:p>
        </p:txBody>
      </p:sp>
      <p:sp>
        <p:nvSpPr>
          <p:cNvPr id="6" name="Shape 3"/>
          <p:cNvSpPr/>
          <p:nvPr/>
        </p:nvSpPr>
        <p:spPr>
          <a:xfrm>
            <a:off x="822960" y="2066544"/>
            <a:ext cx="2395728" cy="1133856"/>
          </a:xfrm>
          <a:prstGeom prst="roundRect">
            <a:avLst>
              <a:gd name="adj" fmla="val 4032"/>
            </a:avLst>
          </a:prstGeom>
          <a:solidFill>
            <a:srgbClr val="EEF5FB"/>
          </a:solidFill>
          <a:ln w="12700">
            <a:solidFill>
              <a:srgbClr val="D8E0E8"/>
            </a:solidFill>
            <a:prstDash val="solid"/>
          </a:ln>
        </p:spPr>
      </p:sp>
      <p:sp>
        <p:nvSpPr>
          <p:cNvPr id="7" name="Shape 4"/>
          <p:cNvSpPr/>
          <p:nvPr/>
        </p:nvSpPr>
        <p:spPr>
          <a:xfrm>
            <a:off x="969264" y="2212848"/>
            <a:ext cx="2103120" cy="45720"/>
          </a:xfrm>
          <a:prstGeom prst="rect">
            <a:avLst/>
          </a:prstGeom>
          <a:solidFill>
            <a:srgbClr val="0B6CB8"/>
          </a:solidFill>
          <a:ln w="12700">
            <a:solidFill>
              <a:srgbClr val="0B6CB8"/>
            </a:solidFill>
            <a:prstDash val="solid"/>
          </a:ln>
        </p:spPr>
      </p:sp>
      <p:sp>
        <p:nvSpPr>
          <p:cNvPr id="8" name="Text 5"/>
          <p:cNvSpPr/>
          <p:nvPr/>
        </p:nvSpPr>
        <p:spPr>
          <a:xfrm>
            <a:off x="1024128"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LIVE</a:t>
            </a:r>
            <a:endParaRPr lang="en-US" sz="920" dirty="0"/>
          </a:p>
        </p:txBody>
      </p:sp>
      <p:sp>
        <p:nvSpPr>
          <p:cNvPr id="9" name="Text 6"/>
          <p:cNvSpPr/>
          <p:nvPr/>
        </p:nvSpPr>
        <p:spPr>
          <a:xfrm>
            <a:off x="1024128"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Livestream multi-layer</a:t>
            </a:r>
            <a:endParaRPr lang="en-US" sz="1700" dirty="0"/>
          </a:p>
        </p:txBody>
      </p:sp>
      <p:sp>
        <p:nvSpPr>
          <p:cNvPr id="10" name="Text 7"/>
          <p:cNvSpPr/>
          <p:nvPr/>
        </p:nvSpPr>
        <p:spPr>
          <a:xfrm>
            <a:off x="1024128"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Có MC, visual package và narrative thương hiệu.</a:t>
            </a:r>
            <a:endParaRPr lang="en-US" sz="1080" dirty="0"/>
          </a:p>
        </p:txBody>
      </p:sp>
      <p:sp>
        <p:nvSpPr>
          <p:cNvPr id="11" name="Shape 8"/>
          <p:cNvSpPr/>
          <p:nvPr/>
        </p:nvSpPr>
        <p:spPr>
          <a:xfrm>
            <a:off x="3419856" y="2066544"/>
            <a:ext cx="2395728" cy="1133856"/>
          </a:xfrm>
          <a:prstGeom prst="roundRect">
            <a:avLst>
              <a:gd name="adj" fmla="val 4032"/>
            </a:avLst>
          </a:prstGeom>
          <a:solidFill>
            <a:srgbClr val="F8F3E8"/>
          </a:solidFill>
          <a:ln w="12700">
            <a:solidFill>
              <a:srgbClr val="D8E0E8"/>
            </a:solidFill>
            <a:prstDash val="solid"/>
          </a:ln>
        </p:spPr>
      </p:sp>
      <p:sp>
        <p:nvSpPr>
          <p:cNvPr id="12" name="Shape 9"/>
          <p:cNvSpPr/>
          <p:nvPr/>
        </p:nvSpPr>
        <p:spPr>
          <a:xfrm>
            <a:off x="3566160" y="2212848"/>
            <a:ext cx="2103120" cy="45720"/>
          </a:xfrm>
          <a:prstGeom prst="rect">
            <a:avLst/>
          </a:prstGeom>
          <a:solidFill>
            <a:srgbClr val="C99211"/>
          </a:solidFill>
          <a:ln w="12700">
            <a:solidFill>
              <a:srgbClr val="C99211"/>
            </a:solidFill>
            <a:prstDash val="solid"/>
          </a:ln>
        </p:spPr>
      </p:sp>
      <p:sp>
        <p:nvSpPr>
          <p:cNvPr id="13" name="Text 10"/>
          <p:cNvSpPr/>
          <p:nvPr/>
        </p:nvSpPr>
        <p:spPr>
          <a:xfrm>
            <a:off x="3621024" y="2340864"/>
            <a:ext cx="19933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21024"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Instant newsroom</a:t>
            </a:r>
            <a:endParaRPr lang="en-US" sz="1700" dirty="0"/>
          </a:p>
        </p:txBody>
      </p:sp>
      <p:sp>
        <p:nvSpPr>
          <p:cNvPr id="15" name="Text 12"/>
          <p:cNvSpPr/>
          <p:nvPr/>
        </p:nvSpPr>
        <p:spPr>
          <a:xfrm>
            <a:off x="3621024"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Ảnh nhanh, clip nhanh, quote nhanh cho báo chí.</a:t>
            </a:r>
            <a:endParaRPr lang="en-US" sz="1080" dirty="0"/>
          </a:p>
        </p:txBody>
      </p:sp>
      <p:sp>
        <p:nvSpPr>
          <p:cNvPr id="16" name="Shape 13"/>
          <p:cNvSpPr/>
          <p:nvPr/>
        </p:nvSpPr>
        <p:spPr>
          <a:xfrm>
            <a:off x="6016752" y="2066544"/>
            <a:ext cx="2395728" cy="1133856"/>
          </a:xfrm>
          <a:prstGeom prst="roundRect">
            <a:avLst>
              <a:gd name="adj" fmla="val 4032"/>
            </a:avLst>
          </a:prstGeom>
          <a:solidFill>
            <a:srgbClr val="EEF5FB"/>
          </a:solidFill>
          <a:ln w="12700">
            <a:solidFill>
              <a:srgbClr val="D8E0E8"/>
            </a:solidFill>
            <a:prstDash val="solid"/>
          </a:ln>
        </p:spPr>
      </p:sp>
      <p:sp>
        <p:nvSpPr>
          <p:cNvPr id="17" name="Shape 14"/>
          <p:cNvSpPr/>
          <p:nvPr/>
        </p:nvSpPr>
        <p:spPr>
          <a:xfrm>
            <a:off x="6163056" y="2212848"/>
            <a:ext cx="2103120" cy="45720"/>
          </a:xfrm>
          <a:prstGeom prst="rect">
            <a:avLst/>
          </a:prstGeom>
          <a:solidFill>
            <a:srgbClr val="0B6CB8"/>
          </a:solidFill>
          <a:ln w="12700">
            <a:solidFill>
              <a:srgbClr val="0B6CB8"/>
            </a:solidFill>
            <a:prstDash val="solid"/>
          </a:ln>
        </p:spPr>
      </p:sp>
      <p:sp>
        <p:nvSpPr>
          <p:cNvPr id="18" name="Text 15"/>
          <p:cNvSpPr/>
          <p:nvPr/>
        </p:nvSpPr>
        <p:spPr>
          <a:xfrm>
            <a:off x="6217920"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SHORT-FORM</a:t>
            </a:r>
            <a:endParaRPr lang="en-US" sz="920" dirty="0"/>
          </a:p>
        </p:txBody>
      </p:sp>
      <p:sp>
        <p:nvSpPr>
          <p:cNvPr id="19" name="Text 16"/>
          <p:cNvSpPr/>
          <p:nvPr/>
        </p:nvSpPr>
        <p:spPr>
          <a:xfrm>
            <a:off x="6217920"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Reels / TikTok</a:t>
            </a:r>
            <a:endParaRPr lang="en-US" sz="1700" dirty="0"/>
          </a:p>
        </p:txBody>
      </p:sp>
      <p:sp>
        <p:nvSpPr>
          <p:cNvPr id="20" name="Text 17"/>
          <p:cNvSpPr/>
          <p:nvPr/>
        </p:nvSpPr>
        <p:spPr>
          <a:xfrm>
            <a:off x="6217920"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Cắt ngay từ opening ritual, tăng tốc, trao cúp.</a:t>
            </a:r>
            <a:endParaRPr lang="en-US" sz="1080" dirty="0"/>
          </a:p>
        </p:txBody>
      </p:sp>
      <p:sp>
        <p:nvSpPr>
          <p:cNvPr id="21" name="Shape 18"/>
          <p:cNvSpPr/>
          <p:nvPr/>
        </p:nvSpPr>
        <p:spPr>
          <a:xfrm>
            <a:off x="8613648" y="2066544"/>
            <a:ext cx="2770632" cy="1133856"/>
          </a:xfrm>
          <a:prstGeom prst="roundRect">
            <a:avLst>
              <a:gd name="adj" fmla="val 4032"/>
            </a:avLst>
          </a:prstGeom>
          <a:solidFill>
            <a:srgbClr val="F8F3E8"/>
          </a:solidFill>
          <a:ln w="12700">
            <a:solidFill>
              <a:srgbClr val="D8E0E8"/>
            </a:solidFill>
            <a:prstDash val="solid"/>
          </a:ln>
        </p:spPr>
      </p:sp>
      <p:sp>
        <p:nvSpPr>
          <p:cNvPr id="22" name="Shape 19"/>
          <p:cNvSpPr/>
          <p:nvPr/>
        </p:nvSpPr>
        <p:spPr>
          <a:xfrm>
            <a:off x="8759952" y="2212848"/>
            <a:ext cx="2478024" cy="45720"/>
          </a:xfrm>
          <a:prstGeom prst="rect">
            <a:avLst/>
          </a:prstGeom>
          <a:solidFill>
            <a:srgbClr val="C99211"/>
          </a:solidFill>
          <a:ln w="12700">
            <a:solidFill>
              <a:srgbClr val="C99211"/>
            </a:solidFill>
            <a:prstDash val="solid"/>
          </a:ln>
        </p:spPr>
      </p:sp>
      <p:sp>
        <p:nvSpPr>
          <p:cNvPr id="23" name="Text 20"/>
          <p:cNvSpPr/>
          <p:nvPr/>
        </p:nvSpPr>
        <p:spPr>
          <a:xfrm>
            <a:off x="8814816" y="2340864"/>
            <a:ext cx="236829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KOL PRESENCE</a:t>
            </a:r>
            <a:endParaRPr lang="en-US" sz="920" dirty="0"/>
          </a:p>
        </p:txBody>
      </p:sp>
      <p:sp>
        <p:nvSpPr>
          <p:cNvPr id="24" name="Text 21"/>
          <p:cNvSpPr/>
          <p:nvPr/>
        </p:nvSpPr>
        <p:spPr>
          <a:xfrm>
            <a:off x="8814816" y="2596896"/>
            <a:ext cx="236829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x national</a:t>
            </a:r>
            <a:endParaRPr lang="en-US" sz="1700" dirty="0"/>
          </a:p>
        </p:txBody>
      </p:sp>
      <p:sp>
        <p:nvSpPr>
          <p:cNvPr id="25" name="Text 22"/>
          <p:cNvSpPr/>
          <p:nvPr/>
        </p:nvSpPr>
        <p:spPr>
          <a:xfrm>
            <a:off x="8814816" y="2999232"/>
            <a:ext cx="2368296"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Travel, culture, family, sports creators.</a:t>
            </a:r>
            <a:endParaRPr lang="en-US" sz="1080" dirty="0"/>
          </a:p>
        </p:txBody>
      </p:sp>
      <p:sp>
        <p:nvSpPr>
          <p:cNvPr id="26" name="Shape 23"/>
          <p:cNvSpPr/>
          <p:nvPr/>
        </p:nvSpPr>
        <p:spPr>
          <a:xfrm>
            <a:off x="822960" y="3749040"/>
            <a:ext cx="10561320" cy="914400"/>
          </a:xfrm>
          <a:prstGeom prst="roundRect">
            <a:avLst>
              <a:gd name="adj" fmla="val 5000"/>
            </a:avLst>
          </a:prstGeom>
          <a:solidFill>
            <a:srgbClr val="114A7A"/>
          </a:solidFill>
          <a:ln w="12700">
            <a:solidFill>
              <a:srgbClr val="114A7A"/>
            </a:solidFill>
            <a:prstDash val="solid"/>
          </a:ln>
        </p:spPr>
      </p:sp>
      <p:sp>
        <p:nvSpPr>
          <p:cNvPr id="27" name="Text 24"/>
          <p:cNvSpPr/>
          <p:nvPr/>
        </p:nvSpPr>
        <p:spPr>
          <a:xfrm>
            <a:off x="1060704" y="3968496"/>
            <a:ext cx="10085832" cy="6035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2000" dirty="0"/>
          </a:p>
        </p:txBody>
      </p:sp>
      <p:sp>
        <p:nvSpPr>
          <p:cNvPr id="28" name="Text 25"/>
          <p:cNvSpPr/>
          <p:nvPr/>
        </p:nvSpPr>
        <p:spPr>
          <a:xfrm>
            <a:off x="868680" y="4882896"/>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Media zone cần vantage point đủ đẹp để khóa hero shot cho báo chí và UGC.</a:t>
            </a:r>
            <a:endParaRPr lang="en-US" sz="1110" dirty="0"/>
          </a:p>
        </p:txBody>
      </p:sp>
      <p:sp>
        <p:nvSpPr>
          <p:cNvPr id="29" name="Text 26"/>
          <p:cNvSpPr/>
          <p:nvPr/>
        </p:nvSpPr>
        <p:spPr>
          <a:xfrm>
            <a:off x="868680" y="5120640"/>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Social team dựng realtime content hub ngay tại event, đăng trong 15-30 phút.</a:t>
            </a:r>
            <a:endParaRPr lang="en-US" sz="1110" dirty="0"/>
          </a:p>
        </p:txBody>
      </p:sp>
      <p:sp>
        <p:nvSpPr>
          <p:cNvPr id="30" name="Text 27"/>
          <p:cNvSpPr/>
          <p:nvPr/>
        </p:nvSpPr>
        <p:spPr>
          <a:xfrm>
            <a:off x="868680" y="5358384"/>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11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3 - AMPLIFICATION &amp; LEGACY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Sau cuộc đua, tài sản truyền thông và dữ liệu không được phép dừng lại.</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nơi event chuyển hóa thành brand memory, earned credibility và commercial nurture.</a:t>
            </a:r>
            <a:endParaRPr lang="en-US" sz="1100" dirty="0"/>
          </a:p>
        </p:txBody>
      </p:sp>
      <p:sp>
        <p:nvSpPr>
          <p:cNvPr id="6" name="Shape 3"/>
          <p:cNvSpPr/>
          <p:nvPr/>
        </p:nvSpPr>
        <p:spPr>
          <a:xfrm>
            <a:off x="822960" y="2084832"/>
            <a:ext cx="3310128"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31136"/>
            <a:ext cx="3017520" cy="45720"/>
          </a:xfrm>
          <a:prstGeom prst="rect">
            <a:avLst/>
          </a:prstGeom>
          <a:solidFill>
            <a:srgbClr val="C99211"/>
          </a:solidFill>
          <a:ln w="12700">
            <a:solidFill>
              <a:srgbClr val="C99211"/>
            </a:solidFill>
            <a:prstDash val="solid"/>
          </a:ln>
        </p:spPr>
      </p:sp>
      <p:sp>
        <p:nvSpPr>
          <p:cNvPr id="8" name="Text 5"/>
          <p:cNvSpPr/>
          <p:nvPr/>
        </p:nvSpPr>
        <p:spPr>
          <a:xfrm>
            <a:off x="1024128" y="235915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AMPLIFY</a:t>
            </a:r>
            <a:endParaRPr lang="en-US" sz="920" dirty="0"/>
          </a:p>
        </p:txBody>
      </p:sp>
      <p:sp>
        <p:nvSpPr>
          <p:cNvPr id="9" name="Text 6"/>
          <p:cNvSpPr/>
          <p:nvPr/>
        </p:nvSpPr>
        <p:spPr>
          <a:xfrm>
            <a:off x="1024128"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Kéo dài độ phủ</a:t>
            </a:r>
            <a:endParaRPr lang="en-US" sz="1700" dirty="0"/>
          </a:p>
        </p:txBody>
      </p:sp>
      <p:sp>
        <p:nvSpPr>
          <p:cNvPr id="10" name="Text 7"/>
          <p:cNvSpPr/>
          <p:nvPr/>
        </p:nvSpPr>
        <p:spPr>
          <a:xfrm>
            <a:off x="1024128"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Aftermovie, recap film, photo essay, quote cards, PR tổng kết chuyển sự kiện thành cultural talking point.</a:t>
            </a:r>
            <a:endParaRPr lang="en-US" sz="1080" dirty="0"/>
          </a:p>
        </p:txBody>
      </p:sp>
      <p:sp>
        <p:nvSpPr>
          <p:cNvPr id="11" name="Shape 8"/>
          <p:cNvSpPr/>
          <p:nvPr/>
        </p:nvSpPr>
        <p:spPr>
          <a:xfrm>
            <a:off x="4443984" y="2084832"/>
            <a:ext cx="3310128"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590288" y="2231136"/>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5915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ARCHIVE</a:t>
            </a:r>
            <a:endParaRPr lang="en-US" sz="920" dirty="0"/>
          </a:p>
        </p:txBody>
      </p:sp>
      <p:sp>
        <p:nvSpPr>
          <p:cNvPr id="14" name="Text 11"/>
          <p:cNvSpPr/>
          <p:nvPr/>
        </p:nvSpPr>
        <p:spPr>
          <a:xfrm>
            <a:off x="4645152"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Đóng gói thành tài sản</a:t>
            </a:r>
            <a:endParaRPr lang="en-US" sz="1700" dirty="0"/>
          </a:p>
        </p:txBody>
      </p:sp>
      <p:sp>
        <p:nvSpPr>
          <p:cNvPr id="15" name="Text 12"/>
          <p:cNvSpPr/>
          <p:nvPr/>
        </p:nvSpPr>
        <p:spPr>
          <a:xfrm>
            <a:off x="4645152"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Xuất bản sổ tay 'Giữ Mái Chèo', landing page recap, gallery và case study cho mùa sau.</a:t>
            </a:r>
            <a:endParaRPr lang="en-US" sz="1080" dirty="0"/>
          </a:p>
        </p:txBody>
      </p:sp>
      <p:sp>
        <p:nvSpPr>
          <p:cNvPr id="16" name="Shape 13"/>
          <p:cNvSpPr/>
          <p:nvPr/>
        </p:nvSpPr>
        <p:spPr>
          <a:xfrm>
            <a:off x="8065008" y="2084832"/>
            <a:ext cx="3319272"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11312" y="2231136"/>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5915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NURTURE</a:t>
            </a:r>
            <a:endParaRPr lang="en-US" sz="920" dirty="0"/>
          </a:p>
        </p:txBody>
      </p:sp>
      <p:sp>
        <p:nvSpPr>
          <p:cNvPr id="19" name="Text 16"/>
          <p:cNvSpPr/>
          <p:nvPr/>
        </p:nvSpPr>
        <p:spPr>
          <a:xfrm>
            <a:off x="8266176" y="261518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Nuôi dưỡng quan tâm</a:t>
            </a:r>
            <a:endParaRPr lang="en-US" sz="1700" dirty="0"/>
          </a:p>
        </p:txBody>
      </p:sp>
      <p:sp>
        <p:nvSpPr>
          <p:cNvPr id="20" name="Text 17"/>
          <p:cNvSpPr/>
          <p:nvPr/>
        </p:nvSpPr>
        <p:spPr>
          <a:xfrm>
            <a:off x="8266176" y="3017520"/>
            <a:ext cx="2916936"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Nurturing lead theo nhóm đã tương tác, gửi nội dung ý nghĩa trước khi mở lựa chọn tư vấn mềm.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Ba lớp activation để chạm cảm xúc, mời tham gia và tạo visual spectacle.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nhiều booth. Chỉ vài trải nghiệm đủ mạnh, đủ đẹp và đủ nhớ.</a:t>
            </a:r>
            <a:endParaRPr lang="en-US" sz="1100" dirty="0"/>
          </a:p>
        </p:txBody>
      </p:sp>
      <p:sp>
        <p:nvSpPr>
          <p:cNvPr id="6" name="Shape 3"/>
          <p:cNvSpPr/>
          <p:nvPr/>
        </p:nvSpPr>
        <p:spPr>
          <a:xfrm>
            <a:off x="822960" y="2084832"/>
            <a:ext cx="3749040" cy="3364992"/>
          </a:xfrm>
          <a:prstGeom prst="roundRect">
            <a:avLst>
              <a:gd name="adj" fmla="val 1359"/>
            </a:avLst>
          </a:prstGeom>
          <a:solidFill>
            <a:srgbClr val="F8F3E8"/>
          </a:solidFill>
          <a:ln w="12700">
            <a:solidFill>
              <a:srgbClr val="D8E0E8"/>
            </a:solidFill>
            <a:prstDash val="solid"/>
          </a:ln>
        </p:spPr>
      </p:sp>
      <p:sp>
        <p:nvSpPr>
          <p:cNvPr id="7" name="Shape 4"/>
          <p:cNvSpPr/>
          <p:nvPr/>
        </p:nvSpPr>
        <p:spPr>
          <a:xfrm>
            <a:off x="969264" y="2231136"/>
            <a:ext cx="3456432" cy="45720"/>
          </a:xfrm>
          <a:prstGeom prst="rect">
            <a:avLst/>
          </a:prstGeom>
          <a:solidFill>
            <a:srgbClr val="C99211"/>
          </a:solidFill>
          <a:ln w="12700">
            <a:solidFill>
              <a:srgbClr val="C99211"/>
            </a:solidFill>
            <a:prstDash val="solid"/>
          </a:ln>
        </p:spPr>
      </p:sp>
      <p:sp>
        <p:nvSpPr>
          <p:cNvPr id="8" name="Text 5"/>
          <p:cNvSpPr/>
          <p:nvPr/>
        </p:nvSpPr>
        <p:spPr>
          <a:xfrm>
            <a:off x="1024128" y="2359152"/>
            <a:ext cx="33467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HERO ACTIVATION</a:t>
            </a:r>
            <a:endParaRPr lang="en-US" sz="920" dirty="0"/>
          </a:p>
        </p:txBody>
      </p:sp>
      <p:sp>
        <p:nvSpPr>
          <p:cNvPr id="9" name="Text 6"/>
          <p:cNvSpPr/>
          <p:nvPr/>
        </p:nvSpPr>
        <p:spPr>
          <a:xfrm>
            <a:off x="1024128" y="2615184"/>
            <a:ext cx="33467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Bến Nhắn Gửi Gia Đình</a:t>
            </a:r>
            <a:endParaRPr lang="en-US" sz="1700" dirty="0"/>
          </a:p>
        </p:txBody>
      </p:sp>
      <p:sp>
        <p:nvSpPr>
          <p:cNvPr id="10" name="Text 7"/>
          <p:cNvSpPr/>
          <p:nvPr/>
        </p:nvSpPr>
        <p:spPr>
          <a:xfrm>
            <a:off x="1024128" y="3017520"/>
            <a:ext cx="3346704" cy="234086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Khách tham dự viết lời nhắn cho người giữ nhịp của gia đình; lời nhắn được đưa lên màn hình, landing page hoặc social reel.</a:t>
            </a:r>
            <a:endParaRPr lang="en-US" sz="1080" dirty="0"/>
          </a:p>
        </p:txBody>
      </p:sp>
      <p:sp>
        <p:nvSpPr>
          <p:cNvPr id="11" name="Shape 8"/>
          <p:cNvSpPr/>
          <p:nvPr/>
        </p:nvSpPr>
        <p:spPr>
          <a:xfrm>
            <a:off x="4800600" y="2084832"/>
            <a:ext cx="2834640" cy="1591056"/>
          </a:xfrm>
          <a:prstGeom prst="roundRect">
            <a:avLst>
              <a:gd name="adj" fmla="val 2874"/>
            </a:avLst>
          </a:prstGeom>
          <a:solidFill>
            <a:srgbClr val="EEF5FB"/>
          </a:solidFill>
          <a:ln w="12700">
            <a:solidFill>
              <a:srgbClr val="D8E0E8"/>
            </a:solidFill>
            <a:prstDash val="solid"/>
          </a:ln>
        </p:spPr>
      </p:sp>
      <p:sp>
        <p:nvSpPr>
          <p:cNvPr id="12" name="Shape 9"/>
          <p:cNvSpPr/>
          <p:nvPr/>
        </p:nvSpPr>
        <p:spPr>
          <a:xfrm>
            <a:off x="4946904" y="2231136"/>
            <a:ext cx="2542032" cy="45720"/>
          </a:xfrm>
          <a:prstGeom prst="rect">
            <a:avLst/>
          </a:prstGeom>
          <a:solidFill>
            <a:srgbClr val="0B6CB8"/>
          </a:solidFill>
          <a:ln w="12700">
            <a:solidFill>
              <a:srgbClr val="0B6CB8"/>
            </a:solidFill>
            <a:prstDash val="solid"/>
          </a:ln>
        </p:spPr>
      </p:sp>
      <p:sp>
        <p:nvSpPr>
          <p:cNvPr id="13" name="Text 10"/>
          <p:cNvSpPr/>
          <p:nvPr/>
        </p:nvSpPr>
        <p:spPr>
          <a:xfrm>
            <a:off x="5001768" y="2359152"/>
            <a:ext cx="243230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PARTICIPATORY</a:t>
            </a:r>
            <a:endParaRPr lang="en-US" sz="920" dirty="0"/>
          </a:p>
        </p:txBody>
      </p:sp>
      <p:sp>
        <p:nvSpPr>
          <p:cNvPr id="14" name="Text 11"/>
          <p:cNvSpPr/>
          <p:nvPr/>
        </p:nvSpPr>
        <p:spPr>
          <a:xfrm>
            <a:off x="5001768" y="2615184"/>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Nhịp Chèo Đồng Tâm</a:t>
            </a:r>
            <a:endParaRPr lang="en-US" sz="1700" dirty="0"/>
          </a:p>
        </p:txBody>
      </p:sp>
      <p:sp>
        <p:nvSpPr>
          <p:cNvPr id="15" name="Text 12"/>
          <p:cNvSpPr/>
          <p:nvPr/>
        </p:nvSpPr>
        <p:spPr>
          <a:xfrm>
            <a:off x="5001768" y="3017520"/>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Game mô phỏng chèo theo nhịp đội để check-in, mini game và data capture.</a:t>
            </a:r>
            <a:endParaRPr lang="en-US" sz="1080" dirty="0"/>
          </a:p>
        </p:txBody>
      </p:sp>
      <p:sp>
        <p:nvSpPr>
          <p:cNvPr id="16" name="Shape 13"/>
          <p:cNvSpPr/>
          <p:nvPr/>
        </p:nvSpPr>
        <p:spPr>
          <a:xfrm>
            <a:off x="4800600" y="3858768"/>
            <a:ext cx="2834640" cy="1591056"/>
          </a:xfrm>
          <a:prstGeom prst="roundRect">
            <a:avLst>
              <a:gd name="adj" fmla="val 2874"/>
            </a:avLst>
          </a:prstGeom>
          <a:solidFill>
            <a:srgbClr val="F8F3E8"/>
          </a:solidFill>
          <a:ln w="12700">
            <a:solidFill>
              <a:srgbClr val="D8E0E8"/>
            </a:solidFill>
            <a:prstDash val="solid"/>
          </a:ln>
        </p:spPr>
      </p:sp>
      <p:sp>
        <p:nvSpPr>
          <p:cNvPr id="17" name="Shape 14"/>
          <p:cNvSpPr/>
          <p:nvPr/>
        </p:nvSpPr>
        <p:spPr>
          <a:xfrm>
            <a:off x="4946904" y="4005072"/>
            <a:ext cx="2542032" cy="45720"/>
          </a:xfrm>
          <a:prstGeom prst="rect">
            <a:avLst/>
          </a:prstGeom>
          <a:solidFill>
            <a:srgbClr val="C99211"/>
          </a:solidFill>
          <a:ln w="12700">
            <a:solidFill>
              <a:srgbClr val="C99211"/>
            </a:solidFill>
            <a:prstDash val="solid"/>
          </a:ln>
        </p:spPr>
      </p:sp>
      <p:sp>
        <p:nvSpPr>
          <p:cNvPr id="18" name="Text 15"/>
          <p:cNvSpPr/>
          <p:nvPr/>
        </p:nvSpPr>
        <p:spPr>
          <a:xfrm>
            <a:off x="5001768" y="4133088"/>
            <a:ext cx="24323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SPECTACLE</a:t>
            </a:r>
            <a:endParaRPr lang="en-US" sz="920" dirty="0"/>
          </a:p>
        </p:txBody>
      </p:sp>
      <p:sp>
        <p:nvSpPr>
          <p:cNvPr id="19" name="Text 16"/>
          <p:cNvSpPr/>
          <p:nvPr/>
        </p:nvSpPr>
        <p:spPr>
          <a:xfrm>
            <a:off x="5001768" y="4389120"/>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Bức Tường Mái Chèo Di Sản</a:t>
            </a:r>
            <a:endParaRPr lang="en-US" sz="1700" dirty="0"/>
          </a:p>
        </p:txBody>
      </p:sp>
      <p:sp>
        <p:nvSpPr>
          <p:cNvPr id="20" name="Text 17"/>
          <p:cNvSpPr/>
          <p:nvPr/>
        </p:nvSpPr>
        <p:spPr>
          <a:xfrm>
            <a:off x="5001768" y="4791456"/>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Installation mái chèo khổng lồ + ánh sáng, trở thành photo point signature của giải.</a:t>
            </a:r>
            <a:endParaRPr lang="en-US" sz="1080" dirty="0"/>
          </a:p>
        </p:txBody>
      </p:sp>
      <p:sp>
        <p:nvSpPr>
          <p:cNvPr id="21" name="Shape 18"/>
          <p:cNvSpPr/>
          <p:nvPr/>
        </p:nvSpPr>
        <p:spPr>
          <a:xfrm>
            <a:off x="7909560" y="2084832"/>
            <a:ext cx="3474720" cy="3364992"/>
          </a:xfrm>
          <a:prstGeom prst="roundRect">
            <a:avLst>
              <a:gd name="adj" fmla="val 1359"/>
            </a:avLst>
          </a:prstGeom>
          <a:solidFill>
            <a:srgbClr val="FFFFFF"/>
          </a:solidFill>
          <a:ln w="12700">
            <a:solidFill>
              <a:srgbClr val="D8E0E8"/>
            </a:solidFill>
            <a:prstDash val="solid"/>
          </a:ln>
        </p:spPr>
      </p:sp>
      <p:sp>
        <p:nvSpPr>
          <p:cNvPr id="22" name="Text 19"/>
          <p:cNvSpPr/>
          <p:nvPr/>
        </p:nvSpPr>
        <p:spPr>
          <a:xfrm>
            <a:off x="8156448" y="235915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THIẾT KẾ NGUYÊN TẮC</a:t>
            </a:r>
            <a:endParaRPr lang="en-US" sz="950" dirty="0"/>
          </a:p>
        </p:txBody>
      </p:sp>
      <p:sp>
        <p:nvSpPr>
          <p:cNvPr id="23" name="Text 20"/>
          <p:cNvSpPr/>
          <p:nvPr/>
        </p:nvSpPr>
        <p:spPr>
          <a:xfrm>
            <a:off x="8156448" y="2688336"/>
            <a:ext cx="2971800" cy="950976"/>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Activation phải ít nhưng có khí chất; tạo cảm xúc và hình ảnh trước khi tạo sự ồn ào.</a:t>
            </a:r>
            <a:endParaRPr lang="en-US" sz="18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 PR / VIRAL MECHANICS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Cơ chế lan tỏa cần được thiết kế như một hệ sinh thái nhẹ, linh hoạt và dễ tham gia.</a:t>
            </a:r>
            <a:endParaRPr lang="en-US" sz="1100" dirty="0"/>
          </a:p>
        </p:txBody>
      </p:sp>
      <p:sp>
        <p:nvSpPr>
          <p:cNvPr id="6" name="Shape 3"/>
          <p:cNvSpPr/>
          <p:nvPr/>
        </p:nvSpPr>
        <p:spPr>
          <a:xfrm>
            <a:off x="822960" y="2084832"/>
            <a:ext cx="2487168" cy="2615184"/>
          </a:xfrm>
          <a:prstGeom prst="roundRect">
            <a:avLst>
              <a:gd name="adj" fmla="val 1838"/>
            </a:avLst>
          </a:prstGeom>
          <a:solidFill>
            <a:srgbClr val="F8F3E8"/>
          </a:solidFill>
          <a:ln w="12700">
            <a:solidFill>
              <a:srgbClr val="D8E0E8"/>
            </a:solidFill>
            <a:prstDash val="solid"/>
          </a:ln>
        </p:spPr>
      </p:sp>
      <p:sp>
        <p:nvSpPr>
          <p:cNvPr id="7" name="Shape 4"/>
          <p:cNvSpPr/>
          <p:nvPr/>
        </p:nvSpPr>
        <p:spPr>
          <a:xfrm>
            <a:off x="969264" y="2231136"/>
            <a:ext cx="2194560" cy="45720"/>
          </a:xfrm>
          <a:prstGeom prst="rect">
            <a:avLst/>
          </a:prstGeom>
          <a:solidFill>
            <a:srgbClr val="C99211"/>
          </a:solidFill>
          <a:ln w="12700">
            <a:solidFill>
              <a:srgbClr val="C99211"/>
            </a:solidFill>
            <a:prstDash val="solid"/>
          </a:ln>
        </p:spPr>
      </p:sp>
      <p:sp>
        <p:nvSpPr>
          <p:cNvPr id="8" name="Text 5"/>
          <p:cNvSpPr/>
          <p:nvPr/>
        </p:nvSpPr>
        <p:spPr>
          <a:xfrm>
            <a:off x="1024128"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HASHTAG</a:t>
            </a:r>
            <a:endParaRPr lang="en-US" sz="920" dirty="0"/>
          </a:p>
        </p:txBody>
      </p:sp>
      <p:sp>
        <p:nvSpPr>
          <p:cNvPr id="9" name="Text 6"/>
          <p:cNvSpPr/>
          <p:nvPr/>
        </p:nvSpPr>
        <p:spPr>
          <a:xfrm>
            <a:off x="1024128"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a:t>
            </a:r>
            <a:endParaRPr lang="en-US" sz="1700" dirty="0"/>
          </a:p>
        </p:txBody>
      </p:sp>
      <p:sp>
        <p:nvSpPr>
          <p:cNvPr id="10" name="Text 7"/>
          <p:cNvSpPr/>
          <p:nvPr/>
        </p:nvSpPr>
        <p:spPr>
          <a:xfrm>
            <a:off x="1024128"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Tagline xã hội hóa toàn campaign, đi cùng hashtag phụ #DongChayKhongNgungLai.</a:t>
            </a:r>
            <a:endParaRPr lang="en-US" sz="1080" dirty="0"/>
          </a:p>
        </p:txBody>
      </p:sp>
      <p:sp>
        <p:nvSpPr>
          <p:cNvPr id="11" name="Shape 8"/>
          <p:cNvSpPr/>
          <p:nvPr/>
        </p:nvSpPr>
        <p:spPr>
          <a:xfrm>
            <a:off x="3529584" y="2084832"/>
            <a:ext cx="2487168" cy="2615184"/>
          </a:xfrm>
          <a:prstGeom prst="roundRect">
            <a:avLst>
              <a:gd name="adj" fmla="val 1838"/>
            </a:avLst>
          </a:prstGeom>
          <a:solidFill>
            <a:srgbClr val="EEF5FB"/>
          </a:solidFill>
          <a:ln w="12700">
            <a:solidFill>
              <a:srgbClr val="D8E0E8"/>
            </a:solidFill>
            <a:prstDash val="solid"/>
          </a:ln>
        </p:spPr>
      </p:sp>
      <p:sp>
        <p:nvSpPr>
          <p:cNvPr id="12" name="Shape 9"/>
          <p:cNvSpPr/>
          <p:nvPr/>
        </p:nvSpPr>
        <p:spPr>
          <a:xfrm>
            <a:off x="3675888" y="2231136"/>
            <a:ext cx="2194560" cy="45720"/>
          </a:xfrm>
          <a:prstGeom prst="rect">
            <a:avLst/>
          </a:prstGeom>
          <a:solidFill>
            <a:srgbClr val="0B6CB8"/>
          </a:solidFill>
          <a:ln w="12700">
            <a:solidFill>
              <a:srgbClr val="0B6CB8"/>
            </a:solidFill>
            <a:prstDash val="solid"/>
          </a:ln>
        </p:spPr>
      </p:sp>
      <p:sp>
        <p:nvSpPr>
          <p:cNvPr id="13" name="Text 10"/>
          <p:cNvSpPr/>
          <p:nvPr/>
        </p:nvSpPr>
        <p:spPr>
          <a:xfrm>
            <a:off x="3730752" y="2359152"/>
            <a:ext cx="208483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TIKTOK CHALLENGE</a:t>
            </a:r>
            <a:endParaRPr lang="en-US" sz="920" dirty="0"/>
          </a:p>
        </p:txBody>
      </p:sp>
      <p:sp>
        <p:nvSpPr>
          <p:cNvPr id="14" name="Text 11"/>
          <p:cNvSpPr/>
          <p:nvPr/>
        </p:nvSpPr>
        <p:spPr>
          <a:xfrm>
            <a:off x="3730752"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#GiuNhipGiaDinh</a:t>
            </a:r>
            <a:endParaRPr lang="en-US" sz="1700" dirty="0"/>
          </a:p>
        </p:txBody>
      </p:sp>
      <p:sp>
        <p:nvSpPr>
          <p:cNvPr id="15" name="Text 12"/>
          <p:cNvSpPr/>
          <p:nvPr/>
        </p:nvSpPr>
        <p:spPr>
          <a:xfrm>
            <a:off x="3730752"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Format kể về người giữ nhịp trong nhà bằng 1 câu chuyện ngắn hoặc 1 gesture tượng trưng.</a:t>
            </a:r>
            <a:endParaRPr lang="en-US" sz="1080" dirty="0"/>
          </a:p>
        </p:txBody>
      </p:sp>
      <p:sp>
        <p:nvSpPr>
          <p:cNvPr id="16" name="Shape 13"/>
          <p:cNvSpPr/>
          <p:nvPr/>
        </p:nvSpPr>
        <p:spPr>
          <a:xfrm>
            <a:off x="6236208" y="2084832"/>
            <a:ext cx="2487168" cy="2615184"/>
          </a:xfrm>
          <a:prstGeom prst="roundRect">
            <a:avLst>
              <a:gd name="adj" fmla="val 1838"/>
            </a:avLst>
          </a:prstGeom>
          <a:solidFill>
            <a:srgbClr val="F8F3E8"/>
          </a:solidFill>
          <a:ln w="12700">
            <a:solidFill>
              <a:srgbClr val="D8E0E8"/>
            </a:solidFill>
            <a:prstDash val="solid"/>
          </a:ln>
        </p:spPr>
      </p:sp>
      <p:sp>
        <p:nvSpPr>
          <p:cNvPr id="17" name="Shape 14"/>
          <p:cNvSpPr/>
          <p:nvPr/>
        </p:nvSpPr>
        <p:spPr>
          <a:xfrm>
            <a:off x="6382512" y="2231136"/>
            <a:ext cx="2194560" cy="45720"/>
          </a:xfrm>
          <a:prstGeom prst="rect">
            <a:avLst/>
          </a:prstGeom>
          <a:solidFill>
            <a:srgbClr val="C99211"/>
          </a:solidFill>
          <a:ln w="12700">
            <a:solidFill>
              <a:srgbClr val="C99211"/>
            </a:solidFill>
            <a:prstDash val="solid"/>
          </a:ln>
        </p:spPr>
      </p:sp>
      <p:sp>
        <p:nvSpPr>
          <p:cNvPr id="18" name="Text 15"/>
          <p:cNvSpPr/>
          <p:nvPr/>
        </p:nvSpPr>
        <p:spPr>
          <a:xfrm>
            <a:off x="6437376"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UGC</a:t>
            </a:r>
            <a:endParaRPr lang="en-US" sz="920" dirty="0"/>
          </a:p>
        </p:txBody>
      </p:sp>
      <p:sp>
        <p:nvSpPr>
          <p:cNvPr id="19" name="Text 16"/>
          <p:cNvSpPr/>
          <p:nvPr/>
        </p:nvSpPr>
        <p:spPr>
          <a:xfrm>
            <a:off x="6437376"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Lời nhắn cho mái chèo</a:t>
            </a:r>
            <a:endParaRPr lang="en-US" sz="1700" dirty="0"/>
          </a:p>
        </p:txBody>
      </p:sp>
      <p:sp>
        <p:nvSpPr>
          <p:cNvPr id="20" name="Text 17"/>
          <p:cNvSpPr/>
          <p:nvPr/>
        </p:nvSpPr>
        <p:spPr>
          <a:xfrm>
            <a:off x="6437376"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Khuyến khích người dùng viết một câu dành cho người đang gánh nhịp gia đình mình.</a:t>
            </a:r>
            <a:endParaRPr lang="en-US" sz="1080" dirty="0"/>
          </a:p>
        </p:txBody>
      </p:sp>
      <p:sp>
        <p:nvSpPr>
          <p:cNvPr id="21" name="Shape 18"/>
          <p:cNvSpPr/>
          <p:nvPr/>
        </p:nvSpPr>
        <p:spPr>
          <a:xfrm>
            <a:off x="8942832" y="2084832"/>
            <a:ext cx="2441448" cy="2615184"/>
          </a:xfrm>
          <a:prstGeom prst="roundRect">
            <a:avLst>
              <a:gd name="adj" fmla="val 1873"/>
            </a:avLst>
          </a:prstGeom>
          <a:solidFill>
            <a:srgbClr val="EEF5FB"/>
          </a:solidFill>
          <a:ln w="12700">
            <a:solidFill>
              <a:srgbClr val="D8E0E8"/>
            </a:solidFill>
            <a:prstDash val="solid"/>
          </a:ln>
        </p:spPr>
      </p:sp>
      <p:sp>
        <p:nvSpPr>
          <p:cNvPr id="22" name="Shape 19"/>
          <p:cNvSpPr/>
          <p:nvPr/>
        </p:nvSpPr>
        <p:spPr>
          <a:xfrm>
            <a:off x="9089136" y="2231136"/>
            <a:ext cx="2148840" cy="45720"/>
          </a:xfrm>
          <a:prstGeom prst="rect">
            <a:avLst/>
          </a:prstGeom>
          <a:solidFill>
            <a:srgbClr val="0B6CB8"/>
          </a:solidFill>
          <a:ln w="12700">
            <a:solidFill>
              <a:srgbClr val="0B6CB8"/>
            </a:solidFill>
            <a:prstDash val="solid"/>
          </a:ln>
        </p:spPr>
      </p:sp>
      <p:sp>
        <p:nvSpPr>
          <p:cNvPr id="23" name="Text 20"/>
          <p:cNvSpPr/>
          <p:nvPr/>
        </p:nvSpPr>
        <p:spPr>
          <a:xfrm>
            <a:off x="9144000" y="2359152"/>
            <a:ext cx="203911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KOL / PR</a:t>
            </a:r>
            <a:endParaRPr lang="en-US" sz="920" dirty="0"/>
          </a:p>
        </p:txBody>
      </p:sp>
      <p:sp>
        <p:nvSpPr>
          <p:cNvPr id="24" name="Text 21"/>
          <p:cNvSpPr/>
          <p:nvPr/>
        </p:nvSpPr>
        <p:spPr>
          <a:xfrm>
            <a:off x="9144000" y="2615184"/>
            <a:ext cx="203911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 national mix</a:t>
            </a:r>
            <a:endParaRPr lang="en-US" sz="1700" dirty="0"/>
          </a:p>
        </p:txBody>
      </p:sp>
      <p:sp>
        <p:nvSpPr>
          <p:cNvPr id="25" name="Text 22"/>
          <p:cNvSpPr/>
          <p:nvPr/>
        </p:nvSpPr>
        <p:spPr>
          <a:xfrm>
            <a:off x="9144000" y="3017520"/>
            <a:ext cx="203911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Nghệ sĩ Huế, creator văn hóa, voice về gia đình và MC/lifestyle mang độ tin cậy cao.</a:t>
            </a:r>
            <a:endParaRPr lang="en-US" sz="108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 DIRECTION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Mood cần cinematic, dignified, warm; không melodrama, không quảng cáo hóa quá sớm.</a:t>
            </a:r>
            <a:endParaRPr lang="en-US" sz="1100" dirty="0"/>
          </a:p>
        </p:txBody>
      </p:sp>
      <p:sp>
        <p:nvSpPr>
          <p:cNvPr id="6" name="Shape 3"/>
          <p:cNvSpPr/>
          <p:nvPr/>
        </p:nvSpPr>
        <p:spPr>
          <a:xfrm>
            <a:off x="822960" y="2048256"/>
            <a:ext cx="6492240" cy="3346704"/>
          </a:xfrm>
          <a:prstGeom prst="roundRect">
            <a:avLst>
              <a:gd name="adj" fmla="val 1366"/>
            </a:avLst>
          </a:prstGeom>
          <a:solidFill>
            <a:srgbClr val="114A7A"/>
          </a:solidFill>
          <a:ln w="12700">
            <a:solidFill>
              <a:srgbClr val="114A7A"/>
            </a:solidFill>
            <a:prstDash val="solid"/>
          </a:ln>
        </p:spPr>
      </p:sp>
      <p:sp>
        <p:nvSpPr>
          <p:cNvPr id="7" name="Text 4"/>
          <p:cNvSpPr/>
          <p:nvPr/>
        </p:nvSpPr>
        <p:spPr>
          <a:xfrm>
            <a:off x="1060704" y="2267712"/>
            <a:ext cx="6016752" cy="303580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Mở bằng nhịp chèo trên sông Hương. Đi qua chân dung người trụ cột. Chạm cao trào ở lễ tôn vinh. Khóa lại bằng một lời hứa thương hiệu.</a:t>
            </a:r>
            <a:endParaRPr lang="en-US" sz="2000" dirty="0"/>
          </a:p>
        </p:txBody>
      </p:sp>
      <p:sp>
        <p:nvSpPr>
          <p:cNvPr id="8" name="Shape 5"/>
          <p:cNvSpPr/>
          <p:nvPr/>
        </p:nvSpPr>
        <p:spPr>
          <a:xfrm>
            <a:off x="7571232" y="2048256"/>
            <a:ext cx="3822192" cy="1481328"/>
          </a:xfrm>
          <a:prstGeom prst="roundRect">
            <a:avLst>
              <a:gd name="adj" fmla="val 3086"/>
            </a:avLst>
          </a:prstGeom>
          <a:solidFill>
            <a:srgbClr val="F8F3E8"/>
          </a:solidFill>
          <a:ln w="12700">
            <a:solidFill>
              <a:srgbClr val="D8E0E8"/>
            </a:solidFill>
            <a:prstDash val="solid"/>
          </a:ln>
        </p:spPr>
      </p:sp>
      <p:sp>
        <p:nvSpPr>
          <p:cNvPr id="9" name="Shape 6"/>
          <p:cNvSpPr/>
          <p:nvPr/>
        </p:nvSpPr>
        <p:spPr>
          <a:xfrm>
            <a:off x="7717536" y="2194560"/>
            <a:ext cx="3529584" cy="45720"/>
          </a:xfrm>
          <a:prstGeom prst="rect">
            <a:avLst/>
          </a:prstGeom>
          <a:solidFill>
            <a:srgbClr val="C99211"/>
          </a:solidFill>
          <a:ln w="12700">
            <a:solidFill>
              <a:srgbClr val="C99211"/>
            </a:solidFill>
            <a:prstDash val="solid"/>
          </a:ln>
        </p:spPr>
      </p:sp>
      <p:sp>
        <p:nvSpPr>
          <p:cNvPr id="10" name="Text 7"/>
          <p:cNvSpPr/>
          <p:nvPr/>
        </p:nvSpPr>
        <p:spPr>
          <a:xfrm>
            <a:off x="7772400" y="2322576"/>
            <a:ext cx="34198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MOOD &amp; TONE</a:t>
            </a:r>
            <a:endParaRPr lang="en-US" sz="920" dirty="0"/>
          </a:p>
        </p:txBody>
      </p:sp>
      <p:sp>
        <p:nvSpPr>
          <p:cNvPr id="11" name="Text 8"/>
          <p:cNvSpPr/>
          <p:nvPr/>
        </p:nvSpPr>
        <p:spPr>
          <a:xfrm>
            <a:off x="7772400" y="2578608"/>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Cinematic | dignified | warm</a:t>
            </a:r>
            <a:endParaRPr lang="en-US" sz="1700" dirty="0"/>
          </a:p>
        </p:txBody>
      </p:sp>
      <p:sp>
        <p:nvSpPr>
          <p:cNvPr id="12" name="Text 9"/>
          <p:cNvSpPr/>
          <p:nvPr/>
        </p:nvSpPr>
        <p:spPr>
          <a:xfrm>
            <a:off x="7772400" y="2980944"/>
            <a:ext cx="3419856" cy="45720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Hình ảnh tiết chế, cảm xúc sâu, nhịp dựng chậm đầu - nhanh cuối.</a:t>
            </a:r>
            <a:endParaRPr lang="en-US" sz="1080" dirty="0"/>
          </a:p>
        </p:txBody>
      </p:sp>
      <p:sp>
        <p:nvSpPr>
          <p:cNvPr id="13" name="Shape 10"/>
          <p:cNvSpPr/>
          <p:nvPr/>
        </p:nvSpPr>
        <p:spPr>
          <a:xfrm>
            <a:off x="7571232" y="3749040"/>
            <a:ext cx="3822192" cy="1645920"/>
          </a:xfrm>
          <a:prstGeom prst="roundRect">
            <a:avLst>
              <a:gd name="adj" fmla="val 2778"/>
            </a:avLst>
          </a:prstGeom>
          <a:solidFill>
            <a:srgbClr val="EEF5FB"/>
          </a:solidFill>
          <a:ln w="12700">
            <a:solidFill>
              <a:srgbClr val="D8E0E8"/>
            </a:solidFill>
            <a:prstDash val="solid"/>
          </a:ln>
        </p:spPr>
      </p:sp>
      <p:sp>
        <p:nvSpPr>
          <p:cNvPr id="14" name="Shape 11"/>
          <p:cNvSpPr/>
          <p:nvPr/>
        </p:nvSpPr>
        <p:spPr>
          <a:xfrm>
            <a:off x="7717536" y="3895344"/>
            <a:ext cx="3529584" cy="45720"/>
          </a:xfrm>
          <a:prstGeom prst="rect">
            <a:avLst/>
          </a:prstGeom>
          <a:solidFill>
            <a:srgbClr val="0B6CB8"/>
          </a:solidFill>
          <a:ln w="12700">
            <a:solidFill>
              <a:srgbClr val="0B6CB8"/>
            </a:solidFill>
            <a:prstDash val="solid"/>
          </a:ln>
        </p:spPr>
      </p:sp>
      <p:sp>
        <p:nvSpPr>
          <p:cNvPr id="15" name="Text 12"/>
          <p:cNvSpPr/>
          <p:nvPr/>
        </p:nvSpPr>
        <p:spPr>
          <a:xfrm>
            <a:off x="7772400" y="4023360"/>
            <a:ext cx="34198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OUTPUT</a:t>
            </a:r>
            <a:endParaRPr lang="en-US" sz="920" dirty="0"/>
          </a:p>
        </p:txBody>
      </p:sp>
      <p:sp>
        <p:nvSpPr>
          <p:cNvPr id="16" name="Text 13"/>
          <p:cNvSpPr/>
          <p:nvPr/>
        </p:nvSpPr>
        <p:spPr>
          <a:xfrm>
            <a:off x="7772400" y="4279392"/>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30s | 60s | documentary cut</a:t>
            </a:r>
            <a:endParaRPr lang="en-US" sz="1700" dirty="0"/>
          </a:p>
        </p:txBody>
      </p:sp>
      <p:sp>
        <p:nvSpPr>
          <p:cNvPr id="17" name="Text 14"/>
          <p:cNvSpPr/>
          <p:nvPr/>
        </p:nvSpPr>
        <p:spPr>
          <a:xfrm>
            <a:off x="7772400" y="4681728"/>
            <a:ext cx="3419856" cy="6217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TVC online, event opening, recap page và PR assets.</a:t>
            </a:r>
            <a:endParaRPr lang="en-US" sz="10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CONTENT ECOSYSTEM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idea tốt phải sinh ra nhiều format nội dung với vai trò rõ ràng.</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liệt kê asset rời rạc, nội dung nên được tổ chức như một kim tự tháp từ big story xuống touchpoint.</a:t>
            </a:r>
            <a:endParaRPr lang="en-US" sz="1100" dirty="0"/>
          </a:p>
        </p:txBody>
      </p:sp>
      <p:sp>
        <p:nvSpPr>
          <p:cNvPr id="6" name="Shape 3"/>
          <p:cNvSpPr/>
          <p:nvPr/>
        </p:nvSpPr>
        <p:spPr>
          <a:xfrm>
            <a:off x="3822192" y="2011680"/>
            <a:ext cx="4572000" cy="1024128"/>
          </a:xfrm>
          <a:prstGeom prst="roundRect">
            <a:avLst>
              <a:gd name="adj" fmla="val 4464"/>
            </a:avLst>
          </a:prstGeom>
          <a:solidFill>
            <a:srgbClr val="114A7A"/>
          </a:solidFill>
          <a:ln w="12700">
            <a:solidFill>
              <a:srgbClr val="D8E0E8"/>
            </a:solidFill>
            <a:prstDash val="solid"/>
          </a:ln>
        </p:spPr>
      </p:sp>
      <p:sp>
        <p:nvSpPr>
          <p:cNvPr id="7" name="Text 4"/>
          <p:cNvSpPr/>
          <p:nvPr/>
        </p:nvSpPr>
        <p:spPr>
          <a:xfrm>
            <a:off x="5440680" y="2267712"/>
            <a:ext cx="1371600" cy="146304"/>
          </a:xfrm>
          <a:prstGeom prst="rect">
            <a:avLst/>
          </a:prstGeom>
          <a:noFill/>
          <a:ln/>
        </p:spPr>
        <p:txBody>
          <a:bodyPr wrap="square" lIns="0" tIns="0" rIns="0" bIns="0" rtlCol="0" anchor="t"/>
          <a:lstStyle/>
          <a:p>
            <a:pPr algn="ctr" indent="0" marL="0">
              <a:buNone/>
            </a:pPr>
            <a:r>
              <a:rPr lang="en-US" sz="1000" b="1" dirty="0">
                <a:solidFill>
                  <a:srgbClr val="BFD5EA"/>
                </a:solidFill>
                <a:latin typeface="Barlow" pitchFamily="34" charset="0"/>
                <a:ea typeface="Barlow" pitchFamily="34" charset="-122"/>
                <a:cs typeface="Barlow" pitchFamily="34" charset="-120"/>
              </a:rPr>
              <a:t>HERO CONTENT</a:t>
            </a:r>
            <a:endParaRPr lang="en-US" sz="1000" dirty="0"/>
          </a:p>
        </p:txBody>
      </p:sp>
      <p:sp>
        <p:nvSpPr>
          <p:cNvPr id="8" name="Text 5"/>
          <p:cNvSpPr/>
          <p:nvPr/>
        </p:nvSpPr>
        <p:spPr>
          <a:xfrm>
            <a:off x="4096512" y="2523744"/>
            <a:ext cx="4023360" cy="201168"/>
          </a:xfrm>
          <a:prstGeom prst="rect">
            <a:avLst/>
          </a:prstGeom>
          <a:noFill/>
          <a:ln/>
        </p:spPr>
        <p:txBody>
          <a:bodyPr wrap="square" lIns="0" tIns="0" rIns="0" bIns="0" rtlCol="0" anchor="t"/>
          <a:lstStyle/>
          <a:p>
            <a:pPr algn="ctr" indent="0" marL="0">
              <a:buNone/>
            </a:pPr>
            <a:r>
              <a:rPr lang="en-US" sz="1800" b="1" dirty="0">
                <a:solidFill>
                  <a:srgbClr val="FFFFFF"/>
                </a:solidFill>
                <a:latin typeface="Barlow" pitchFamily="34" charset="0"/>
                <a:ea typeface="Barlow" pitchFamily="34" charset="-122"/>
                <a:cs typeface="Barlow" pitchFamily="34" charset="-120"/>
              </a:rPr>
              <a:t>Hero film | main teaser | aftermovie</a:t>
            </a:r>
            <a:endParaRPr lang="en-US" sz="1800" dirty="0"/>
          </a:p>
        </p:txBody>
      </p:sp>
      <p:sp>
        <p:nvSpPr>
          <p:cNvPr id="9" name="Shape 6"/>
          <p:cNvSpPr/>
          <p:nvPr/>
        </p:nvSpPr>
        <p:spPr>
          <a:xfrm>
            <a:off x="2194560" y="3310128"/>
            <a:ext cx="7818120" cy="1024128"/>
          </a:xfrm>
          <a:prstGeom prst="roundRect">
            <a:avLst>
              <a:gd name="adj" fmla="val 4464"/>
            </a:avLst>
          </a:prstGeom>
          <a:solidFill>
            <a:srgbClr val="EEF5FB"/>
          </a:solidFill>
          <a:ln w="12700">
            <a:solidFill>
              <a:srgbClr val="D8E0E8"/>
            </a:solidFill>
            <a:prstDash val="solid"/>
          </a:ln>
        </p:spPr>
      </p:sp>
      <p:sp>
        <p:nvSpPr>
          <p:cNvPr id="10" name="Text 7"/>
          <p:cNvSpPr/>
          <p:nvPr/>
        </p:nvSpPr>
        <p:spPr>
          <a:xfrm>
            <a:off x="4187952" y="3566160"/>
            <a:ext cx="3840480" cy="146304"/>
          </a:xfrm>
          <a:prstGeom prst="rect">
            <a:avLst/>
          </a:prstGeom>
          <a:noFill/>
          <a:ln/>
        </p:spPr>
        <p:txBody>
          <a:bodyPr wrap="square" lIns="0" tIns="0" rIns="0" bIns="0" rtlCol="0" anchor="t"/>
          <a:lstStyle/>
          <a:p>
            <a:pPr algn="ctr" indent="0" marL="0">
              <a:buNone/>
            </a:pPr>
            <a:r>
              <a:rPr lang="en-US" sz="1000" b="1" dirty="0">
                <a:solidFill>
                  <a:srgbClr val="0B6CB8"/>
                </a:solidFill>
                <a:latin typeface="Barlow" pitchFamily="34" charset="0"/>
                <a:ea typeface="Barlow" pitchFamily="34" charset="-122"/>
                <a:cs typeface="Barlow" pitchFamily="34" charset="-120"/>
              </a:rPr>
              <a:t>SOCIAL STORYTELLING / LIVE CONTENT</a:t>
            </a:r>
            <a:endParaRPr lang="en-US" sz="1000" dirty="0"/>
          </a:p>
        </p:txBody>
      </p:sp>
      <p:sp>
        <p:nvSpPr>
          <p:cNvPr id="11" name="Text 8"/>
          <p:cNvSpPr/>
          <p:nvPr/>
        </p:nvSpPr>
        <p:spPr>
          <a:xfrm>
            <a:off x="2523744" y="3822192"/>
            <a:ext cx="7132320" cy="201168"/>
          </a:xfrm>
          <a:prstGeom prst="rect">
            <a:avLst/>
          </a:prstGeom>
          <a:noFill/>
          <a:ln/>
        </p:spPr>
        <p:txBody>
          <a:bodyPr wrap="square" lIns="0" tIns="0" rIns="0" bIns="0" rtlCol="0" anchor="t"/>
          <a:lstStyle/>
          <a:p>
            <a:pPr algn="ctr" indent="0" marL="0">
              <a:buNone/>
            </a:pPr>
            <a:r>
              <a:rPr lang="en-US" sz="1650" b="1" dirty="0">
                <a:solidFill>
                  <a:srgbClr val="114A7A"/>
                </a:solidFill>
                <a:latin typeface="Barlow" pitchFamily="34" charset="0"/>
                <a:ea typeface="Barlow" pitchFamily="34" charset="-122"/>
                <a:cs typeface="Barlow" pitchFamily="34" charset="-120"/>
              </a:rPr>
              <a:t>Reels | TikTok | livestream clip | stills | crew stories</a:t>
            </a:r>
            <a:endParaRPr lang="en-US" sz="1650" dirty="0"/>
          </a:p>
        </p:txBody>
      </p:sp>
      <p:sp>
        <p:nvSpPr>
          <p:cNvPr id="12" name="Shape 9"/>
          <p:cNvSpPr/>
          <p:nvPr/>
        </p:nvSpPr>
        <p:spPr>
          <a:xfrm>
            <a:off x="822960" y="4590288"/>
            <a:ext cx="10561320" cy="804672"/>
          </a:xfrm>
          <a:prstGeom prst="roundRect">
            <a:avLst>
              <a:gd name="adj" fmla="val 5682"/>
            </a:avLst>
          </a:prstGeom>
          <a:solidFill>
            <a:srgbClr val="F8F3E8"/>
          </a:solidFill>
          <a:ln w="12700">
            <a:solidFill>
              <a:srgbClr val="D8E0E8"/>
            </a:solidFill>
            <a:prstDash val="solid"/>
          </a:ln>
        </p:spPr>
      </p:sp>
      <p:sp>
        <p:nvSpPr>
          <p:cNvPr id="13" name="Text 10"/>
          <p:cNvSpPr/>
          <p:nvPr/>
        </p:nvSpPr>
        <p:spPr>
          <a:xfrm>
            <a:off x="1188720" y="4882896"/>
            <a:ext cx="9875520" cy="164592"/>
          </a:xfrm>
          <a:prstGeom prst="rect">
            <a:avLst/>
          </a:prstGeom>
          <a:noFill/>
          <a:ln/>
        </p:spPr>
        <p:txBody>
          <a:bodyPr wrap="square" lIns="0" tIns="0" rIns="0" bIns="0" rtlCol="0" anchor="t"/>
          <a:lstStyle/>
          <a:p>
            <a:pPr algn="ctr" indent="0" marL="0">
              <a:buNone/>
            </a:pPr>
            <a:r>
              <a:rPr lang="en-US" sz="1400" b="1" dirty="0">
                <a:solidFill>
                  <a:srgbClr val="114A7A"/>
                </a:solidFill>
                <a:latin typeface="Barlow" pitchFamily="34" charset="0"/>
                <a:ea typeface="Barlow" pitchFamily="34" charset="-122"/>
                <a:cs typeface="Barlow" pitchFamily="34" charset="-120"/>
              </a:rPr>
              <a:t>PR CONTENT | PHOTO ESSAY | CRM FOLLOW-UP | RECAP PAGE | LEAD NURTURE</a:t>
            </a:r>
            <a:endParaRPr lang="en-US" sz="140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BRANDING INTEGRATION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Hiện diện thương hiệu cần rõ ràng nhưng phải giữ được độ sang và sự tôn trọng bối cảnh văn hóa.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Tích hợp tốt là khi thương hiệu vừa được nhìn thấy, vừa được cảm thấy là có lý do để hiện diện.</a:t>
            </a:r>
            <a:endParaRPr lang="en-US" sz="1100" dirty="0"/>
          </a:p>
        </p:txBody>
      </p:sp>
      <p:sp>
        <p:nvSpPr>
          <p:cNvPr id="6" name="Shape 3"/>
          <p:cNvSpPr/>
          <p:nvPr/>
        </p:nvSpPr>
        <p:spPr>
          <a:xfrm>
            <a:off x="822960" y="2103120"/>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77440"/>
            <a:ext cx="182880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VISIBLE BRANDING</a:t>
            </a:r>
            <a:endParaRPr lang="en-US" sz="1000" dirty="0"/>
          </a:p>
        </p:txBody>
      </p:sp>
      <p:sp>
        <p:nvSpPr>
          <p:cNvPr id="8" name="Shape 5"/>
          <p:cNvSpPr/>
          <p:nvPr/>
        </p:nvSpPr>
        <p:spPr>
          <a:xfrm>
            <a:off x="1078992" y="2779776"/>
            <a:ext cx="347472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2852928"/>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Tên giải đấu và cúp vô địch</a:t>
            </a:r>
            <a:endParaRPr lang="en-US" sz="920" dirty="0"/>
          </a:p>
        </p:txBody>
      </p:sp>
      <p:sp>
        <p:nvSpPr>
          <p:cNvPr id="10" name="Shape 7"/>
          <p:cNvSpPr/>
          <p:nvPr/>
        </p:nvSpPr>
        <p:spPr>
          <a:xfrm>
            <a:off x="1078992" y="3273552"/>
            <a:ext cx="3474720"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1133856" y="3346704"/>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Backdrop, podium, pontoon, media wall</a:t>
            </a:r>
            <a:endParaRPr lang="en-US" sz="920" dirty="0"/>
          </a:p>
        </p:txBody>
      </p:sp>
      <p:sp>
        <p:nvSpPr>
          <p:cNvPr id="12" name="Shape 9"/>
          <p:cNvSpPr/>
          <p:nvPr/>
        </p:nvSpPr>
        <p:spPr>
          <a:xfrm>
            <a:off x="1078992" y="3767328"/>
            <a:ext cx="3474720"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1133856" y="3840480"/>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Livestream package, uniform key crew, banner chọn lọc</a:t>
            </a:r>
            <a:endParaRPr lang="en-US" sz="920" dirty="0"/>
          </a:p>
        </p:txBody>
      </p:sp>
      <p:sp>
        <p:nvSpPr>
          <p:cNvPr id="14" name="Shape 11"/>
          <p:cNvSpPr/>
          <p:nvPr/>
        </p:nvSpPr>
        <p:spPr>
          <a:xfrm>
            <a:off x="6382512" y="2103120"/>
            <a:ext cx="5001768" cy="3072384"/>
          </a:xfrm>
          <a:prstGeom prst="roundRect">
            <a:avLst>
              <a:gd name="adj" fmla="val 1488"/>
            </a:avLst>
          </a:prstGeom>
          <a:solidFill>
            <a:srgbClr val="EEF5FB"/>
          </a:solidFill>
          <a:ln w="12700">
            <a:solidFill>
              <a:srgbClr val="D8E0E8"/>
            </a:solidFill>
            <a:prstDash val="solid"/>
          </a:ln>
        </p:spPr>
      </p:sp>
      <p:sp>
        <p:nvSpPr>
          <p:cNvPr id="15" name="Text 12"/>
          <p:cNvSpPr/>
          <p:nvPr/>
        </p:nvSpPr>
        <p:spPr>
          <a:xfrm>
            <a:off x="6638544" y="2377440"/>
            <a:ext cx="201168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MEANINGFUL BRANDING</a:t>
            </a:r>
            <a:endParaRPr lang="en-US" sz="1000" dirty="0"/>
          </a:p>
        </p:txBody>
      </p:sp>
      <p:sp>
        <p:nvSpPr>
          <p:cNvPr id="16" name="Shape 13"/>
          <p:cNvSpPr/>
          <p:nvPr/>
        </p:nvSpPr>
        <p:spPr>
          <a:xfrm>
            <a:off x="6638544" y="2779776"/>
            <a:ext cx="3611880" cy="310896"/>
          </a:xfrm>
          <a:prstGeom prst="roundRect">
            <a:avLst>
              <a:gd name="adj" fmla="val 23529"/>
            </a:avLst>
          </a:prstGeom>
          <a:solidFill>
            <a:srgbClr val="0B6CB8">
              <a:alpha val="92000"/>
            </a:srgbClr>
          </a:solidFill>
          <a:ln w="12700">
            <a:solidFill>
              <a:srgbClr val="0B6CB8"/>
            </a:solidFill>
            <a:prstDash val="solid"/>
          </a:ln>
        </p:spPr>
      </p:sp>
      <p:sp>
        <p:nvSpPr>
          <p:cNvPr id="17" name="Text 14"/>
          <p:cNvSpPr/>
          <p:nvPr/>
        </p:nvSpPr>
        <p:spPr>
          <a:xfrm>
            <a:off x="6693408" y="2852928"/>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Nghi lễ tôn vinh người cầm lái mang tên BVNT</a:t>
            </a:r>
            <a:endParaRPr lang="en-US" sz="920" dirty="0"/>
          </a:p>
        </p:txBody>
      </p:sp>
      <p:sp>
        <p:nvSpPr>
          <p:cNvPr id="18" name="Shape 15"/>
          <p:cNvSpPr/>
          <p:nvPr/>
        </p:nvSpPr>
        <p:spPr>
          <a:xfrm>
            <a:off x="6638544" y="3273552"/>
            <a:ext cx="3611880" cy="310896"/>
          </a:xfrm>
          <a:prstGeom prst="roundRect">
            <a:avLst>
              <a:gd name="adj" fmla="val 23529"/>
            </a:avLst>
          </a:prstGeom>
          <a:solidFill>
            <a:srgbClr val="C99211">
              <a:alpha val="92000"/>
            </a:srgbClr>
          </a:solidFill>
          <a:ln w="12700">
            <a:solidFill>
              <a:srgbClr val="C99211"/>
            </a:solidFill>
            <a:prstDash val="solid"/>
          </a:ln>
        </p:spPr>
      </p:sp>
      <p:sp>
        <p:nvSpPr>
          <p:cNvPr id="19" name="Text 16"/>
          <p:cNvSpPr/>
          <p:nvPr/>
        </p:nvSpPr>
        <p:spPr>
          <a:xfrm>
            <a:off x="6693408" y="3346704"/>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Không gian lời nhắn gia đình và cúp di sản</a:t>
            </a:r>
            <a:endParaRPr lang="en-US" sz="920" dirty="0"/>
          </a:p>
        </p:txBody>
      </p:sp>
      <p:sp>
        <p:nvSpPr>
          <p:cNvPr id="20" name="Shape 17"/>
          <p:cNvSpPr/>
          <p:nvPr/>
        </p:nvSpPr>
        <p:spPr>
          <a:xfrm>
            <a:off x="6638544" y="3767328"/>
            <a:ext cx="3611880" cy="310896"/>
          </a:xfrm>
          <a:prstGeom prst="roundRect">
            <a:avLst>
              <a:gd name="adj" fmla="val 23529"/>
            </a:avLst>
          </a:prstGeom>
          <a:solidFill>
            <a:srgbClr val="0B6CB8">
              <a:alpha val="92000"/>
            </a:srgbClr>
          </a:solidFill>
          <a:ln w="12700">
            <a:solidFill>
              <a:srgbClr val="0B6CB8"/>
            </a:solidFill>
            <a:prstDash val="solid"/>
          </a:ln>
        </p:spPr>
      </p:sp>
      <p:sp>
        <p:nvSpPr>
          <p:cNvPr id="21" name="Text 18"/>
          <p:cNvSpPr/>
          <p:nvPr/>
        </p:nvSpPr>
        <p:spPr>
          <a:xfrm>
            <a:off x="6693408" y="3840480"/>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Giải phụ cho đội ghe / câu chuyện truyền cảm hứng</a:t>
            </a:r>
            <a:endParaRPr lang="en-US" sz="92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LEAD GENERATION LOGIC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Sức nóng văn hóa không nên đứng riêng với mục tiêu kinh doanh; hai lớp này phải được nối thật mượt.</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ép bán tại event. Dùng giá trị nội dung và cảm xúc để mở ra quan tâm có chất lượng.</a:t>
            </a:r>
            <a:endParaRPr lang="en-US" sz="1100" dirty="0"/>
          </a:p>
        </p:txBody>
      </p:sp>
      <p:sp>
        <p:nvSpPr>
          <p:cNvPr id="6" name="Shape 3"/>
          <p:cNvSpPr/>
          <p:nvPr/>
        </p:nvSpPr>
        <p:spPr>
          <a:xfrm>
            <a:off x="822960" y="2121408"/>
            <a:ext cx="3246120" cy="2651760"/>
          </a:xfrm>
          <a:prstGeom prst="roundRect">
            <a:avLst>
              <a:gd name="adj" fmla="val 1724"/>
            </a:avLst>
          </a:prstGeom>
          <a:solidFill>
            <a:srgbClr val="EEF5FB"/>
          </a:solidFill>
          <a:ln w="12700">
            <a:solidFill>
              <a:srgbClr val="D8E0E8"/>
            </a:solidFill>
            <a:prstDash val="solid"/>
          </a:ln>
        </p:spPr>
      </p:sp>
      <p:sp>
        <p:nvSpPr>
          <p:cNvPr id="7" name="Shape 4"/>
          <p:cNvSpPr/>
          <p:nvPr/>
        </p:nvSpPr>
        <p:spPr>
          <a:xfrm>
            <a:off x="969264" y="2267712"/>
            <a:ext cx="2953512" cy="45720"/>
          </a:xfrm>
          <a:prstGeom prst="rect">
            <a:avLst/>
          </a:prstGeom>
          <a:solidFill>
            <a:srgbClr val="0B6CB8"/>
          </a:solidFill>
          <a:ln w="12700">
            <a:solidFill>
              <a:srgbClr val="0B6CB8"/>
            </a:solidFill>
            <a:prstDash val="solid"/>
          </a:ln>
        </p:spPr>
      </p:sp>
      <p:sp>
        <p:nvSpPr>
          <p:cNvPr id="8" name="Text 5"/>
          <p:cNvSpPr/>
          <p:nvPr/>
        </p:nvSpPr>
        <p:spPr>
          <a:xfrm>
            <a:off x="1024128" y="2395728"/>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ATTRACT</a:t>
            </a:r>
            <a:endParaRPr lang="en-US" sz="920" dirty="0"/>
          </a:p>
        </p:txBody>
      </p:sp>
      <p:sp>
        <p:nvSpPr>
          <p:cNvPr id="9" name="Text 6"/>
          <p:cNvSpPr/>
          <p:nvPr/>
        </p:nvSpPr>
        <p:spPr>
          <a:xfrm>
            <a:off x="1024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Entry points</a:t>
            </a:r>
            <a:endParaRPr lang="en-US" sz="1700" dirty="0"/>
          </a:p>
        </p:txBody>
      </p:sp>
      <p:sp>
        <p:nvSpPr>
          <p:cNvPr id="10" name="Text 7"/>
          <p:cNvSpPr/>
          <p:nvPr/>
        </p:nvSpPr>
        <p:spPr>
          <a:xfrm>
            <a:off x="1024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QR, check-in, lời nhắn gia đình, activation và microsite event để kéo đúng đối tượng quan tâm.</a:t>
            </a:r>
            <a:endParaRPr lang="en-US" sz="1080" dirty="0"/>
          </a:p>
        </p:txBody>
      </p:sp>
      <p:sp>
        <p:nvSpPr>
          <p:cNvPr id="11" name="Shape 8"/>
          <p:cNvSpPr/>
          <p:nvPr/>
        </p:nvSpPr>
        <p:spPr>
          <a:xfrm>
            <a:off x="4251960" y="2121408"/>
            <a:ext cx="3246120" cy="2651760"/>
          </a:xfrm>
          <a:prstGeom prst="roundRect">
            <a:avLst>
              <a:gd name="adj" fmla="val 1724"/>
            </a:avLst>
          </a:prstGeom>
          <a:solidFill>
            <a:srgbClr val="F8F3E8"/>
          </a:solidFill>
          <a:ln w="12700">
            <a:solidFill>
              <a:srgbClr val="D8E0E8"/>
            </a:solidFill>
            <a:prstDash val="solid"/>
          </a:ln>
        </p:spPr>
      </p:sp>
      <p:sp>
        <p:nvSpPr>
          <p:cNvPr id="12" name="Shape 9"/>
          <p:cNvSpPr/>
          <p:nvPr/>
        </p:nvSpPr>
        <p:spPr>
          <a:xfrm>
            <a:off x="4398264" y="2267712"/>
            <a:ext cx="2953512" cy="45720"/>
          </a:xfrm>
          <a:prstGeom prst="rect">
            <a:avLst/>
          </a:prstGeom>
          <a:solidFill>
            <a:srgbClr val="C99211"/>
          </a:solidFill>
          <a:ln w="12700">
            <a:solidFill>
              <a:srgbClr val="C99211"/>
            </a:solidFill>
            <a:prstDash val="solid"/>
          </a:ln>
        </p:spPr>
      </p:sp>
      <p:sp>
        <p:nvSpPr>
          <p:cNvPr id="13" name="Text 10"/>
          <p:cNvSpPr/>
          <p:nvPr/>
        </p:nvSpPr>
        <p:spPr>
          <a:xfrm>
            <a:off x="4453128" y="2395728"/>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CAPTURE</a:t>
            </a:r>
            <a:endParaRPr lang="en-US" sz="920" dirty="0"/>
          </a:p>
        </p:txBody>
      </p:sp>
      <p:sp>
        <p:nvSpPr>
          <p:cNvPr id="14" name="Text 11"/>
          <p:cNvSpPr/>
          <p:nvPr/>
        </p:nvSpPr>
        <p:spPr>
          <a:xfrm>
            <a:off x="4453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Intent-based data</a:t>
            </a:r>
            <a:endParaRPr lang="en-US" sz="1700" dirty="0"/>
          </a:p>
        </p:txBody>
      </p:sp>
      <p:sp>
        <p:nvSpPr>
          <p:cNvPr id="15" name="Text 12"/>
          <p:cNvSpPr/>
          <p:nvPr/>
        </p:nvSpPr>
        <p:spPr>
          <a:xfrm>
            <a:off x="4453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Phân nhóm theo nhu cầu gia đình, tích lũy, giáo dục con, bảo vệ thu nhập thay vì thu lead thô.</a:t>
            </a:r>
            <a:endParaRPr lang="en-US" sz="1080" dirty="0"/>
          </a:p>
        </p:txBody>
      </p:sp>
      <p:sp>
        <p:nvSpPr>
          <p:cNvPr id="16" name="Shape 13"/>
          <p:cNvSpPr/>
          <p:nvPr/>
        </p:nvSpPr>
        <p:spPr>
          <a:xfrm>
            <a:off x="7680960" y="2121408"/>
            <a:ext cx="3703320" cy="2651760"/>
          </a:xfrm>
          <a:prstGeom prst="roundRect">
            <a:avLst>
              <a:gd name="adj" fmla="val 1724"/>
            </a:avLst>
          </a:prstGeom>
          <a:solidFill>
            <a:srgbClr val="EEF5FB"/>
          </a:solidFill>
          <a:ln w="12700">
            <a:solidFill>
              <a:srgbClr val="D8E0E8"/>
            </a:solidFill>
            <a:prstDash val="solid"/>
          </a:ln>
        </p:spPr>
      </p:sp>
      <p:sp>
        <p:nvSpPr>
          <p:cNvPr id="17" name="Shape 14"/>
          <p:cNvSpPr/>
          <p:nvPr/>
        </p:nvSpPr>
        <p:spPr>
          <a:xfrm>
            <a:off x="7827264" y="2267712"/>
            <a:ext cx="3410712" cy="45720"/>
          </a:xfrm>
          <a:prstGeom prst="rect">
            <a:avLst/>
          </a:prstGeom>
          <a:solidFill>
            <a:srgbClr val="0B6CB8"/>
          </a:solidFill>
          <a:ln w="12700">
            <a:solidFill>
              <a:srgbClr val="0B6CB8"/>
            </a:solidFill>
            <a:prstDash val="solid"/>
          </a:ln>
        </p:spPr>
      </p:sp>
      <p:sp>
        <p:nvSpPr>
          <p:cNvPr id="18" name="Text 15"/>
          <p:cNvSpPr/>
          <p:nvPr/>
        </p:nvSpPr>
        <p:spPr>
          <a:xfrm>
            <a:off x="7882128" y="2395728"/>
            <a:ext cx="3300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NURTURE</a:t>
            </a:r>
            <a:endParaRPr lang="en-US" sz="920" dirty="0"/>
          </a:p>
        </p:txBody>
      </p:sp>
      <p:sp>
        <p:nvSpPr>
          <p:cNvPr id="19" name="Text 16"/>
          <p:cNvSpPr/>
          <p:nvPr/>
        </p:nvSpPr>
        <p:spPr>
          <a:xfrm>
            <a:off x="7882128" y="2651760"/>
            <a:ext cx="3300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Content-first follow-up</a:t>
            </a:r>
            <a:endParaRPr lang="en-US" sz="1700" dirty="0"/>
          </a:p>
        </p:txBody>
      </p:sp>
      <p:sp>
        <p:nvSpPr>
          <p:cNvPr id="20" name="Text 17"/>
          <p:cNvSpPr/>
          <p:nvPr/>
        </p:nvSpPr>
        <p:spPr>
          <a:xfrm>
            <a:off x="7882128" y="3054096"/>
            <a:ext cx="33009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Gửi recap, câu chuyện ý nghĩa, nội dung hữu ích và chỉ mở lựa chọn tư vấn khi đúng thời điểm.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EXPECTED IMPACT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nền tảng tốt phải tạo tác động đồng thời lên awareness, trust, perception và business momentum.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Tác động lớn nhất không chỉ ở reach, mà ở cách thương hiệu được nhìn nhận sau sự kiện.</a:t>
            </a:r>
            <a:endParaRPr lang="en-US" sz="1100" dirty="0"/>
          </a:p>
        </p:txBody>
      </p:sp>
      <p:sp>
        <p:nvSpPr>
          <p:cNvPr id="6" name="Shape 3"/>
          <p:cNvSpPr/>
          <p:nvPr/>
        </p:nvSpPr>
        <p:spPr>
          <a:xfrm>
            <a:off x="822960" y="2029968"/>
            <a:ext cx="2468880" cy="987552"/>
          </a:xfrm>
          <a:prstGeom prst="roundRect">
            <a:avLst>
              <a:gd name="adj" fmla="val 4630"/>
            </a:avLst>
          </a:prstGeom>
          <a:solidFill>
            <a:srgbClr val="EEF5FB"/>
          </a:solidFill>
          <a:ln w="12700">
            <a:solidFill>
              <a:srgbClr val="D8E0E8"/>
            </a:solidFill>
            <a:prstDash val="solid"/>
          </a:ln>
        </p:spPr>
      </p:sp>
      <p:sp>
        <p:nvSpPr>
          <p:cNvPr id="7" name="Shape 4"/>
          <p:cNvSpPr/>
          <p:nvPr/>
        </p:nvSpPr>
        <p:spPr>
          <a:xfrm>
            <a:off x="969264" y="2176272"/>
            <a:ext cx="2176272" cy="45720"/>
          </a:xfrm>
          <a:prstGeom prst="rect">
            <a:avLst/>
          </a:prstGeom>
          <a:solidFill>
            <a:srgbClr val="0B6CB8"/>
          </a:solidFill>
          <a:ln w="12700">
            <a:solidFill>
              <a:srgbClr val="0B6CB8"/>
            </a:solidFill>
            <a:prstDash val="solid"/>
          </a:ln>
        </p:spPr>
      </p:sp>
      <p:sp>
        <p:nvSpPr>
          <p:cNvPr id="8" name="Text 5"/>
          <p:cNvSpPr/>
          <p:nvPr/>
        </p:nvSpPr>
        <p:spPr>
          <a:xfrm>
            <a:off x="102412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BRAND</a:t>
            </a:r>
            <a:endParaRPr lang="en-US" sz="920" dirty="0"/>
          </a:p>
        </p:txBody>
      </p:sp>
      <p:sp>
        <p:nvSpPr>
          <p:cNvPr id="9" name="Text 6"/>
          <p:cNvSpPr/>
          <p:nvPr/>
        </p:nvSpPr>
        <p:spPr>
          <a:xfrm>
            <a:off x="102412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Awareness + trust</a:t>
            </a:r>
            <a:endParaRPr lang="en-US" sz="1700" dirty="0"/>
          </a:p>
        </p:txBody>
      </p:sp>
      <p:sp>
        <p:nvSpPr>
          <p:cNvPr id="10" name="Text 7"/>
          <p:cNvSpPr/>
          <p:nvPr/>
        </p:nvSpPr>
        <p:spPr>
          <a:xfrm>
            <a:off x="102412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Độ phủ lớn đi cùng chiều sâu cảm nhận.</a:t>
            </a:r>
            <a:endParaRPr lang="en-US" sz="1080" dirty="0"/>
          </a:p>
        </p:txBody>
      </p:sp>
      <p:sp>
        <p:nvSpPr>
          <p:cNvPr id="11" name="Shape 8"/>
          <p:cNvSpPr/>
          <p:nvPr/>
        </p:nvSpPr>
        <p:spPr>
          <a:xfrm>
            <a:off x="3474720" y="2029968"/>
            <a:ext cx="2468880" cy="987552"/>
          </a:xfrm>
          <a:prstGeom prst="roundRect">
            <a:avLst>
              <a:gd name="adj" fmla="val 4630"/>
            </a:avLst>
          </a:prstGeom>
          <a:solidFill>
            <a:srgbClr val="F8F3E8"/>
          </a:solidFill>
          <a:ln w="12700">
            <a:solidFill>
              <a:srgbClr val="D8E0E8"/>
            </a:solidFill>
            <a:prstDash val="solid"/>
          </a:ln>
        </p:spPr>
      </p:sp>
      <p:sp>
        <p:nvSpPr>
          <p:cNvPr id="12" name="Shape 9"/>
          <p:cNvSpPr/>
          <p:nvPr/>
        </p:nvSpPr>
        <p:spPr>
          <a:xfrm>
            <a:off x="3621024" y="2176272"/>
            <a:ext cx="2176272" cy="45720"/>
          </a:xfrm>
          <a:prstGeom prst="rect">
            <a:avLst/>
          </a:prstGeom>
          <a:solidFill>
            <a:srgbClr val="C99211"/>
          </a:solidFill>
          <a:ln w="12700">
            <a:solidFill>
              <a:srgbClr val="C99211"/>
            </a:solidFill>
            <a:prstDash val="solid"/>
          </a:ln>
        </p:spPr>
      </p:sp>
      <p:sp>
        <p:nvSpPr>
          <p:cNvPr id="13" name="Text 10"/>
          <p:cNvSpPr/>
          <p:nvPr/>
        </p:nvSpPr>
        <p:spPr>
          <a:xfrm>
            <a:off x="3675888" y="2304288"/>
            <a:ext cx="20665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CULTURE</a:t>
            </a:r>
            <a:endParaRPr lang="en-US" sz="920" dirty="0"/>
          </a:p>
        </p:txBody>
      </p:sp>
      <p:sp>
        <p:nvSpPr>
          <p:cNvPr id="14" name="Text 11"/>
          <p:cNvSpPr/>
          <p:nvPr/>
        </p:nvSpPr>
        <p:spPr>
          <a:xfrm>
            <a:off x="367588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Relevance + pride</a:t>
            </a:r>
            <a:endParaRPr lang="en-US" sz="1700" dirty="0"/>
          </a:p>
        </p:txBody>
      </p:sp>
      <p:sp>
        <p:nvSpPr>
          <p:cNvPr id="15" name="Text 12"/>
          <p:cNvSpPr/>
          <p:nvPr/>
        </p:nvSpPr>
        <p:spPr>
          <a:xfrm>
            <a:off x="367588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Thương hiệu hiện diện như người gìn giữ.</a:t>
            </a:r>
            <a:endParaRPr lang="en-US" sz="1080" dirty="0"/>
          </a:p>
        </p:txBody>
      </p:sp>
      <p:sp>
        <p:nvSpPr>
          <p:cNvPr id="16" name="Shape 13"/>
          <p:cNvSpPr/>
          <p:nvPr/>
        </p:nvSpPr>
        <p:spPr>
          <a:xfrm>
            <a:off x="6126480" y="2029968"/>
            <a:ext cx="2468880" cy="987552"/>
          </a:xfrm>
          <a:prstGeom prst="roundRect">
            <a:avLst>
              <a:gd name="adj" fmla="val 4630"/>
            </a:avLst>
          </a:prstGeom>
          <a:solidFill>
            <a:srgbClr val="EEF5FB"/>
          </a:solidFill>
          <a:ln w="12700">
            <a:solidFill>
              <a:srgbClr val="D8E0E8"/>
            </a:solidFill>
            <a:prstDash val="solid"/>
          </a:ln>
        </p:spPr>
      </p:sp>
      <p:sp>
        <p:nvSpPr>
          <p:cNvPr id="17" name="Shape 14"/>
          <p:cNvSpPr/>
          <p:nvPr/>
        </p:nvSpPr>
        <p:spPr>
          <a:xfrm>
            <a:off x="6272784" y="2176272"/>
            <a:ext cx="2176272" cy="45720"/>
          </a:xfrm>
          <a:prstGeom prst="rect">
            <a:avLst/>
          </a:prstGeom>
          <a:solidFill>
            <a:srgbClr val="0B6CB8"/>
          </a:solidFill>
          <a:ln w="12700">
            <a:solidFill>
              <a:srgbClr val="0B6CB8"/>
            </a:solidFill>
            <a:prstDash val="solid"/>
          </a:ln>
        </p:spPr>
      </p:sp>
      <p:sp>
        <p:nvSpPr>
          <p:cNvPr id="18" name="Text 15"/>
          <p:cNvSpPr/>
          <p:nvPr/>
        </p:nvSpPr>
        <p:spPr>
          <a:xfrm>
            <a:off x="632764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BUSINESS</a:t>
            </a:r>
            <a:endParaRPr lang="en-US" sz="920" dirty="0"/>
          </a:p>
        </p:txBody>
      </p:sp>
      <p:sp>
        <p:nvSpPr>
          <p:cNvPr id="19" name="Text 16"/>
          <p:cNvSpPr/>
          <p:nvPr/>
        </p:nvSpPr>
        <p:spPr>
          <a:xfrm>
            <a:off x="632764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Lead + momentum</a:t>
            </a:r>
            <a:endParaRPr lang="en-US" sz="1700" dirty="0"/>
          </a:p>
        </p:txBody>
      </p:sp>
      <p:sp>
        <p:nvSpPr>
          <p:cNvPr id="20" name="Text 17"/>
          <p:cNvSpPr/>
          <p:nvPr/>
        </p:nvSpPr>
        <p:spPr>
          <a:xfrm>
            <a:off x="632764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Tạo quan tâm chất lượng thay vì lead thô.</a:t>
            </a:r>
            <a:endParaRPr lang="en-US" sz="1080" dirty="0"/>
          </a:p>
        </p:txBody>
      </p:sp>
      <p:sp>
        <p:nvSpPr>
          <p:cNvPr id="21" name="Shape 18"/>
          <p:cNvSpPr/>
          <p:nvPr/>
        </p:nvSpPr>
        <p:spPr>
          <a:xfrm>
            <a:off x="822960" y="3255264"/>
            <a:ext cx="5349240" cy="2148840"/>
          </a:xfrm>
          <a:prstGeom prst="roundRect">
            <a:avLst>
              <a:gd name="adj" fmla="val 2128"/>
            </a:avLst>
          </a:prstGeom>
          <a:solidFill>
            <a:srgbClr val="EEF5FB"/>
          </a:solidFill>
          <a:ln w="12700">
            <a:solidFill>
              <a:srgbClr val="D8E0E8"/>
            </a:solidFill>
            <a:prstDash val="solid"/>
          </a:ln>
        </p:spPr>
      </p:sp>
      <p:sp>
        <p:nvSpPr>
          <p:cNvPr id="22" name="Text 19"/>
          <p:cNvSpPr/>
          <p:nvPr/>
        </p:nvSpPr>
        <p:spPr>
          <a:xfrm>
            <a:off x="1078992" y="3511296"/>
            <a:ext cx="201168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IMPACT ACROSS THE FUNNEL</a:t>
            </a:r>
            <a:endParaRPr lang="en-US" sz="950" dirty="0"/>
          </a:p>
        </p:txBody>
      </p:sp>
      <p:sp>
        <p:nvSpPr>
          <p:cNvPr id="23" name="Text 20"/>
          <p:cNvSpPr/>
          <p:nvPr/>
        </p:nvSpPr>
        <p:spPr>
          <a:xfrm>
            <a:off x="1078992" y="3840480"/>
            <a:ext cx="4480560" cy="530352"/>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Awareness mạnh hơn. Trust sâu hơn. Relevance văn hóa rõ hơn.</a:t>
            </a:r>
            <a:endParaRPr lang="en-US" sz="2200" dirty="0"/>
          </a:p>
        </p:txBody>
      </p:sp>
      <p:sp>
        <p:nvSpPr>
          <p:cNvPr id="24" name="Text 21"/>
          <p:cNvSpPr/>
          <p:nvPr/>
        </p:nvSpPr>
        <p:spPr>
          <a:xfrm>
            <a:off x="1078992" y="4590288"/>
            <a:ext cx="4526280" cy="42062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Đề xuất này không chỉ tạo độ phủ cho ngày đua, mà còn giúp thương hiệu được nhớ bằng một vai trò có ý nghĩa và có khả năng tích lũy.</a:t>
            </a:r>
            <a:endParaRPr lang="en-US" sz="1110" dirty="0"/>
          </a:p>
        </p:txBody>
      </p:sp>
      <p:sp>
        <p:nvSpPr>
          <p:cNvPr id="25" name="Shape 22"/>
          <p:cNvSpPr/>
          <p:nvPr/>
        </p:nvSpPr>
        <p:spPr>
          <a:xfrm>
            <a:off x="6446520" y="3255264"/>
            <a:ext cx="4937760" cy="2148840"/>
          </a:xfrm>
          <a:prstGeom prst="roundRect">
            <a:avLst>
              <a:gd name="adj" fmla="val 2128"/>
            </a:avLst>
          </a:prstGeom>
          <a:solidFill>
            <a:srgbClr val="FFFFFF"/>
          </a:solidFill>
          <a:ln w="12700">
            <a:solidFill>
              <a:srgbClr val="D8E0E8"/>
            </a:solidFill>
            <a:prstDash val="solid"/>
          </a:ln>
        </p:spPr>
      </p:sp>
      <p:sp>
        <p:nvSpPr>
          <p:cNvPr id="26" name="Text 23"/>
          <p:cNvSpPr/>
          <p:nvPr/>
        </p:nvSpPr>
        <p:spPr>
          <a:xfrm>
            <a:off x="6675120" y="3493008"/>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PERCEPTION SHIFT</a:t>
            </a:r>
            <a:endParaRPr lang="en-US" sz="950" dirty="0"/>
          </a:p>
        </p:txBody>
      </p:sp>
      <p:sp>
        <p:nvSpPr>
          <p:cNvPr id="27" name="Text 24"/>
          <p:cNvSpPr/>
          <p:nvPr/>
        </p:nvSpPr>
        <p:spPr>
          <a:xfrm>
            <a:off x="6675120" y="3840480"/>
            <a:ext cx="4114800" cy="493776"/>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Từ thương hiệu lớn sang thương hiệu lớn và giàu ý nghĩa.</a:t>
            </a:r>
            <a:endParaRPr lang="en-US" sz="2200" dirty="0"/>
          </a:p>
        </p:txBody>
      </p:sp>
      <p:sp>
        <p:nvSpPr>
          <p:cNvPr id="28" name="Text 25"/>
          <p:cNvSpPr/>
          <p:nvPr/>
        </p:nvSpPr>
        <p:spPr>
          <a:xfrm>
            <a:off x="6675120" y="4553712"/>
            <a:ext cx="4023360" cy="384048"/>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Một câu chuyện bảo hiểm nhân thọ được kể bằng văn hóa, có quy mô, có chuẩn mực và có khả năng tích lũy dài hạn.</a:t>
            </a:r>
            <a:endParaRPr lang="en-US" sz="1110" dirty="0"/>
          </a:p>
        </p:txBody>
      </p:sp>
      <p:sp>
        <p:nvSpPr>
          <p:cNvPr id="29" name="Text 26"/>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BVNT Hue Boat Race Proposal 2026 v3</dc:title>
  <dc:subject>BVNT Hue Boat Race Proposal v3</dc:subject>
  <dc:creator>OpenAI Codex</dc:creator>
  <cp:lastModifiedBy>OpenAI Codex</cp:lastModifiedBy>
  <cp:revision>1</cp:revision>
  <dcterms:created xsi:type="dcterms:W3CDTF">2026-03-18T04:19:11Z</dcterms:created>
  <dcterms:modified xsi:type="dcterms:W3CDTF">2026-03-18T04:19:11Z</dcterms:modified>
</cp:coreProperties>
</file>