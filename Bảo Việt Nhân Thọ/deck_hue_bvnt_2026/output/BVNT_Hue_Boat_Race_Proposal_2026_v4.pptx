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797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341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ĐỀ XUẤT NỀN TẢNG TÀI TRỢ VĂN HÓA - THƯƠNG HIỆU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77824" y="2978184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97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GIẢI VÔ ĐỊCH ĐUA GHE TRUYỀN THỐNG CỐ ĐÔ HUẾ 2026</a:t>
            </a:r>
            <a:endParaRPr lang="en-US" sz="2197" dirty="0"/>
          </a:p>
          <a:p>
            <a:pPr marL="0" indent="0">
              <a:buNone/>
            </a:pPr>
            <a:r>
              <a:rPr lang="en-US" sz="2197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TRANH CÚP BẢO VIỆT NHÂN THỌ</a:t>
            </a:r>
            <a:endParaRPr lang="en-US" sz="2197" dirty="0"/>
          </a:p>
        </p:txBody>
      </p:sp>
      <p:sp>
        <p:nvSpPr>
          <p:cNvPr id="5" name="Text 2"/>
          <p:cNvSpPr/>
          <p:nvPr/>
        </p:nvSpPr>
        <p:spPr>
          <a:xfrm>
            <a:off x="822960" y="36758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Big Idea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391363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GIỮ MÁI CHÈO DI SẢN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22960" y="4334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8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Bảo Việt Nhân Thọ - Giữ mái chèo hôm nay, chở che muôn thế hệ mai sau.</a:t>
            </a:r>
            <a:endParaRPr lang="en-US" sz="1280" dirty="0"/>
          </a:p>
        </p:txBody>
      </p:sp>
      <p:sp>
        <p:nvSpPr>
          <p:cNvPr id="8" name="Shape 5"/>
          <p:cNvSpPr/>
          <p:nvPr/>
        </p:nvSpPr>
        <p:spPr>
          <a:xfrm>
            <a:off x="822960" y="4736592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877824" y="4809744"/>
            <a:ext cx="2587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02.09.2026 | SÔNG HƯƠNG - HUẾ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3639312" y="4736592"/>
            <a:ext cx="2907792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3694176" y="4809744"/>
            <a:ext cx="2798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TITLE SPONSOR / NAMING RIGHTS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46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1078992" y="18653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78992" y="2414016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43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tài trợ một giải đua.</a:t>
            </a:r>
            <a:endParaRPr lang="en-US" sz="2643" dirty="0"/>
          </a:p>
          <a:p>
            <a:pPr marL="0" indent="0">
              <a:buNone/>
            </a:pPr>
            <a:r>
              <a:rPr lang="en-US" sz="2643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Khởi sinh một tài sản văn hóa thương hiệu.</a:t>
            </a:r>
            <a:endParaRPr lang="en-US" sz="2643" dirty="0"/>
          </a:p>
        </p:txBody>
      </p:sp>
      <p:sp>
        <p:nvSpPr>
          <p:cNvPr id="6" name="Text 3"/>
          <p:cNvSpPr/>
          <p:nvPr/>
        </p:nvSpPr>
        <p:spPr>
          <a:xfrm>
            <a:off x="1078992" y="3877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dự án đủ lớn để tích lũy qua nhiều năm.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Bốn lực đẩy đang hội tụ cùng lúc.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Đây là thời điểm hiếm khi event, văn hóa và thương hiệu cùng đứng về một phía.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048256"/>
            <a:ext cx="2450592" cy="1298448"/>
          </a:xfrm>
          <a:prstGeom prst="roundRect">
            <a:avLst>
              <a:gd name="adj" fmla="val 3521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194560"/>
            <a:ext cx="215798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322576"/>
            <a:ext cx="2048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57860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Quốc khánh 02/09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298094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Tinh thần cộng đồng.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493008" y="2048256"/>
            <a:ext cx="2450592" cy="1298448"/>
          </a:xfrm>
          <a:prstGeom prst="roundRect">
            <a:avLst>
              <a:gd name="adj" fmla="val 3521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3639312" y="2194560"/>
            <a:ext cx="2157984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3694176" y="2322576"/>
            <a:ext cx="2048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3694176" y="257860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Huế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694176" y="298094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Chiều sâu di sản.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163056" y="2048256"/>
            <a:ext cx="2450592" cy="1298448"/>
          </a:xfrm>
          <a:prstGeom prst="roundRect">
            <a:avLst>
              <a:gd name="adj" fmla="val 3521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6309360" y="2194560"/>
            <a:ext cx="215798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6364224" y="2322576"/>
            <a:ext cx="2048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364224" y="257860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Đua ghe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364224" y="298094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 power rất mạnh.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8833104" y="2048256"/>
            <a:ext cx="2560320" cy="1298448"/>
          </a:xfrm>
          <a:prstGeom prst="roundRect">
            <a:avLst>
              <a:gd name="adj" fmla="val 3521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Shape 19"/>
          <p:cNvSpPr/>
          <p:nvPr/>
        </p:nvSpPr>
        <p:spPr>
          <a:xfrm>
            <a:off x="8979408" y="2194560"/>
            <a:ext cx="2267712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 20"/>
          <p:cNvSpPr/>
          <p:nvPr/>
        </p:nvSpPr>
        <p:spPr>
          <a:xfrm>
            <a:off x="9034272" y="2322576"/>
            <a:ext cx="2157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9034272" y="257860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Bảo Việt Nhân Thọ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034272" y="298094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Right to play tự nhiên.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822960" y="3950208"/>
            <a:ext cx="10561320" cy="841248"/>
          </a:xfrm>
          <a:prstGeom prst="roundRect">
            <a:avLst>
              <a:gd name="adj" fmla="val 5435"/>
            </a:avLst>
          </a:prstGeom>
          <a:solidFill>
            <a:srgbClr val="114A7A"/>
          </a:solidFill>
          <a:ln w="12700">
            <a:solidFill>
              <a:srgbClr val="114A7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Text 24"/>
          <p:cNvSpPr/>
          <p:nvPr/>
        </p:nvSpPr>
        <p:spPr>
          <a:xfrm>
            <a:off x="1060704" y="4151376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Nếu làm đúng, dự án này sẽ sống lâu hơn một mùa truyền thông.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46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1078992" y="18653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TENSION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78992" y="2414016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Điều gia đình sợ nhất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phải sóng gió.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Mà là hành trình bị dừng giữa dòng.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CULTURAL CONTEXT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Huế không chỉ là nơi diễn ra sự kiện.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Huế chính là lớp nghĩa làm cho dự án này trở nên đắt giá.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029968"/>
            <a:ext cx="5074920" cy="3529584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060704" y="232257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HUẾ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60704" y="263347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Thành phố của ký ức và sự kế thừa.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60704" y="33467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Sông Hương là ký ức sống.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1060704" y="3749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Sự chuẩn mực làm mọi thứ trở nên sang hơn.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1060704" y="41513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Tinh thần gia phong rất gần với câu chuyện bảo vệ.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309360" y="2029968"/>
            <a:ext cx="5074920" cy="3529584"/>
          </a:xfrm>
          <a:prstGeom prst="roundRect">
            <a:avLst>
              <a:gd name="adj" fmla="val 1295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6547104" y="23225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ĐUA GHE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47104" y="2633472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nghi lễ cộng đồng, không chỉ một cuộc thi.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47104" y="33467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Mỗi ghe vận hành như một gia đình.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6547104" y="37490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Người cầm lái là hình tượng trách nhiệm.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6547104" y="415137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Hai bờ sông biến cuộc đua thành ký ức chung.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52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841248" y="1755648"/>
            <a:ext cx="91440" cy="196596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1078992" y="18105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INSIGHT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" y="208483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Khi một nhịp chèo chậm lại,</a:t>
            </a:r>
            <a:endParaRPr lang="en-US" sz="2705" dirty="0"/>
          </a:p>
          <a:p>
            <a:pPr marL="0" indent="0">
              <a:buNone/>
            </a:pPr>
            <a:r>
              <a:rPr lang="en-US" sz="270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cả con ghe đều bị ảnh hưởng.</a:t>
            </a:r>
            <a:endParaRPr lang="en-US" sz="2705" dirty="0"/>
          </a:p>
        </p:txBody>
      </p:sp>
      <p:sp>
        <p:nvSpPr>
          <p:cNvPr id="7" name="Text 4"/>
          <p:cNvSpPr/>
          <p:nvPr/>
        </p:nvSpPr>
        <p:spPr>
          <a:xfrm>
            <a:off x="1078992" y="33832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Đó là cách người Việt cảm nhận rất thật về vai trò của người trụ cột trong gia đình.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89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1338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HUMAN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26791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27340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EMOTIONAL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INSIGHT MAP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Đua ghe là một ẩn dụ Việt Nam rất đắt cho câu chuyện bảo vệ gia đình.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Chỉ cần giải mã đúng biểu tượng, thương hiệu sẽ có một ngôn ngữ cảm xúc vừa gần gũi vừa sang trọng.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048256"/>
            <a:ext cx="2331720" cy="841248"/>
          </a:xfrm>
          <a:prstGeom prst="roundRect">
            <a:avLst>
              <a:gd name="adj" fmla="val 5435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987552" y="22311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GHE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87552" y="241401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Gia đình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74720" y="2048256"/>
            <a:ext cx="2331720" cy="841248"/>
          </a:xfrm>
          <a:prstGeom prst="roundRect">
            <a:avLst>
              <a:gd name="adj" fmla="val 5435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7"/>
          <p:cNvSpPr/>
          <p:nvPr/>
        </p:nvSpPr>
        <p:spPr>
          <a:xfrm>
            <a:off x="3639312" y="22311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MÁI CHÈO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39312" y="241401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Người trụ cột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26480" y="2048256"/>
            <a:ext cx="2331720" cy="841248"/>
          </a:xfrm>
          <a:prstGeom prst="roundRect">
            <a:avLst>
              <a:gd name="adj" fmla="val 5435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6291072" y="22311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DÒNG SÔNG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91072" y="241401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Cuộc đời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778240" y="2048256"/>
            <a:ext cx="2331720" cy="841248"/>
          </a:xfrm>
          <a:prstGeom prst="roundRect">
            <a:avLst>
              <a:gd name="adj" fmla="val 5435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3"/>
          <p:cNvSpPr/>
          <p:nvPr/>
        </p:nvSpPr>
        <p:spPr>
          <a:xfrm>
            <a:off x="8942832" y="22311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SÓNG GIÓ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942832" y="241401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Rủi ro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22960" y="3236976"/>
            <a:ext cx="6565392" cy="1499616"/>
          </a:xfrm>
          <a:prstGeom prst="roundRect">
            <a:avLst>
              <a:gd name="adj" fmla="val 3049"/>
            </a:avLst>
          </a:prstGeom>
          <a:solidFill>
            <a:srgbClr val="114A7A"/>
          </a:solidFill>
          <a:ln w="12700">
            <a:solidFill>
              <a:srgbClr val="114A7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1060704" y="3438144"/>
            <a:ext cx="60899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Bảo hiểm nhân thọ không chỉ là tài chính. Đó là lời hứa giữ cho hành trình gia đình không ngắt mạch.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7626096" y="3236976"/>
            <a:ext cx="3758184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7863840" y="351129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Ý nghĩa với thương hiệu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845552" y="3822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Vai trò giữ nhịp được nhìn thấy.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7845552" y="41330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Ngôn ngữ event trở thành ngôn ngữ brand.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7845552" y="4443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Insight đủ lớn để tích lũy nhiều mùa.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 / OPPORTUNITY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Vấn đề không phải thiếu hiện diện. Vấn đề là thiếu một nơi để niềm tin được cảm nhận.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Đó là khoảng trống mà dự án này có thể mở khóa.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066544"/>
            <a:ext cx="4983480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078992" y="2359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Nếu chỉ là sponsorship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78992" y="285292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Dễ có reach nhưng khó có ý nghĩa.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1078992" y="32918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Hình ảnh trôi qua sau ngày đua.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1078992" y="373075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Khó tích lũy thành tài sản thương hiệu.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382512" y="2066544"/>
            <a:ext cx="5001768" cy="2907792"/>
          </a:xfrm>
          <a:prstGeom prst="roundRect">
            <a:avLst>
              <a:gd name="adj" fmla="val 1572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6638544" y="2359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Nếu là cultural platform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38544" y="285292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Sở hữu một biểu tượng cảm xúc.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6638544" y="32918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Tạo nghi lễ và visual signature riêng.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6638544" y="373075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Nối awareness với trust và commercial momentum.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BRAND ROLE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Bảo Việt Nhân Thọ phải hiện diện như người giữ cho cuộc đua tiếp tục.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chỉ đặt tên giải đấu. Đặt tên cho một chuẩn mực mới.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3310128" cy="2889504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86000"/>
            <a:ext cx="301752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41401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67004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Title sponsor of a new standard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072384"/>
            <a:ext cx="290779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Đặt tên cho giải đấu và cúp vô địch.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43984" y="2139696"/>
            <a:ext cx="3310128" cy="2889504"/>
          </a:xfrm>
          <a:prstGeom prst="roundRect">
            <a:avLst>
              <a:gd name="adj" fmla="val 1582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590288" y="2286000"/>
            <a:ext cx="3017520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645152" y="241401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645152" y="267004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Guardian of continuity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45152" y="3072384"/>
            <a:ext cx="290779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Đại diện cho lời hứa giữ cho gia đình đi tiếp.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065008" y="2139696"/>
            <a:ext cx="3319272" cy="2889504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8211312" y="2286000"/>
            <a:ext cx="3026664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8266176" y="2414016"/>
            <a:ext cx="2916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266176" y="2670048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Curator of cultural pride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66176" y="3072384"/>
            <a:ext cx="291693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Nâng nghi lễ Huế thành trải nghiệm cấp quốc gia.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STRATEGIC PLATFORM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66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BẢO VIỆT GIỮ CHO DÒNG CHẢY GIA ĐÌNH KHÔNG NGỪNG LẠI</a:t>
            </a:r>
            <a:endParaRPr lang="en-US" sz="2066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lãnh thổ đủ rộng cho brand, đủ sâu cho văn hóa, đủ bền cho nhiều mùa.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029968"/>
            <a:ext cx="10561320" cy="1060704"/>
          </a:xfrm>
          <a:prstGeom prst="roundRect">
            <a:avLst>
              <a:gd name="adj" fmla="val 4310"/>
            </a:avLst>
          </a:prstGeom>
          <a:solidFill>
            <a:srgbClr val="114A7A"/>
          </a:solidFill>
          <a:ln w="12700">
            <a:solidFill>
              <a:srgbClr val="114A7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060704" y="2231136"/>
            <a:ext cx="10085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platform để kể về bảo vệ, kế thừa và sự tiếp nối của gia đình Việt.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493008"/>
            <a:ext cx="3310128" cy="1664208"/>
          </a:xfrm>
          <a:prstGeom prst="roundRect">
            <a:avLst>
              <a:gd name="adj" fmla="val 2747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6"/>
          <p:cNvSpPr/>
          <p:nvPr/>
        </p:nvSpPr>
        <p:spPr>
          <a:xfrm>
            <a:off x="969264" y="3639312"/>
            <a:ext cx="3017520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7"/>
          <p:cNvSpPr/>
          <p:nvPr/>
        </p:nvSpPr>
        <p:spPr>
          <a:xfrm>
            <a:off x="1024128" y="3767328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BRAND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1024128" y="402336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Bảo vệ sự tiếp nối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24128" y="442569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Brand truth.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443984" y="3493008"/>
            <a:ext cx="3310128" cy="1664208"/>
          </a:xfrm>
          <a:prstGeom prst="roundRect">
            <a:avLst>
              <a:gd name="adj" fmla="val 2747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4590288" y="3639312"/>
            <a:ext cx="301752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4645152" y="3767328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HUMAN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4645152" y="402336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Gia đình luôn cần một điểm tựa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45152" y="442569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Human truth.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065008" y="3493008"/>
            <a:ext cx="3319272" cy="1664208"/>
          </a:xfrm>
          <a:prstGeom prst="roundRect">
            <a:avLst>
              <a:gd name="adj" fmla="val 2747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Shape 16"/>
          <p:cNvSpPr/>
          <p:nvPr/>
        </p:nvSpPr>
        <p:spPr>
          <a:xfrm>
            <a:off x="8211312" y="3639312"/>
            <a:ext cx="302666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7"/>
          <p:cNvSpPr/>
          <p:nvPr/>
        </p:nvSpPr>
        <p:spPr>
          <a:xfrm>
            <a:off x="8266176" y="3767328"/>
            <a:ext cx="2916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CULTURE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8266176" y="402336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Huế tôn vinh sự gìn giữ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266176" y="4425696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Cultural truth.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46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1078992" y="18653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BRIDGE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78992" y="2414016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Từ brand platform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đến một ý tưởng có thể làm rung cảm cả boardroom lẫn công chúng.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52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841248" y="1755648"/>
            <a:ext cx="91440" cy="196596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1078992" y="18105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BIG IDEA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" y="208483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9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GIỮ MÁI CHÈO DI SẢN</a:t>
            </a:r>
            <a:endParaRPr lang="en-US" sz="3595" dirty="0"/>
          </a:p>
        </p:txBody>
      </p:sp>
      <p:sp>
        <p:nvSpPr>
          <p:cNvPr id="7" name="Text 4"/>
          <p:cNvSpPr/>
          <p:nvPr/>
        </p:nvSpPr>
        <p:spPr>
          <a:xfrm>
            <a:off x="1078992" y="33832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câu nói gói được người trụ cột, gia đình, Huế và vai trò bảo vệ của thương hiệu.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89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1338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BIG IDEA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WHY THIS IDEA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Ý tưởng này mạnh vì nó vừa có hình ảnh, vừa có chiều sâu, vừa có quyền sở hữu.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chỉ đẹp để kể. Đủ đúng để tích lũy.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084832"/>
            <a:ext cx="3310128" cy="1901952"/>
          </a:xfrm>
          <a:prstGeom prst="roundRect">
            <a:avLst>
              <a:gd name="adj" fmla="val 2404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31136"/>
            <a:ext cx="3017520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35915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61518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Emotional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017520"/>
            <a:ext cx="2907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Chạm vào người giữ nhịp của gia đình.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43984" y="2084832"/>
            <a:ext cx="3310128" cy="1901952"/>
          </a:xfrm>
          <a:prstGeom prst="roundRect">
            <a:avLst>
              <a:gd name="adj" fmla="val 2404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590288" y="2231136"/>
            <a:ext cx="301752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645152" y="2359152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645152" y="261518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Cultural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45152" y="3017520"/>
            <a:ext cx="2907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Mở từ di sản Huế sang di sản gia đình.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065008" y="2084832"/>
            <a:ext cx="3319272" cy="1901952"/>
          </a:xfrm>
          <a:prstGeom prst="roundRect">
            <a:avLst>
              <a:gd name="adj" fmla="val 2404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8211312" y="2231136"/>
            <a:ext cx="302666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8266176" y="2359152"/>
            <a:ext cx="2916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266176" y="2615184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Brand fit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66176" y="3017520"/>
            <a:ext cx="29169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Rất gần với vai trò cốt lõi của BVNT.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822960" y="4425696"/>
            <a:ext cx="10561320" cy="841248"/>
          </a:xfrm>
          <a:prstGeom prst="roundRect">
            <a:avLst>
              <a:gd name="adj" fmla="val 5435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Text 19"/>
          <p:cNvSpPr/>
          <p:nvPr/>
        </p:nvSpPr>
        <p:spPr>
          <a:xfrm>
            <a:off x="1060704" y="4626864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chỉ là idea cho năm 2026. Đây là territory có thể sống qua nhiều mùa.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MESSAGE SYSTEM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Ít hơn. Rõ hơn. Mạnh hơn.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Mọi lớp thông điệp phải dẫn về cùng một vai trò thương hiệu.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048256"/>
            <a:ext cx="10561320" cy="1060704"/>
          </a:xfrm>
          <a:prstGeom prst="roundRect">
            <a:avLst>
              <a:gd name="adj" fmla="val 4310"/>
            </a:avLst>
          </a:prstGeom>
          <a:solidFill>
            <a:srgbClr val="114A7A"/>
          </a:solidFill>
          <a:ln w="12700">
            <a:solidFill>
              <a:srgbClr val="114A7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060704" y="2249424"/>
            <a:ext cx="10085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Bảo Việt giữ cho dòng chảy gia đình không ngừng lại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3310128" cy="1664208"/>
          </a:xfrm>
          <a:prstGeom prst="roundRect">
            <a:avLst>
              <a:gd name="adj" fmla="val 2747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6"/>
          <p:cNvSpPr/>
          <p:nvPr/>
        </p:nvSpPr>
        <p:spPr>
          <a:xfrm>
            <a:off x="969264" y="3621024"/>
            <a:ext cx="3017520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7"/>
          <p:cNvSpPr/>
          <p:nvPr/>
        </p:nvSpPr>
        <p:spPr>
          <a:xfrm>
            <a:off x="1024128" y="374904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BIG IDEA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1024128" y="400507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Giữ mái chèo di sản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24128" y="4407408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Headline cho toàn campaign.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443984" y="3474720"/>
            <a:ext cx="3310128" cy="1664208"/>
          </a:xfrm>
          <a:prstGeom prst="roundRect">
            <a:avLst>
              <a:gd name="adj" fmla="val 2747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4590288" y="3621024"/>
            <a:ext cx="301752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4645152" y="374904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SIGN-OFF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4645152" y="400507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Giữ mái chèo hôm nay, chở che muôn thế hệ mai sau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45152" y="4407408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Lớp cảm xúc cho film và closing.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065008" y="3474720"/>
            <a:ext cx="3319272" cy="1664208"/>
          </a:xfrm>
          <a:prstGeom prst="roundRect">
            <a:avLst>
              <a:gd name="adj" fmla="val 2747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Shape 16"/>
          <p:cNvSpPr/>
          <p:nvPr/>
        </p:nvSpPr>
        <p:spPr>
          <a:xfrm>
            <a:off x="8211312" y="3621024"/>
            <a:ext cx="302666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7"/>
          <p:cNvSpPr/>
          <p:nvPr/>
        </p:nvSpPr>
        <p:spPr>
          <a:xfrm>
            <a:off x="8266176" y="3749040"/>
            <a:ext cx="2916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SOCIAL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8266176" y="4005072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#GiuMaiCheoDiSan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266176" y="4407408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Lớp xã hội hóa để UGC đi tiếp.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WHY IT WILL WIN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đề xuất thắng lớn phải chạm đúng ba tầng.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Ý nghĩa, hình ảnh và khả năng sở hữu.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5148072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86000"/>
            <a:ext cx="4855464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670048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Ý nghĩa rõ ràng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24128" y="307238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Đua ghe, người trụ cột, bảo vệ gia đình.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236208" y="2139696"/>
            <a:ext cx="5148072" cy="1298448"/>
          </a:xfrm>
          <a:prstGeom prst="roundRect">
            <a:avLst>
              <a:gd name="adj" fmla="val 3521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8"/>
          <p:cNvSpPr/>
          <p:nvPr/>
        </p:nvSpPr>
        <p:spPr>
          <a:xfrm>
            <a:off x="6382512" y="2286000"/>
            <a:ext cx="485546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6437376" y="2670048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Hình ảnh đủ mạnh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37376" y="307238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Mái chèo, ánh sáng, drone, dòng sông.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22960" y="3749040"/>
            <a:ext cx="5148072" cy="1298448"/>
          </a:xfrm>
          <a:prstGeom prst="roundRect">
            <a:avLst>
              <a:gd name="adj" fmla="val 3521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2"/>
          <p:cNvSpPr/>
          <p:nvPr/>
        </p:nvSpPr>
        <p:spPr>
          <a:xfrm>
            <a:off x="969264" y="3895344"/>
            <a:ext cx="485546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3"/>
          <p:cNvSpPr/>
          <p:nvPr/>
        </p:nvSpPr>
        <p:spPr>
          <a:xfrm>
            <a:off x="1024128" y="4279392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Khả năng sở hữu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024128" y="4681728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Naming rights và nghi lễ riêng của thương hiệu.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236208" y="3749040"/>
            <a:ext cx="5148072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Shape 16"/>
          <p:cNvSpPr/>
          <p:nvPr/>
        </p:nvSpPr>
        <p:spPr>
          <a:xfrm>
            <a:off x="6382512" y="3895344"/>
            <a:ext cx="4855464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7"/>
          <p:cNvSpPr/>
          <p:nvPr/>
        </p:nvSpPr>
        <p:spPr>
          <a:xfrm>
            <a:off x="6437376" y="4279392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Khả năng tích lũy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437376" y="4681728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Mỗi mùa giải cộng dồn thêm goodwill và content.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52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841248" y="1755648"/>
            <a:ext cx="91440" cy="196596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1078992" y="18105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TẦM NHÌN SỰ KIỆN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" y="208483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Từ cuộc đua trên sông</a:t>
            </a:r>
            <a:endParaRPr lang="en-US" sz="2705" dirty="0"/>
          </a:p>
          <a:p>
            <a:pPr marL="0" indent="0">
              <a:buNone/>
            </a:pPr>
            <a:r>
              <a:rPr lang="en-US" sz="270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thành một hiện tượng văn hóa đương đại.</a:t>
            </a:r>
            <a:endParaRPr lang="en-US" sz="2705" dirty="0"/>
          </a:p>
        </p:txBody>
      </p:sp>
      <p:sp>
        <p:nvSpPr>
          <p:cNvPr id="7" name="Text 4"/>
          <p:cNvSpPr/>
          <p:nvPr/>
        </p:nvSpPr>
        <p:spPr>
          <a:xfrm>
            <a:off x="1078992" y="33832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tổ chức một race day. Tổ chức một cultural show day trên mặt nước.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89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1338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RITUAL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26791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27340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SPECTACLE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46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1078992" y="18653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78992" y="2414016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43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ngày trên sông.</a:t>
            </a:r>
            <a:endParaRPr lang="en-US" sz="2643" dirty="0"/>
          </a:p>
          <a:p>
            <a:pPr marL="0" indent="0">
              <a:buNone/>
            </a:pPr>
            <a:r>
              <a:rPr lang="en-US" sz="2643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ký ức ở lại nhiều năm.</a:t>
            </a:r>
            <a:endParaRPr lang="en-US" sz="2643" dirty="0"/>
          </a:p>
        </p:txBody>
      </p:sp>
      <p:sp>
        <p:nvSpPr>
          <p:cNvPr id="6" name="Text 3"/>
          <p:cNvSpPr/>
          <p:nvPr/>
        </p:nvSpPr>
        <p:spPr>
          <a:xfrm>
            <a:off x="1078992" y="3877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Đó là cách event trở thành brand property.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52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841248" y="1755648"/>
            <a:ext cx="91440" cy="196596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1078992" y="18105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WOW 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" y="208483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9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LỄ TÔN VINH NGƯỜI CẦM LÁI</a:t>
            </a:r>
            <a:endParaRPr lang="en-US" sz="3595" dirty="0"/>
          </a:p>
        </p:txBody>
      </p:sp>
      <p:sp>
        <p:nvSpPr>
          <p:cNvPr id="7" name="Text 4"/>
          <p:cNvSpPr/>
          <p:nvPr/>
        </p:nvSpPr>
        <p:spPr>
          <a:xfrm>
            <a:off x="1078992" y="33832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Khoảnh khắc mở màn biến cuộc đua thành một nghi thức của sự dẫn dắt và trách nhiệm.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89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1338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RITUAL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WOW moment tốt không chỉ đẹp. Nó phải đặt thương hiệu vào đúng vai trò.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Đây là khoảnh khắc giúp Bảo Việt Nhân Thọ trở thành người tôn vinh 'người giữ nhịp'.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94560"/>
            <a:ext cx="3310128" cy="2304288"/>
          </a:xfrm>
          <a:prstGeom prst="roundRect">
            <a:avLst>
              <a:gd name="adj" fmla="val 1984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340864"/>
            <a:ext cx="3017520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46888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72491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Đủ đẹp cho báo chí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127248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Khóa hero shot cho TV, báo và social.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43984" y="2194560"/>
            <a:ext cx="3310128" cy="2304288"/>
          </a:xfrm>
          <a:prstGeom prst="roundRect">
            <a:avLst>
              <a:gd name="adj" fmla="val 1984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590288" y="2340864"/>
            <a:ext cx="301752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645152" y="2468880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645152" y="272491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Đủ rõ cho brand role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45152" y="3127248"/>
            <a:ext cx="2907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Tôn vinh người cầm lái bằng tên thương hiệu.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065008" y="2194560"/>
            <a:ext cx="3319272" cy="2304288"/>
          </a:xfrm>
          <a:prstGeom prst="roundRect">
            <a:avLst>
              <a:gd name="adj" fmla="val 1984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8211312" y="2340864"/>
            <a:ext cx="302666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8266176" y="2468880"/>
            <a:ext cx="2916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266176" y="2724912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Đủ cảm xúc cho short-form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66176" y="3127248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khoảnh khắc vừa dignified vừa shareable.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52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841248" y="1755648"/>
            <a:ext cx="91440" cy="196596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1078992" y="18105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WOW 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" y="208483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SÔNG HƯƠNG - DÒNG SÔNG ÁNH SÁNG</a:t>
            </a:r>
            <a:endParaRPr lang="en-US" sz="2930" dirty="0"/>
          </a:p>
        </p:txBody>
      </p:sp>
      <p:sp>
        <p:nvSpPr>
          <p:cNvPr id="7" name="Text 4"/>
          <p:cNvSpPr/>
          <p:nvPr/>
        </p:nvSpPr>
        <p:spPr>
          <a:xfrm>
            <a:off x="1078992" y="33832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Đêm trước ngày đua hoặc thời khắc bế mạc, dòng sông trở thành một installation của ký ức, lời nhắn và niềm tin.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89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1338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LIGHT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26791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27340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MEMORY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52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841248" y="1755648"/>
            <a:ext cx="91440" cy="196596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1078992" y="18105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WOW 03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" y="208483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DRONE TRIBUTE</a:t>
            </a:r>
            <a:endParaRPr lang="en-US" sz="2705" dirty="0"/>
          </a:p>
          <a:p>
            <a:pPr marL="0" indent="0">
              <a:buNone/>
            </a:pPr>
            <a:r>
              <a:rPr lang="en-US" sz="270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GIỮ MÁI CHÈO DI SẢN</a:t>
            </a:r>
            <a:endParaRPr lang="en-US" sz="2705" dirty="0"/>
          </a:p>
        </p:txBody>
      </p:sp>
      <p:sp>
        <p:nvSpPr>
          <p:cNvPr id="7" name="Text 4"/>
          <p:cNvSpPr/>
          <p:nvPr/>
        </p:nvSpPr>
        <p:spPr>
          <a:xfrm>
            <a:off x="1078992" y="33832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biểu tượng trên bầu trời để tuyên bố rằng cuộc đua này đã bước sang một đẳng cấp khác.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89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1338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NATIONAL SCALE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46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1078992" y="18653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SHIFT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78992" y="2414016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43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Từ khoảnh khắc đẹp</a:t>
            </a:r>
            <a:endParaRPr lang="en-US" sz="2643" dirty="0"/>
          </a:p>
          <a:p>
            <a:pPr marL="0" indent="0">
              <a:buNone/>
            </a:pPr>
            <a:r>
              <a:rPr lang="en-US" sz="2643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thành hiện tượng lan tỏa.</a:t>
            </a:r>
            <a:endParaRPr lang="en-US" sz="2643" dirty="0"/>
          </a:p>
        </p:txBody>
      </p:sp>
      <p:sp>
        <p:nvSpPr>
          <p:cNvPr id="6" name="Text 3"/>
          <p:cNvSpPr/>
          <p:nvPr/>
        </p:nvSpPr>
        <p:spPr>
          <a:xfrm>
            <a:off x="1078992" y="3877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Đó là lúc IMC bắt đầu làm việc.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EXPERIENCE JOURNEY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3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Ngày sự kiện cần được viết như một đường cong cảm xúc.</a:t>
            </a:r>
            <a:endParaRPr lang="en-US" sz="2230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phải một bảng giờ thi đấu.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048256"/>
            <a:ext cx="10561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042416" y="21579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06:00</a:t>
            </a:r>
            <a:endParaRPr lang="en-US" sz="1240" dirty="0"/>
          </a:p>
        </p:txBody>
      </p:sp>
      <p:sp>
        <p:nvSpPr>
          <p:cNvPr id="8" name="Text 5"/>
          <p:cNvSpPr/>
          <p:nvPr/>
        </p:nvSpPr>
        <p:spPr>
          <a:xfrm>
            <a:off x="1847088" y="21579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Khởi động cộng đồng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4754880" y="215798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Check-in và warm-up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2596896"/>
            <a:ext cx="10561320" cy="420624"/>
          </a:xfrm>
          <a:prstGeom prst="roundRect">
            <a:avLst>
              <a:gd name="adj" fmla="val 10870"/>
            </a:avLst>
          </a:prstGeom>
          <a:solidFill>
            <a:srgbClr val="F6F8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1042416" y="270662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07:00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1847088" y="27066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Lễ tôn vinh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4754880" y="270662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Dựng dignity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3145536"/>
            <a:ext cx="10561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1042416" y="325526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08:00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1847088" y="325526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Đua vòng loại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4754880" y="325526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Kể chuyện trực tiếp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3694176"/>
            <a:ext cx="10561320" cy="420624"/>
          </a:xfrm>
          <a:prstGeom prst="roundRect">
            <a:avLst>
              <a:gd name="adj" fmla="val 10870"/>
            </a:avLst>
          </a:prstGeom>
          <a:solidFill>
            <a:srgbClr val="F6F8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1042416" y="380390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10:30</a:t>
            </a:r>
            <a:endParaRPr lang="en-US" sz="1240" dirty="0"/>
          </a:p>
        </p:txBody>
      </p:sp>
      <p:sp>
        <p:nvSpPr>
          <p:cNvPr id="20" name="Text 17"/>
          <p:cNvSpPr/>
          <p:nvPr/>
        </p:nvSpPr>
        <p:spPr>
          <a:xfrm>
            <a:off x="1847088" y="380390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Activation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4754880" y="38039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+ emotion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22960" y="4242816"/>
            <a:ext cx="10561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 20"/>
          <p:cNvSpPr/>
          <p:nvPr/>
        </p:nvSpPr>
        <p:spPr>
          <a:xfrm>
            <a:off x="1042416" y="435254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14:00</a:t>
            </a:r>
            <a:endParaRPr lang="en-US" sz="1240" dirty="0"/>
          </a:p>
        </p:txBody>
      </p:sp>
      <p:sp>
        <p:nvSpPr>
          <p:cNvPr id="24" name="Text 21"/>
          <p:cNvSpPr/>
          <p:nvPr/>
        </p:nvSpPr>
        <p:spPr>
          <a:xfrm>
            <a:off x="1847088" y="43525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Chung kết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4754880" y="435254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Cao trào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2960" y="4791456"/>
            <a:ext cx="10561320" cy="420624"/>
          </a:xfrm>
          <a:prstGeom prst="roundRect">
            <a:avLst>
              <a:gd name="adj" fmla="val 10870"/>
            </a:avLst>
          </a:prstGeom>
          <a:solidFill>
            <a:srgbClr val="F6F8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Text 24"/>
          <p:cNvSpPr/>
          <p:nvPr/>
        </p:nvSpPr>
        <p:spPr>
          <a:xfrm>
            <a:off x="1042416" y="49011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18:30</a:t>
            </a:r>
            <a:endParaRPr lang="en-US" sz="1240" dirty="0"/>
          </a:p>
        </p:txBody>
      </p:sp>
      <p:sp>
        <p:nvSpPr>
          <p:cNvPr id="28" name="Text 25"/>
          <p:cNvSpPr/>
          <p:nvPr/>
        </p:nvSpPr>
        <p:spPr>
          <a:xfrm>
            <a:off x="1847088" y="49011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Closing spectacle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4754880" y="490118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Lời hẹn mùa sau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52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841248" y="1755648"/>
            <a:ext cx="91440" cy="196596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1078992" y="18105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IMC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" y="208483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ngày trên sông.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 tháng lan tỏa.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Nhiều năm tài sản.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78992" y="33832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campaign có nhịp điệu, không phải một checklist truyền thông.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89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1338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26791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27340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BURST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42793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3342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LAST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IMC ARCHITECTURE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 phase. Ba vai trò rất rõ.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meaning. Create buzz. Accumulate value.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2926080" cy="2103120"/>
          </a:xfrm>
          <a:prstGeom prst="roundRect">
            <a:avLst>
              <a:gd name="adj" fmla="val 2174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86000"/>
            <a:ext cx="2633472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414016"/>
            <a:ext cx="2523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1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6700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Teasing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072384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Khơi mở hình tượng người giữ nhịp.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069080" y="2139696"/>
            <a:ext cx="2926080" cy="2103120"/>
          </a:xfrm>
          <a:prstGeom prst="roundRect">
            <a:avLst>
              <a:gd name="adj" fmla="val 2174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215384" y="2286000"/>
            <a:ext cx="2633472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270248" y="2414016"/>
            <a:ext cx="2523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2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270248" y="26700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Explosion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270248" y="3072384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Biến ngày đua thành national spectacle.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315200" y="2139696"/>
            <a:ext cx="2926080" cy="2103120"/>
          </a:xfrm>
          <a:prstGeom prst="roundRect">
            <a:avLst>
              <a:gd name="adj" fmla="val 2174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7461504" y="2286000"/>
            <a:ext cx="2633472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7516368" y="2414016"/>
            <a:ext cx="2523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3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7516368" y="26700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Legacy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516368" y="3072384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Kéo dài content, trust và nurture.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1097280" y="475488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Text 19"/>
          <p:cNvSpPr/>
          <p:nvPr/>
        </p:nvSpPr>
        <p:spPr>
          <a:xfrm>
            <a:off x="1152144" y="4828032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Owned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017520" y="475488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4" name="Text 21"/>
          <p:cNvSpPr/>
          <p:nvPr/>
        </p:nvSpPr>
        <p:spPr>
          <a:xfrm>
            <a:off x="3072384" y="4828032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Earned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937760" y="475488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6" name="Text 23"/>
          <p:cNvSpPr/>
          <p:nvPr/>
        </p:nvSpPr>
        <p:spPr>
          <a:xfrm>
            <a:off x="4992624" y="4828032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Shared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858000" y="475488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8" name="Text 25"/>
          <p:cNvSpPr/>
          <p:nvPr/>
        </p:nvSpPr>
        <p:spPr>
          <a:xfrm>
            <a:off x="6912864" y="4828032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Paid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Dựng ý nghĩa trước khi dựng sân khấu.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Giai đoạn đầu không cần nhiều. Chỉ cần đúng.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3246120" cy="2871216"/>
          </a:xfrm>
          <a:prstGeom prst="roundRect">
            <a:avLst>
              <a:gd name="adj" fmla="val 1592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86000"/>
            <a:ext cx="2953512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414016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CONTENT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670048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Mồi cảm xúc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072384"/>
            <a:ext cx="284378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Video ngắn, poster series, key visual countdown.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80560" y="2139696"/>
            <a:ext cx="3246120" cy="2871216"/>
          </a:xfrm>
          <a:prstGeom prst="roundRect">
            <a:avLst>
              <a:gd name="adj" fmla="val 1592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626864" y="2286000"/>
            <a:ext cx="2953512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681728" y="2414016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681728" y="2670048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Câu chuyện cộng đồng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81728" y="3072384"/>
            <a:ext cx="284378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Kể về đội ghe, người cầm lái, ký ức Huế.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138160" y="2139696"/>
            <a:ext cx="3246120" cy="2871216"/>
          </a:xfrm>
          <a:prstGeom prst="roundRect">
            <a:avLst>
              <a:gd name="adj" fmla="val 1592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8284464" y="2286000"/>
            <a:ext cx="2953512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8339328" y="2414016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SEEDING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339328" y="2670048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Local to national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339328" y="3072384"/>
            <a:ext cx="284378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Mở biên độ thảo luận từ Huế ra cả nước.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Ngày sự kiện phải bùng nổ có chủ đích.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Mọi khoảnh khắc đẹp đều phải dẫn về vai trò thương hiệu.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084832"/>
            <a:ext cx="2395728" cy="1152144"/>
          </a:xfrm>
          <a:prstGeom prst="roundRect">
            <a:avLst>
              <a:gd name="adj" fmla="val 3968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31136"/>
            <a:ext cx="210312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359152"/>
            <a:ext cx="1993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61518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Livestream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24128" y="287121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Có MC, graphic, narrative.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3419856" y="2084832"/>
            <a:ext cx="2395728" cy="1152144"/>
          </a:xfrm>
          <a:prstGeom prst="roundRect">
            <a:avLst>
              <a:gd name="adj" fmla="val 3968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3566160" y="2231136"/>
            <a:ext cx="2103120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3621024" y="2359152"/>
            <a:ext cx="1993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3621024" y="261518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Instant newsroom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621024" y="287121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Ảnh nhanh, clip nhanh, quote nhanh.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6016752" y="2084832"/>
            <a:ext cx="2395728" cy="1152144"/>
          </a:xfrm>
          <a:prstGeom prst="roundRect">
            <a:avLst>
              <a:gd name="adj" fmla="val 3968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6163056" y="2231136"/>
            <a:ext cx="210312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6217920" y="2359152"/>
            <a:ext cx="1993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SHORT-FORM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217920" y="261518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Reels / TikTok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217920" y="287121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Cắt ngay từ các WOW moment.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8613648" y="2084832"/>
            <a:ext cx="2770632" cy="1152144"/>
          </a:xfrm>
          <a:prstGeom prst="roundRect">
            <a:avLst>
              <a:gd name="adj" fmla="val 3968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Shape 19"/>
          <p:cNvSpPr/>
          <p:nvPr/>
        </p:nvSpPr>
        <p:spPr>
          <a:xfrm>
            <a:off x="8759952" y="2231136"/>
            <a:ext cx="247802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 20"/>
          <p:cNvSpPr/>
          <p:nvPr/>
        </p:nvSpPr>
        <p:spPr>
          <a:xfrm>
            <a:off x="8814816" y="2359152"/>
            <a:ext cx="2368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KOL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8814816" y="2615184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Local x national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8814816" y="2871216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Travel, culture, family creators.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822960" y="3767328"/>
            <a:ext cx="10561320" cy="859536"/>
          </a:xfrm>
          <a:prstGeom prst="roundRect">
            <a:avLst>
              <a:gd name="adj" fmla="val 5319"/>
            </a:avLst>
          </a:prstGeom>
          <a:solidFill>
            <a:srgbClr val="114A7A"/>
          </a:solidFill>
          <a:ln w="12700">
            <a:solidFill>
              <a:srgbClr val="114A7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Text 24"/>
          <p:cNvSpPr/>
          <p:nvPr/>
        </p:nvSpPr>
        <p:spPr>
          <a:xfrm>
            <a:off x="1060704" y="3968496"/>
            <a:ext cx="10085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Bùng nổ phải có chủ đích.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Sau cuộc đua, tài sản không được phép dừng lại.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Đây là nơi event chuyển hóa thành ký ức và giá trị dài hạn.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3310128" cy="2798064"/>
          </a:xfrm>
          <a:prstGeom prst="roundRect">
            <a:avLst>
              <a:gd name="adj" fmla="val 1634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86000"/>
            <a:ext cx="3017520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41401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AMPLIFY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67004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Kéo dài độ phủ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072384"/>
            <a:ext cx="29077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Aftermovie, recap film, quote cards, PR tổng kết.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43984" y="2139696"/>
            <a:ext cx="3310128" cy="2798064"/>
          </a:xfrm>
          <a:prstGeom prst="roundRect">
            <a:avLst>
              <a:gd name="adj" fmla="val 1634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590288" y="2286000"/>
            <a:ext cx="301752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645152" y="241401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ARCHIVE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645152" y="267004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Đóng gói tài sản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45152" y="3072384"/>
            <a:ext cx="29077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Recap page, gallery, sổ tay Giữ Mái Chèo.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065008" y="2139696"/>
            <a:ext cx="3319272" cy="2798064"/>
          </a:xfrm>
          <a:prstGeom prst="roundRect">
            <a:avLst>
              <a:gd name="adj" fmla="val 1634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8211312" y="2286000"/>
            <a:ext cx="302666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8266176" y="2414016"/>
            <a:ext cx="2916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NURTURE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266176" y="2670048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Nuôi dưỡng quan tâm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66176" y="3072384"/>
            <a:ext cx="29169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Gửi nội dung ý nghĩa trước khi mở tư vấn mềm.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ON-GROUND ACTIVATION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Ít hơn. Đắt hơn. Nhớ lâu hơn.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Activation phải tạo cảm xúc và hình ảnh trước khi tạo sự ồn ào.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3749040" cy="3218688"/>
          </a:xfrm>
          <a:prstGeom prst="roundRect">
            <a:avLst>
              <a:gd name="adj" fmla="val 1420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86000"/>
            <a:ext cx="3456432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414016"/>
            <a:ext cx="3346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HERO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67004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Bến Nhắn Gửi Gia Đình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072384"/>
            <a:ext cx="3346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Lời nhắn cho người giữ nhịp được đưa lên màn hình hoặc social reel.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800600" y="2139696"/>
            <a:ext cx="2834640" cy="1536192"/>
          </a:xfrm>
          <a:prstGeom prst="roundRect">
            <a:avLst>
              <a:gd name="adj" fmla="val 2976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946904" y="2286000"/>
            <a:ext cx="2542032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5001768" y="2414016"/>
            <a:ext cx="2432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PARTICIPATORY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5001768" y="267004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Nhịp Chèo Đồng Tâm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01768" y="307238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Game mô phỏng chèo theo nhịp đội.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800600" y="3822192"/>
            <a:ext cx="2834640" cy="1536192"/>
          </a:xfrm>
          <a:prstGeom prst="roundRect">
            <a:avLst>
              <a:gd name="adj" fmla="val 2976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4946904" y="3968496"/>
            <a:ext cx="2542032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5001768" y="4096512"/>
            <a:ext cx="2432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SPECTACLE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5001768" y="435254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Bức Tường Mái Chèo Di Sản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001768" y="4754880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Installation photo point của giải.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909560" y="2139696"/>
            <a:ext cx="3474720" cy="3218688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Text 19"/>
          <p:cNvSpPr/>
          <p:nvPr/>
        </p:nvSpPr>
        <p:spPr>
          <a:xfrm>
            <a:off x="8156448" y="241401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NGUYÊN TẮC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56448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nhiều booth. Chỉ vài trải nghiệm đủ mạnh để được nhớ.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SOCIAL / PR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Lan tỏa bằng nhiều lớp người kể chuyện.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phụ thuộc vào một viral stunt đơn lẻ.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2487168" cy="2523744"/>
          </a:xfrm>
          <a:prstGeom prst="roundRect">
            <a:avLst>
              <a:gd name="adj" fmla="val 1838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86000"/>
            <a:ext cx="2194560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41401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HASHTAG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6700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#GiuMaiCheoDiSan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072384"/>
            <a:ext cx="20848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Tagline xã hội hóa toàn campaign.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529584" y="2139696"/>
            <a:ext cx="2487168" cy="2523744"/>
          </a:xfrm>
          <a:prstGeom prst="roundRect">
            <a:avLst>
              <a:gd name="adj" fmla="val 1838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3675888" y="2286000"/>
            <a:ext cx="219456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3730752" y="241401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TIKTOK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3730752" y="26700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#GiuNhipGiaDinh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30752" y="3072384"/>
            <a:ext cx="20848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Format kể về người giữ nhịp trong nhà.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236208" y="2139696"/>
            <a:ext cx="2487168" cy="2523744"/>
          </a:xfrm>
          <a:prstGeom prst="roundRect">
            <a:avLst>
              <a:gd name="adj" fmla="val 1838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6382512" y="2286000"/>
            <a:ext cx="2194560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6437376" y="241401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UGC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437376" y="26700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Lời nhắn cho mái chèo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37376" y="3072384"/>
            <a:ext cx="20848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câu dành cho người đang gánh nhịp gia đình.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8942832" y="2139696"/>
            <a:ext cx="2441448" cy="2523744"/>
          </a:xfrm>
          <a:prstGeom prst="roundRect">
            <a:avLst>
              <a:gd name="adj" fmla="val 1873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Shape 19"/>
          <p:cNvSpPr/>
          <p:nvPr/>
        </p:nvSpPr>
        <p:spPr>
          <a:xfrm>
            <a:off x="9089136" y="2286000"/>
            <a:ext cx="214884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 20"/>
          <p:cNvSpPr/>
          <p:nvPr/>
        </p:nvSpPr>
        <p:spPr>
          <a:xfrm>
            <a:off x="9144000" y="2414016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KOL / PR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9144000" y="267004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Local + national mix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144000" y="3072384"/>
            <a:ext cx="20391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Nghệ sĩ Huế, creator văn hóa, family voices.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HERO FILM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88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phim ngắn không kể về bảo hiểm. Kể về người giữ nhịp.</a:t>
            </a:r>
            <a:endParaRPr lang="en-US" sz="2188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Để khán giả tự hiểu vì sao gia đình cần được chở che.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6492240" cy="3072384"/>
          </a:xfrm>
          <a:prstGeom prst="roundRect">
            <a:avLst>
              <a:gd name="adj" fmla="val 1488"/>
            </a:avLst>
          </a:prstGeom>
          <a:solidFill>
            <a:srgbClr val="114A7A"/>
          </a:solidFill>
          <a:ln w="12700">
            <a:solidFill>
              <a:srgbClr val="114A7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060704" y="2340864"/>
            <a:ext cx="601675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Mở bằng nhịp chèo trên sông Hương. Đi qua chân dung người trụ cột. Chạm cao trào ở lễ tôn vinh. Khóa lại bằng một lời hứa thương hiệu.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571232" y="2139696"/>
            <a:ext cx="3822192" cy="1426464"/>
          </a:xfrm>
          <a:prstGeom prst="roundRect">
            <a:avLst>
              <a:gd name="adj" fmla="val 3205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6"/>
          <p:cNvSpPr/>
          <p:nvPr/>
        </p:nvSpPr>
        <p:spPr>
          <a:xfrm>
            <a:off x="7717536" y="2286000"/>
            <a:ext cx="352958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7"/>
          <p:cNvSpPr/>
          <p:nvPr/>
        </p:nvSpPr>
        <p:spPr>
          <a:xfrm>
            <a:off x="7772400" y="2414016"/>
            <a:ext cx="3419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MOOD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7772400" y="2670048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Cinematic | dignified | warm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0" y="3072384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Ít lời. Nhiều khoảng lặng.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571232" y="3785616"/>
            <a:ext cx="3822192" cy="1426464"/>
          </a:xfrm>
          <a:prstGeom prst="roundRect">
            <a:avLst>
              <a:gd name="adj" fmla="val 3205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1"/>
          <p:cNvSpPr/>
          <p:nvPr/>
        </p:nvSpPr>
        <p:spPr>
          <a:xfrm>
            <a:off x="7717536" y="3931920"/>
            <a:ext cx="3529584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7772400" y="4059936"/>
            <a:ext cx="3419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OUTPUT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7772400" y="4315968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30s | 60s | documentary cut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72400" y="4718304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Dùng cho opening, social và PR.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CONTENT ECOSYSTEM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idea tốt phải sinh ra nhiều lớp nội dung.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Nhưng mỗi lớp chỉ nên làm đúng một việc.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822192" y="2084832"/>
            <a:ext cx="4572000" cy="987552"/>
          </a:xfrm>
          <a:prstGeom prst="roundRect">
            <a:avLst>
              <a:gd name="adj" fmla="val 4630"/>
            </a:avLst>
          </a:prstGeom>
          <a:solidFill>
            <a:srgbClr val="114A7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5440680" y="23225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D5E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HERO CONTENT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096512" y="2560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Hero film | main teaser | aftermovie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194560" y="3346704"/>
            <a:ext cx="7818120" cy="987552"/>
          </a:xfrm>
          <a:prstGeom prst="roundRect">
            <a:avLst>
              <a:gd name="adj" fmla="val 4630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7"/>
          <p:cNvSpPr/>
          <p:nvPr/>
        </p:nvSpPr>
        <p:spPr>
          <a:xfrm>
            <a:off x="4535424" y="358444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SOCIAL / LIVE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23744" y="382219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Reels | TikTok | livestream clip | stills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22960" y="4608576"/>
            <a:ext cx="10561320" cy="749808"/>
          </a:xfrm>
          <a:prstGeom prst="roundRect">
            <a:avLst>
              <a:gd name="adj" fmla="val 6098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1097280" y="488289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 | PHOTO ESSAY | RECAP PAGE | CRM FOLLOW-UP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BRANDING INTEGRATION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6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Thương hiệu cần rõ ràng. Nhưng vẫn phải giữ được độ sang.</a:t>
            </a:r>
            <a:endParaRPr lang="en-US" sz="2156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Hiện diện tốt là khi brand vừa được nhìn thấy, vừa được cảm thấy là có lý do để hiện diện.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4983480" cy="2889504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078992" y="241401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VISIBLE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78992" y="2816352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133856" y="2889504"/>
            <a:ext cx="3136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Tên giải đấu và cúp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1078992" y="3328416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1133856" y="3401568"/>
            <a:ext cx="3136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Backdrop, podium, media wall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1078992" y="3840480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1133856" y="3913632"/>
            <a:ext cx="3136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Livestream package chọn lọc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6382512" y="2139696"/>
            <a:ext cx="5001768" cy="2889504"/>
          </a:xfrm>
          <a:prstGeom prst="roundRect">
            <a:avLst>
              <a:gd name="adj" fmla="val 1582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2"/>
          <p:cNvSpPr/>
          <p:nvPr/>
        </p:nvSpPr>
        <p:spPr>
          <a:xfrm>
            <a:off x="6638544" y="241401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MEANINGFUL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38544" y="2816352"/>
            <a:ext cx="356616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4"/>
          <p:cNvSpPr/>
          <p:nvPr/>
        </p:nvSpPr>
        <p:spPr>
          <a:xfrm>
            <a:off x="6693408" y="2889504"/>
            <a:ext cx="3456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Nghi lễ tôn vinh người cầm lái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6638544" y="3328416"/>
            <a:ext cx="356616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6"/>
          <p:cNvSpPr/>
          <p:nvPr/>
        </p:nvSpPr>
        <p:spPr>
          <a:xfrm>
            <a:off x="6693408" y="3401568"/>
            <a:ext cx="3456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gian lời nhắn gia đình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638544" y="3840480"/>
            <a:ext cx="356616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8"/>
          <p:cNvSpPr/>
          <p:nvPr/>
        </p:nvSpPr>
        <p:spPr>
          <a:xfrm>
            <a:off x="6693408" y="3913632"/>
            <a:ext cx="3456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Giải phụ cho câu chuyện truyền cảm hứng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LEAD LOGIC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Không ép bán tại event.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Dùng giá trị nội dung và cảm xúc để mở ra quan tâm có chất lượng.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94560"/>
            <a:ext cx="3246120" cy="2596896"/>
          </a:xfrm>
          <a:prstGeom prst="roundRect">
            <a:avLst>
              <a:gd name="adj" fmla="val 1761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340864"/>
            <a:ext cx="2953512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468880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724912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Attract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127248"/>
            <a:ext cx="28437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QR, check-in, activation, microsite.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251960" y="2194560"/>
            <a:ext cx="3246120" cy="2596896"/>
          </a:xfrm>
          <a:prstGeom prst="roundRect">
            <a:avLst>
              <a:gd name="adj" fmla="val 1761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398264" y="2340864"/>
            <a:ext cx="2953512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453128" y="2468880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453128" y="2724912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Capture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453128" y="3127248"/>
            <a:ext cx="28437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Nhóm theo intent, không thu lead thô.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680960" y="2194560"/>
            <a:ext cx="3703320" cy="2596896"/>
          </a:xfrm>
          <a:prstGeom prst="roundRect">
            <a:avLst>
              <a:gd name="adj" fmla="val 1761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7827264" y="2340864"/>
            <a:ext cx="3410712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7882128" y="2468880"/>
            <a:ext cx="3300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7882128" y="272491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Nurture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882128" y="3127248"/>
            <a:ext cx="3300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Gửi recap và nội dung hữu ích trước khi mở tư vấn.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52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841248" y="1755648"/>
            <a:ext cx="91440" cy="196596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1078992" y="18105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IMPACT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" y="208483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Từ thương hiệu lớn</a:t>
            </a:r>
            <a:endParaRPr lang="en-US" sz="2705" dirty="0"/>
          </a:p>
          <a:p>
            <a:pPr marL="0" indent="0">
              <a:buNone/>
            </a:pPr>
            <a:r>
              <a:rPr lang="en-US" sz="270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đến thương hiệu lớn và giàu ý nghĩa.</a:t>
            </a:r>
            <a:endParaRPr lang="en-US" sz="2705" dirty="0"/>
          </a:p>
        </p:txBody>
      </p:sp>
      <p:sp>
        <p:nvSpPr>
          <p:cNvPr id="7" name="Text 4"/>
          <p:cNvSpPr/>
          <p:nvPr/>
        </p:nvSpPr>
        <p:spPr>
          <a:xfrm>
            <a:off x="1078992" y="33832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Đó là loại perception shift mà media buy đơn thuần rất khó tạo ra.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89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1338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AWARENESS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26791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6CB8">
              <a:alpha val="92000"/>
            </a:srgbClr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8"/>
          <p:cNvSpPr/>
          <p:nvPr/>
        </p:nvSpPr>
        <p:spPr>
          <a:xfrm>
            <a:off x="27340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TRUST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 FRAMEWORK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13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Đo ít hơn. Nhưng đo đúng hơn.</a:t>
            </a:r>
            <a:endParaRPr lang="en-US" sz="2613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 lớp KPI là đủ cho boardroom: lan tỏa, cảm nhận, kinh doanh.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3310128" cy="2852928"/>
          </a:xfrm>
          <a:prstGeom prst="roundRect">
            <a:avLst>
              <a:gd name="adj" fmla="val 1603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86000"/>
            <a:ext cx="3017520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41401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BRAND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67004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Visibility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072384"/>
            <a:ext cx="2907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Reach, PR mentions, livestream views.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43984" y="2139696"/>
            <a:ext cx="3310128" cy="2852928"/>
          </a:xfrm>
          <a:prstGeom prst="roundRect">
            <a:avLst>
              <a:gd name="adj" fmla="val 1603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590288" y="2286000"/>
            <a:ext cx="3017520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645152" y="2414016"/>
            <a:ext cx="2907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QUALITY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645152" y="267004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Trust &amp; message fit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45152" y="3072384"/>
            <a:ext cx="2907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Sentiment, association, positive voice.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065008" y="2139696"/>
            <a:ext cx="3319272" cy="2852928"/>
          </a:xfrm>
          <a:prstGeom prst="roundRect">
            <a:avLst>
              <a:gd name="adj" fmla="val 1603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8211312" y="2286000"/>
            <a:ext cx="3026664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8266176" y="2414016"/>
            <a:ext cx="2916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266176" y="2670048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momentum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66176" y="3072384"/>
            <a:ext cx="2916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Qualified lead, consultation request, return intent.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6"/>
            <a:ext cx="12191695" cy="6837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ANNUAL PROPERTY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9611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44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signature property mạnh càng lặp lại càng có giá trị.</a:t>
            </a:r>
            <a:endParaRPr lang="en-US" sz="2344" dirty="0"/>
          </a:p>
        </p:txBody>
      </p:sp>
      <p:sp>
        <p:nvSpPr>
          <p:cNvPr id="5" name="Text 2"/>
          <p:cNvSpPr/>
          <p:nvPr/>
        </p:nvSpPr>
        <p:spPr>
          <a:xfrm>
            <a:off x="822960" y="15727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C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Nếu xây đúng từ năm đầu, đây sẽ là một nghi lễ thương hiệu được chờ đợi mỗi mùa Quốc khánh.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2139696"/>
            <a:ext cx="3246120" cy="2816352"/>
          </a:xfrm>
          <a:prstGeom prst="roundRect">
            <a:avLst>
              <a:gd name="adj" fmla="val 1623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969264" y="2286000"/>
            <a:ext cx="2953512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1024128" y="2414016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YEAR 1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1024128" y="2670048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Birth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4128" y="3072384"/>
            <a:ext cx="284378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Sinh ra Big Idea, nghi lễ và visual signature.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80560" y="2139696"/>
            <a:ext cx="3246120" cy="2816352"/>
          </a:xfrm>
          <a:prstGeom prst="roundRect">
            <a:avLst>
              <a:gd name="adj" fmla="val 1623"/>
            </a:avLst>
          </a:prstGeom>
          <a:solidFill>
            <a:srgbClr val="EEF5FB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9"/>
          <p:cNvSpPr/>
          <p:nvPr/>
        </p:nvSpPr>
        <p:spPr>
          <a:xfrm>
            <a:off x="4626864" y="2286000"/>
            <a:ext cx="2953512" cy="45720"/>
          </a:xfrm>
          <a:prstGeom prst="rect">
            <a:avLst/>
          </a:prstGeom>
          <a:solidFill>
            <a:srgbClr val="0B6CB8"/>
          </a:solidFill>
          <a:ln w="12700">
            <a:solidFill>
              <a:srgbClr val="0B6CB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0"/>
          <p:cNvSpPr/>
          <p:nvPr/>
        </p:nvSpPr>
        <p:spPr>
          <a:xfrm>
            <a:off x="4681728" y="2414016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6CB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YEAR 2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681728" y="2670048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Scale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81728" y="3072384"/>
            <a:ext cx="284378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Mở rộng thành cultural week và platform gia đình.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138160" y="2139696"/>
            <a:ext cx="3246120" cy="2816352"/>
          </a:xfrm>
          <a:prstGeom prst="roundRect">
            <a:avLst>
              <a:gd name="adj" fmla="val 1623"/>
            </a:avLst>
          </a:prstGeom>
          <a:solidFill>
            <a:srgbClr val="F8F3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4"/>
          <p:cNvSpPr/>
          <p:nvPr/>
        </p:nvSpPr>
        <p:spPr>
          <a:xfrm>
            <a:off x="8284464" y="2286000"/>
            <a:ext cx="2953512" cy="4572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5"/>
          <p:cNvSpPr/>
          <p:nvPr/>
        </p:nvSpPr>
        <p:spPr>
          <a:xfrm>
            <a:off x="8339328" y="2414016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C9921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YEAR 3+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339328" y="2670048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4A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Own the ritual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339328" y="3072384"/>
            <a:ext cx="284378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203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Biến event thành tài sản thương hiệu sống cùng công chúng.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46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1078992" y="18653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78992" y="2414016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1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Chúng ta không chỉ tài trợ một cuộc đua.</a:t>
            </a:r>
            <a:endParaRPr lang="en-US" sz="2414" dirty="0"/>
          </a:p>
          <a:p>
            <a:pPr marL="0" indent="0">
              <a:buNone/>
            </a:pPr>
            <a:r>
              <a:rPr lang="en-US" sz="241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Chúng ta giữ cho dòng chảy gia đình được tiếp tục.</a:t>
            </a:r>
            <a:endParaRPr lang="en-US" sz="2414" dirty="0"/>
          </a:p>
        </p:txBody>
      </p:sp>
      <p:sp>
        <p:nvSpPr>
          <p:cNvPr id="6" name="Text 3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RAVO\Bảo Việt Nhân Thọ\deck_hue_bvnt_2026\master_unzip\ppt\media\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" y="0"/>
            <a:ext cx="1218341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8">
              <a:alpha val="52000"/>
            </a:srgbClr>
          </a:solidFill>
          <a:ln w="12700">
            <a:solidFill>
              <a:srgbClr val="0E243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1"/>
          <p:cNvSpPr/>
          <p:nvPr/>
        </p:nvSpPr>
        <p:spPr>
          <a:xfrm>
            <a:off x="841248" y="1755648"/>
            <a:ext cx="91440" cy="1965960"/>
          </a:xfrm>
          <a:prstGeom prst="rect">
            <a:avLst/>
          </a:prstGeom>
          <a:solidFill>
            <a:srgbClr val="C99211"/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2"/>
          <p:cNvSpPr/>
          <p:nvPr/>
        </p:nvSpPr>
        <p:spPr>
          <a:xfrm>
            <a:off x="1078992" y="18105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FINALE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" y="2084832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GIỮ MÁI CHÈO HÔM NAY.</a:t>
            </a:r>
            <a:endParaRPr lang="en-US" sz="2705" dirty="0"/>
          </a:p>
          <a:p>
            <a:pPr marL="0" indent="0">
              <a:buNone/>
            </a:pPr>
            <a:r>
              <a:rPr lang="en-US" sz="270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CHỞ CHE MUÔN THẾ HỆ MAI SAU.</a:t>
            </a:r>
            <a:endParaRPr lang="en-US" sz="2705" dirty="0"/>
          </a:p>
        </p:txBody>
      </p:sp>
      <p:sp>
        <p:nvSpPr>
          <p:cNvPr id="7" name="Text 4"/>
          <p:cNvSpPr/>
          <p:nvPr/>
        </p:nvSpPr>
        <p:spPr>
          <a:xfrm>
            <a:off x="1078992" y="33832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Một lời hứa thương hiệu đủ đẹp để bắt đầu từ Huế, và đủ lớn để sống cùng gia đình Việt trong nhiều năm tiếp theo.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8992" y="442569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9211">
              <a:alpha val="92000"/>
            </a:srgbClr>
          </a:solidFill>
          <a:ln w="12700">
            <a:solidFill>
              <a:srgbClr val="C9921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6"/>
          <p:cNvSpPr/>
          <p:nvPr/>
        </p:nvSpPr>
        <p:spPr>
          <a:xfrm>
            <a:off x="1133856" y="4498848"/>
            <a:ext cx="1307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BẢO VIỆT NHÂN THỌ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11384280" y="64282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F720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2438</Words>
  <Application>Microsoft Office PowerPoint</Application>
  <PresentationFormat>Widescreen</PresentationFormat>
  <Paragraphs>458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Bảo Việt Nhân Thọ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BVNT Hue Boat Race Proposal 2026 v4</dc:title>
  <dc:subject>BVNT Hue Boat Race Proposal v4</dc:subject>
  <dc:creator>OpenAI Codex</dc:creator>
  <cp:lastModifiedBy>Đạt Phan</cp:lastModifiedBy>
  <cp:revision>2</cp:revision>
  <dcterms:created xsi:type="dcterms:W3CDTF">2026-03-18T04:53:30Z</dcterms:created>
  <dcterms:modified xsi:type="dcterms:W3CDTF">2026-03-18T04:58:33Z</dcterms:modified>
</cp:coreProperties>
</file>