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Text 0"/>
          <p:cNvSpPr/>
          <p:nvPr/>
        </p:nvSpPr>
        <p:spPr>
          <a:xfrm>
            <a:off x="822960" y="1828800"/>
            <a:ext cx="4389120" cy="182880"/>
          </a:xfrm>
          <a:prstGeom prst="rect">
            <a:avLst/>
          </a:prstGeom>
          <a:noFill/>
          <a:ln/>
        </p:spPr>
        <p:txBody>
          <a:bodyPr wrap="square" lIns="0" tIns="0" rIns="0" bIns="0" rtlCol="0" anchor="t"/>
          <a:lstStyle/>
          <a:p>
            <a:pPr algn="l" indent="0" marL="0">
              <a:buNone/>
            </a:pPr>
            <a:r>
              <a:rPr lang="en-US" sz="1000" b="1" dirty="0">
                <a:solidFill>
                  <a:srgbClr val="114A7A"/>
                </a:solidFill>
                <a:latin typeface="Barlow" pitchFamily="34" charset="0"/>
                <a:ea typeface="Barlow" pitchFamily="34" charset="-122"/>
                <a:cs typeface="Barlow" pitchFamily="34" charset="-120"/>
              </a:rPr>
              <a:t>ĐỀ XUẤT NỀN TẢNG TÀI TRỢ VĂN HÓA - THƯƠNG HIỆU</a:t>
            </a:r>
            <a:endParaRPr lang="en-US" sz="1000" dirty="0"/>
          </a:p>
        </p:txBody>
      </p:sp>
      <p:sp>
        <p:nvSpPr>
          <p:cNvPr id="4" name="Text 1"/>
          <p:cNvSpPr/>
          <p:nvPr/>
        </p:nvSpPr>
        <p:spPr>
          <a:xfrm>
            <a:off x="822960" y="2340864"/>
            <a:ext cx="7955280" cy="1097280"/>
          </a:xfrm>
          <a:prstGeom prst="rect">
            <a:avLst/>
          </a:prstGeom>
          <a:noFill/>
          <a:ln/>
        </p:spPr>
        <p:txBody>
          <a:bodyPr wrap="square" lIns="0" tIns="0" rIns="0" bIns="0" rtlCol="0" anchor="ctr"/>
          <a:lstStyle/>
          <a:p>
            <a:pPr indent="0" marL="0">
              <a:buNone/>
            </a:pPr>
            <a:r>
              <a:rPr lang="en-US" sz="2197" b="1" dirty="0">
                <a:solidFill>
                  <a:srgbClr val="114A7A"/>
                </a:solidFill>
                <a:latin typeface="Barlow" pitchFamily="34" charset="0"/>
                <a:ea typeface="Barlow" pitchFamily="34" charset="-122"/>
                <a:cs typeface="Barlow" pitchFamily="34" charset="-120"/>
              </a:rPr>
              <a:t>GIẢI VÔ ĐỊCH ĐUA GHE TRUYỀN THỐNG CỐ ĐÔ HUẾ 2026</a:t>
            </a:r>
            <a:endParaRPr lang="en-US" sz="2197" dirty="0"/>
          </a:p>
          <a:p>
            <a:pPr indent="0" marL="0">
              <a:buNone/>
            </a:pPr>
            <a:r>
              <a:rPr lang="en-US" sz="2197" b="1" dirty="0">
                <a:solidFill>
                  <a:srgbClr val="114A7A"/>
                </a:solidFill>
                <a:latin typeface="Barlow" pitchFamily="34" charset="0"/>
                <a:ea typeface="Barlow" pitchFamily="34" charset="-122"/>
                <a:cs typeface="Barlow" pitchFamily="34" charset="-120"/>
              </a:rPr>
              <a:t>TRANH CÚP BẢO VIỆT NHÂN THỌ</a:t>
            </a:r>
            <a:endParaRPr lang="en-US" sz="2197" dirty="0"/>
          </a:p>
        </p:txBody>
      </p:sp>
      <p:sp>
        <p:nvSpPr>
          <p:cNvPr id="5" name="Text 2"/>
          <p:cNvSpPr/>
          <p:nvPr/>
        </p:nvSpPr>
        <p:spPr>
          <a:xfrm>
            <a:off x="822960" y="3675888"/>
            <a:ext cx="146304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Big Idea đề xuất</a:t>
            </a:r>
            <a:endParaRPr lang="en-US" sz="1000" dirty="0"/>
          </a:p>
        </p:txBody>
      </p:sp>
      <p:sp>
        <p:nvSpPr>
          <p:cNvPr id="6" name="Text 3"/>
          <p:cNvSpPr/>
          <p:nvPr/>
        </p:nvSpPr>
        <p:spPr>
          <a:xfrm>
            <a:off x="822960" y="3913632"/>
            <a:ext cx="4206240" cy="310896"/>
          </a:xfrm>
          <a:prstGeom prst="rect">
            <a:avLst/>
          </a:prstGeom>
          <a:noFill/>
          <a:ln/>
        </p:spPr>
        <p:txBody>
          <a:bodyPr wrap="square" lIns="0" tIns="0" rIns="0" bIns="0" rtlCol="0" anchor="t"/>
          <a:lstStyle/>
          <a:p>
            <a:pPr algn="l" indent="0" marL="0">
              <a:buNone/>
            </a:pPr>
            <a:r>
              <a:rPr lang="en-US" sz="2200" b="1" dirty="0">
                <a:solidFill>
                  <a:srgbClr val="FFFFFF"/>
                </a:solidFill>
                <a:latin typeface="Barlow" pitchFamily="34" charset="0"/>
                <a:ea typeface="Barlow" pitchFamily="34" charset="-122"/>
                <a:cs typeface="Barlow" pitchFamily="34" charset="-120"/>
              </a:rPr>
              <a:t>GIỮ MÁI CHÈO DI SẢN</a:t>
            </a:r>
            <a:endParaRPr lang="en-US" sz="2200" dirty="0"/>
          </a:p>
        </p:txBody>
      </p:sp>
      <p:sp>
        <p:nvSpPr>
          <p:cNvPr id="7" name="Text 4"/>
          <p:cNvSpPr/>
          <p:nvPr/>
        </p:nvSpPr>
        <p:spPr>
          <a:xfrm>
            <a:off x="822960" y="4315968"/>
            <a:ext cx="5394960" cy="256032"/>
          </a:xfrm>
          <a:prstGeom prst="rect">
            <a:avLst/>
          </a:prstGeom>
          <a:noFill/>
          <a:ln/>
        </p:spPr>
        <p:txBody>
          <a:bodyPr wrap="square" lIns="0" tIns="0" rIns="0" bIns="0" rtlCol="0" anchor="t"/>
          <a:lstStyle/>
          <a:p>
            <a:pPr algn="l" indent="0" marL="0">
              <a:buNone/>
            </a:pPr>
            <a:r>
              <a:rPr lang="en-US" sz="1280" dirty="0">
                <a:solidFill>
                  <a:srgbClr val="FFFFFF"/>
                </a:solidFill>
                <a:latin typeface="Barlow" pitchFamily="34" charset="0"/>
                <a:ea typeface="Barlow" pitchFamily="34" charset="-122"/>
                <a:cs typeface="Barlow" pitchFamily="34" charset="-120"/>
              </a:rPr>
              <a:t>Bảo Việt Nhân Thọ - Giữ mái chèo hôm nay, chở che muôn thế hệ mai sau.</a:t>
            </a:r>
            <a:endParaRPr lang="en-US" sz="1280" dirty="0"/>
          </a:p>
        </p:txBody>
      </p:sp>
      <p:sp>
        <p:nvSpPr>
          <p:cNvPr id="8" name="Shape 5"/>
          <p:cNvSpPr/>
          <p:nvPr/>
        </p:nvSpPr>
        <p:spPr>
          <a:xfrm>
            <a:off x="822960" y="4700016"/>
            <a:ext cx="2697480" cy="310896"/>
          </a:xfrm>
          <a:prstGeom prst="roundRect">
            <a:avLst>
              <a:gd name="adj" fmla="val 23529"/>
            </a:avLst>
          </a:prstGeom>
          <a:solidFill>
            <a:srgbClr val="0B6CB8">
              <a:alpha val="92000"/>
            </a:srgbClr>
          </a:solidFill>
          <a:ln w="12700">
            <a:solidFill>
              <a:srgbClr val="0B6CB8"/>
            </a:solidFill>
            <a:prstDash val="solid"/>
          </a:ln>
        </p:spPr>
      </p:sp>
      <p:sp>
        <p:nvSpPr>
          <p:cNvPr id="9" name="Text 6"/>
          <p:cNvSpPr/>
          <p:nvPr/>
        </p:nvSpPr>
        <p:spPr>
          <a:xfrm>
            <a:off x="877824" y="4773168"/>
            <a:ext cx="25877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02.09.2026 | SÔNG HƯƠNG - HUẾ</a:t>
            </a:r>
            <a:endParaRPr lang="en-US" sz="920" dirty="0"/>
          </a:p>
        </p:txBody>
      </p:sp>
      <p:sp>
        <p:nvSpPr>
          <p:cNvPr id="10" name="Shape 7"/>
          <p:cNvSpPr/>
          <p:nvPr/>
        </p:nvSpPr>
        <p:spPr>
          <a:xfrm>
            <a:off x="3639312" y="4700016"/>
            <a:ext cx="2926080" cy="310896"/>
          </a:xfrm>
          <a:prstGeom prst="roundRect">
            <a:avLst>
              <a:gd name="adj" fmla="val 23529"/>
            </a:avLst>
          </a:prstGeom>
          <a:solidFill>
            <a:srgbClr val="C99211">
              <a:alpha val="92000"/>
            </a:srgbClr>
          </a:solidFill>
          <a:ln w="12700">
            <a:solidFill>
              <a:srgbClr val="C99211"/>
            </a:solidFill>
            <a:prstDash val="solid"/>
          </a:ln>
        </p:spPr>
      </p:sp>
      <p:sp>
        <p:nvSpPr>
          <p:cNvPr id="11" name="Text 8"/>
          <p:cNvSpPr/>
          <p:nvPr/>
        </p:nvSpPr>
        <p:spPr>
          <a:xfrm>
            <a:off x="3694176" y="4773168"/>
            <a:ext cx="28163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TITLE SPONSOR / NAMING RIGHTS</a:t>
            </a:r>
            <a:endParaRPr lang="en-US" sz="920" dirty="0"/>
          </a:p>
        </p:txBody>
      </p:sp>
      <p:sp>
        <p:nvSpPr>
          <p:cNvPr id="12" name="Shape 9"/>
          <p:cNvSpPr/>
          <p:nvPr/>
        </p:nvSpPr>
        <p:spPr>
          <a:xfrm>
            <a:off x="822960" y="5230368"/>
            <a:ext cx="5440680" cy="621792"/>
          </a:xfrm>
          <a:prstGeom prst="roundRect">
            <a:avLst>
              <a:gd name="adj" fmla="val 7353"/>
            </a:avLst>
          </a:prstGeom>
          <a:solidFill>
            <a:srgbClr val="EEF3F8"/>
          </a:solidFill>
          <a:ln w="12700">
            <a:solidFill>
              <a:srgbClr val="D8E0E8"/>
            </a:solidFill>
            <a:prstDash val="solid"/>
          </a:ln>
        </p:spPr>
      </p:sp>
      <p:sp>
        <p:nvSpPr>
          <p:cNvPr id="13" name="Text 10"/>
          <p:cNvSpPr/>
          <p:nvPr/>
        </p:nvSpPr>
        <p:spPr>
          <a:xfrm>
            <a:off x="1042416" y="5422392"/>
            <a:ext cx="4983480" cy="256032"/>
          </a:xfrm>
          <a:prstGeom prst="rect">
            <a:avLst/>
          </a:prstGeom>
          <a:noFill/>
          <a:ln/>
        </p:spPr>
        <p:txBody>
          <a:bodyPr wrap="square" lIns="0" tIns="0" rIns="0" bIns="0" rtlCol="0" anchor="t"/>
          <a:lstStyle/>
          <a:p>
            <a:pPr algn="l" indent="0" marL="0">
              <a:buNone/>
            </a:pPr>
            <a:r>
              <a:rPr lang="en-US" sz="1150" b="1" dirty="0">
                <a:solidFill>
                  <a:srgbClr val="114A7A"/>
                </a:solidFill>
                <a:latin typeface="Barlow" pitchFamily="34" charset="0"/>
                <a:ea typeface="Barlow" pitchFamily="34" charset="-122"/>
                <a:cs typeface="Barlow" pitchFamily="34" charset="-120"/>
              </a:rPr>
              <a:t>Một cơ hội hiếm để Bảo Việt Nhân Thọ biến tinh thần bảo vệ gia đình thành một nghi lễ văn hóa sống, có thể sở hữu lâu dài.</a:t>
            </a:r>
            <a:endParaRPr lang="en-US" sz="115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MỞ ĐẦU</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Không tài trợ một giải đua. Khởi sinh một tài sản văn hóa thương hiệu.</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Từ một sự kiện địa phương của Huế, nâng tầm thành platform thường niên mà Bảo Việt Nhân Thọ có thể sở hữu, tích lũy và làm lớn lên qua từng năm.</a:t>
            </a:r>
            <a:endParaRPr lang="en-US" sz="1400" dirty="0"/>
          </a:p>
        </p:txBody>
      </p:sp>
      <p:sp>
        <p:nvSpPr>
          <p:cNvPr id="8" name="Shape 5"/>
          <p:cNvSpPr/>
          <p:nvPr/>
        </p:nvSpPr>
        <p:spPr>
          <a:xfrm>
            <a:off x="1078992" y="4224528"/>
            <a:ext cx="1682496" cy="310896"/>
          </a:xfrm>
          <a:prstGeom prst="roundRect">
            <a:avLst>
              <a:gd name="adj" fmla="val 23529"/>
            </a:avLst>
          </a:prstGeom>
          <a:solidFill>
            <a:srgbClr val="0B6CB8">
              <a:alpha val="92000"/>
            </a:srgbClr>
          </a:solidFill>
          <a:ln w="12700">
            <a:solidFill>
              <a:srgbClr val="0B6CB8"/>
            </a:solidFill>
            <a:prstDash val="solid"/>
          </a:ln>
        </p:spPr>
      </p:sp>
      <p:sp>
        <p:nvSpPr>
          <p:cNvPr id="9" name="Text 6"/>
          <p:cNvSpPr/>
          <p:nvPr/>
        </p:nvSpPr>
        <p:spPr>
          <a:xfrm>
            <a:off x="1133856" y="4297680"/>
            <a:ext cx="157276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BOARDROOM AMBITION</a:t>
            </a:r>
            <a:endParaRPr lang="en-US" sz="920" dirty="0"/>
          </a:p>
        </p:txBody>
      </p:sp>
      <p:sp>
        <p:nvSpPr>
          <p:cNvPr id="10" name="Shape 7"/>
          <p:cNvSpPr/>
          <p:nvPr/>
        </p:nvSpPr>
        <p:spPr>
          <a:xfrm>
            <a:off x="2907792" y="4224528"/>
            <a:ext cx="1792224" cy="310896"/>
          </a:xfrm>
          <a:prstGeom prst="roundRect">
            <a:avLst>
              <a:gd name="adj" fmla="val 23529"/>
            </a:avLst>
          </a:prstGeom>
          <a:solidFill>
            <a:srgbClr val="C99211">
              <a:alpha val="92000"/>
            </a:srgbClr>
          </a:solidFill>
          <a:ln w="12700">
            <a:solidFill>
              <a:srgbClr val="C99211"/>
            </a:solidFill>
            <a:prstDash val="solid"/>
          </a:ln>
        </p:spPr>
      </p:sp>
      <p:sp>
        <p:nvSpPr>
          <p:cNvPr id="11" name="Text 8"/>
          <p:cNvSpPr/>
          <p:nvPr/>
        </p:nvSpPr>
        <p:spPr>
          <a:xfrm>
            <a:off x="2962656" y="4297680"/>
            <a:ext cx="168249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CULTURAL PROPERTY</a:t>
            </a:r>
            <a:endParaRPr lang="en-US" sz="920" dirty="0"/>
          </a:p>
        </p:txBody>
      </p:sp>
      <p:sp>
        <p:nvSpPr>
          <p:cNvPr id="12" name="Text 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BỐI CẢNH CHIẾN LƯỢC</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Vì sao dự án này đáng làm ngay lúc này</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Bốn động lực đang hội tụ đủ mạnh để biến một giải đua địa phương thành brand property cấp quốc gia.</a:t>
            </a:r>
            <a:endParaRPr lang="en-US" sz="1100" dirty="0"/>
          </a:p>
        </p:txBody>
      </p:sp>
      <p:sp>
        <p:nvSpPr>
          <p:cNvPr id="6" name="Shape 3"/>
          <p:cNvSpPr/>
          <p:nvPr/>
        </p:nvSpPr>
        <p:spPr>
          <a:xfrm>
            <a:off x="822960" y="2029968"/>
            <a:ext cx="2450592" cy="1225296"/>
          </a:xfrm>
          <a:prstGeom prst="roundRect">
            <a:avLst>
              <a:gd name="adj" fmla="val 3731"/>
            </a:avLst>
          </a:prstGeom>
          <a:solidFill>
            <a:srgbClr val="F8F3E8"/>
          </a:solidFill>
          <a:ln w="12700">
            <a:solidFill>
              <a:srgbClr val="D8E0E8"/>
            </a:solidFill>
            <a:prstDash val="solid"/>
          </a:ln>
        </p:spPr>
      </p:sp>
      <p:sp>
        <p:nvSpPr>
          <p:cNvPr id="7" name="Shape 4"/>
          <p:cNvSpPr/>
          <p:nvPr/>
        </p:nvSpPr>
        <p:spPr>
          <a:xfrm>
            <a:off x="969264" y="2176272"/>
            <a:ext cx="2157984" cy="45720"/>
          </a:xfrm>
          <a:prstGeom prst="rect">
            <a:avLst/>
          </a:prstGeom>
          <a:solidFill>
            <a:srgbClr val="C99211"/>
          </a:solidFill>
          <a:ln w="12700">
            <a:solidFill>
              <a:srgbClr val="C99211"/>
            </a:solidFill>
            <a:prstDash val="solid"/>
          </a:ln>
        </p:spPr>
      </p:sp>
      <p:sp>
        <p:nvSpPr>
          <p:cNvPr id="8" name="Text 5"/>
          <p:cNvSpPr/>
          <p:nvPr/>
        </p:nvSpPr>
        <p:spPr>
          <a:xfrm>
            <a:off x="1024128" y="2304288"/>
            <a:ext cx="20482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01 | THỜI ĐIỂM</a:t>
            </a:r>
            <a:endParaRPr lang="en-US" sz="920" dirty="0"/>
          </a:p>
        </p:txBody>
      </p:sp>
      <p:sp>
        <p:nvSpPr>
          <p:cNvPr id="9" name="Text 6"/>
          <p:cNvSpPr/>
          <p:nvPr/>
        </p:nvSpPr>
        <p:spPr>
          <a:xfrm>
            <a:off x="1024128"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Quốc khánh 02/09</a:t>
            </a:r>
            <a:endParaRPr lang="en-US" sz="1700" dirty="0"/>
          </a:p>
        </p:txBody>
      </p:sp>
      <p:sp>
        <p:nvSpPr>
          <p:cNvPr id="10" name="Text 7"/>
          <p:cNvSpPr/>
          <p:nvPr/>
        </p:nvSpPr>
        <p:spPr>
          <a:xfrm>
            <a:off x="1024128"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Tinh thần quốc gia giúp sự kiện có chiều sâu cộng đồng thay vì chỉ thể thao.</a:t>
            </a:r>
            <a:endParaRPr lang="en-US" sz="1080" dirty="0"/>
          </a:p>
        </p:txBody>
      </p:sp>
      <p:sp>
        <p:nvSpPr>
          <p:cNvPr id="11" name="Shape 8"/>
          <p:cNvSpPr/>
          <p:nvPr/>
        </p:nvSpPr>
        <p:spPr>
          <a:xfrm>
            <a:off x="3493008" y="2029968"/>
            <a:ext cx="2450592" cy="1225296"/>
          </a:xfrm>
          <a:prstGeom prst="roundRect">
            <a:avLst>
              <a:gd name="adj" fmla="val 3731"/>
            </a:avLst>
          </a:prstGeom>
          <a:solidFill>
            <a:srgbClr val="EEF5FB"/>
          </a:solidFill>
          <a:ln w="12700">
            <a:solidFill>
              <a:srgbClr val="D8E0E8"/>
            </a:solidFill>
            <a:prstDash val="solid"/>
          </a:ln>
        </p:spPr>
      </p:sp>
      <p:sp>
        <p:nvSpPr>
          <p:cNvPr id="12" name="Shape 9"/>
          <p:cNvSpPr/>
          <p:nvPr/>
        </p:nvSpPr>
        <p:spPr>
          <a:xfrm>
            <a:off x="3639312" y="2176272"/>
            <a:ext cx="2157984" cy="45720"/>
          </a:xfrm>
          <a:prstGeom prst="rect">
            <a:avLst/>
          </a:prstGeom>
          <a:solidFill>
            <a:srgbClr val="0B6CB8"/>
          </a:solidFill>
          <a:ln w="12700">
            <a:solidFill>
              <a:srgbClr val="0B6CB8"/>
            </a:solidFill>
            <a:prstDash val="solid"/>
          </a:ln>
        </p:spPr>
      </p:sp>
      <p:sp>
        <p:nvSpPr>
          <p:cNvPr id="13" name="Text 10"/>
          <p:cNvSpPr/>
          <p:nvPr/>
        </p:nvSpPr>
        <p:spPr>
          <a:xfrm>
            <a:off x="3694176" y="2304288"/>
            <a:ext cx="204825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02 | BỐI CẢNH</a:t>
            </a:r>
            <a:endParaRPr lang="en-US" sz="920" dirty="0"/>
          </a:p>
        </p:txBody>
      </p:sp>
      <p:sp>
        <p:nvSpPr>
          <p:cNvPr id="14" name="Text 11"/>
          <p:cNvSpPr/>
          <p:nvPr/>
        </p:nvSpPr>
        <p:spPr>
          <a:xfrm>
            <a:off x="3694176"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Huế - thành phố của ký ức</a:t>
            </a:r>
            <a:endParaRPr lang="en-US" sz="1700" dirty="0"/>
          </a:p>
        </p:txBody>
      </p:sp>
      <p:sp>
        <p:nvSpPr>
          <p:cNvPr id="15" name="Text 12"/>
          <p:cNvSpPr/>
          <p:nvPr/>
        </p:nvSpPr>
        <p:spPr>
          <a:xfrm>
            <a:off x="3694176"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Di sản, chuẩn mực và cảm xúc khiến câu chuyện bảo vệ trở nên đắt giá hơn.</a:t>
            </a:r>
            <a:endParaRPr lang="en-US" sz="1080" dirty="0"/>
          </a:p>
        </p:txBody>
      </p:sp>
      <p:sp>
        <p:nvSpPr>
          <p:cNvPr id="16" name="Shape 13"/>
          <p:cNvSpPr/>
          <p:nvPr/>
        </p:nvSpPr>
        <p:spPr>
          <a:xfrm>
            <a:off x="6163056" y="2029968"/>
            <a:ext cx="2450592" cy="1225296"/>
          </a:xfrm>
          <a:prstGeom prst="roundRect">
            <a:avLst>
              <a:gd name="adj" fmla="val 3731"/>
            </a:avLst>
          </a:prstGeom>
          <a:solidFill>
            <a:srgbClr val="F8F3E8"/>
          </a:solidFill>
          <a:ln w="12700">
            <a:solidFill>
              <a:srgbClr val="D8E0E8"/>
            </a:solidFill>
            <a:prstDash val="solid"/>
          </a:ln>
        </p:spPr>
      </p:sp>
      <p:sp>
        <p:nvSpPr>
          <p:cNvPr id="17" name="Shape 14"/>
          <p:cNvSpPr/>
          <p:nvPr/>
        </p:nvSpPr>
        <p:spPr>
          <a:xfrm>
            <a:off x="6309360" y="2176272"/>
            <a:ext cx="2157984" cy="45720"/>
          </a:xfrm>
          <a:prstGeom prst="rect">
            <a:avLst/>
          </a:prstGeom>
          <a:solidFill>
            <a:srgbClr val="C99211"/>
          </a:solidFill>
          <a:ln w="12700">
            <a:solidFill>
              <a:srgbClr val="C99211"/>
            </a:solidFill>
            <a:prstDash val="solid"/>
          </a:ln>
        </p:spPr>
      </p:sp>
      <p:sp>
        <p:nvSpPr>
          <p:cNvPr id="18" name="Text 15"/>
          <p:cNvSpPr/>
          <p:nvPr/>
        </p:nvSpPr>
        <p:spPr>
          <a:xfrm>
            <a:off x="6364224" y="2304288"/>
            <a:ext cx="20482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03 | HÌNH ẢNH</a:t>
            </a:r>
            <a:endParaRPr lang="en-US" sz="920" dirty="0"/>
          </a:p>
        </p:txBody>
      </p:sp>
      <p:sp>
        <p:nvSpPr>
          <p:cNvPr id="19" name="Text 16"/>
          <p:cNvSpPr/>
          <p:nvPr/>
        </p:nvSpPr>
        <p:spPr>
          <a:xfrm>
            <a:off x="6364224"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Đua ghe có visual power</a:t>
            </a:r>
            <a:endParaRPr lang="en-US" sz="1700" dirty="0"/>
          </a:p>
        </p:txBody>
      </p:sp>
      <p:sp>
        <p:nvSpPr>
          <p:cNvPr id="20" name="Text 17"/>
          <p:cNvSpPr/>
          <p:nvPr/>
        </p:nvSpPr>
        <p:spPr>
          <a:xfrm>
            <a:off x="6364224"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Dễ tạo spectacle, livestream và short-form có độ lan tỏa tự nhiên.</a:t>
            </a:r>
            <a:endParaRPr lang="en-US" sz="1080" dirty="0"/>
          </a:p>
        </p:txBody>
      </p:sp>
      <p:sp>
        <p:nvSpPr>
          <p:cNvPr id="21" name="Shape 18"/>
          <p:cNvSpPr/>
          <p:nvPr/>
        </p:nvSpPr>
        <p:spPr>
          <a:xfrm>
            <a:off x="8833104" y="2029968"/>
            <a:ext cx="2560320" cy="1225296"/>
          </a:xfrm>
          <a:prstGeom prst="roundRect">
            <a:avLst>
              <a:gd name="adj" fmla="val 3731"/>
            </a:avLst>
          </a:prstGeom>
          <a:solidFill>
            <a:srgbClr val="EEF5FB"/>
          </a:solidFill>
          <a:ln w="12700">
            <a:solidFill>
              <a:srgbClr val="D8E0E8"/>
            </a:solidFill>
            <a:prstDash val="solid"/>
          </a:ln>
        </p:spPr>
      </p:sp>
      <p:sp>
        <p:nvSpPr>
          <p:cNvPr id="22" name="Shape 19"/>
          <p:cNvSpPr/>
          <p:nvPr/>
        </p:nvSpPr>
        <p:spPr>
          <a:xfrm>
            <a:off x="8979408" y="2176272"/>
            <a:ext cx="2267712" cy="45720"/>
          </a:xfrm>
          <a:prstGeom prst="rect">
            <a:avLst/>
          </a:prstGeom>
          <a:solidFill>
            <a:srgbClr val="0B6CB8"/>
          </a:solidFill>
          <a:ln w="12700">
            <a:solidFill>
              <a:srgbClr val="0B6CB8"/>
            </a:solidFill>
            <a:prstDash val="solid"/>
          </a:ln>
        </p:spPr>
      </p:sp>
      <p:sp>
        <p:nvSpPr>
          <p:cNvPr id="23" name="Text 20"/>
          <p:cNvSpPr/>
          <p:nvPr/>
        </p:nvSpPr>
        <p:spPr>
          <a:xfrm>
            <a:off x="9034272" y="2304288"/>
            <a:ext cx="21579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04 | THƯƠNG HIỆU</a:t>
            </a:r>
            <a:endParaRPr lang="en-US" sz="920" dirty="0"/>
          </a:p>
        </p:txBody>
      </p:sp>
      <p:sp>
        <p:nvSpPr>
          <p:cNvPr id="24" name="Text 21"/>
          <p:cNvSpPr/>
          <p:nvPr/>
        </p:nvSpPr>
        <p:spPr>
          <a:xfrm>
            <a:off x="9034272" y="2560320"/>
            <a:ext cx="21579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Bảo Việt Nhân Thọ có right to play</a:t>
            </a:r>
            <a:endParaRPr lang="en-US" sz="1700" dirty="0"/>
          </a:p>
        </p:txBody>
      </p:sp>
      <p:sp>
        <p:nvSpPr>
          <p:cNvPr id="25" name="Text 22"/>
          <p:cNvSpPr/>
          <p:nvPr/>
        </p:nvSpPr>
        <p:spPr>
          <a:xfrm>
            <a:off x="9034272" y="2962656"/>
            <a:ext cx="2157984"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Vai trò giữ cho gia đình đi tiếp khớp tự nhiên với tinh thần của cuộc đua.</a:t>
            </a:r>
            <a:endParaRPr lang="en-US" sz="1080" dirty="0"/>
          </a:p>
        </p:txBody>
      </p:sp>
      <p:sp>
        <p:nvSpPr>
          <p:cNvPr id="26" name="Shape 23"/>
          <p:cNvSpPr/>
          <p:nvPr/>
        </p:nvSpPr>
        <p:spPr>
          <a:xfrm>
            <a:off x="822960" y="3822192"/>
            <a:ext cx="10561320" cy="1024128"/>
          </a:xfrm>
          <a:prstGeom prst="roundRect">
            <a:avLst>
              <a:gd name="adj" fmla="val 4464"/>
            </a:avLst>
          </a:prstGeom>
          <a:solidFill>
            <a:srgbClr val="114A7A"/>
          </a:solidFill>
          <a:ln w="12700">
            <a:solidFill>
              <a:srgbClr val="114A7A"/>
            </a:solidFill>
            <a:prstDash val="solid"/>
          </a:ln>
        </p:spPr>
      </p:sp>
      <p:sp>
        <p:nvSpPr>
          <p:cNvPr id="27" name="Text 24"/>
          <p:cNvSpPr/>
          <p:nvPr/>
        </p:nvSpPr>
        <p:spPr>
          <a:xfrm>
            <a:off x="1060704" y="4041648"/>
            <a:ext cx="10085832" cy="713232"/>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Một thời điểm hiếm khi giá trị văn hóa, tinh thần Quốc khánh và nhu cầu thương hiệu cùng đứng về một phía.</a:t>
            </a:r>
            <a:endParaRPr lang="en-US" sz="2000" dirty="0"/>
          </a:p>
        </p:txBody>
      </p:sp>
      <p:sp>
        <p:nvSpPr>
          <p:cNvPr id="28" name="Text 2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WINDOW OF OPPORTUNITY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Nếu chỉ tài trợ logo, giá trị sẽ dừng ở hiện diện. Nếu sở hữu platform, giá trị sẽ tích lũy qua nhiều mùa.</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Khoảng chênh lớn nhất của dự án này không nằm ở media. Nó nằm ở cách định nghĩa vai trò thương hiệu.</a:t>
            </a:r>
            <a:endParaRPr lang="en-US" sz="1100" dirty="0"/>
          </a:p>
        </p:txBody>
      </p:sp>
      <p:sp>
        <p:nvSpPr>
          <p:cNvPr id="6" name="Shape 3"/>
          <p:cNvSpPr/>
          <p:nvPr/>
        </p:nvSpPr>
        <p:spPr>
          <a:xfrm>
            <a:off x="822960" y="2048256"/>
            <a:ext cx="4983480" cy="3072384"/>
          </a:xfrm>
          <a:prstGeom prst="roundRect">
            <a:avLst>
              <a:gd name="adj" fmla="val 1488"/>
            </a:avLst>
          </a:prstGeom>
          <a:solidFill>
            <a:srgbClr val="FFFFFF"/>
          </a:solidFill>
          <a:ln w="12700">
            <a:solidFill>
              <a:srgbClr val="D8E0E8"/>
            </a:solidFill>
            <a:prstDash val="solid"/>
          </a:ln>
        </p:spPr>
      </p:sp>
      <p:sp>
        <p:nvSpPr>
          <p:cNvPr id="7" name="Text 4"/>
          <p:cNvSpPr/>
          <p:nvPr/>
        </p:nvSpPr>
        <p:spPr>
          <a:xfrm>
            <a:off x="1078992" y="2322576"/>
            <a:ext cx="2377440" cy="182880"/>
          </a:xfrm>
          <a:prstGeom prst="rect">
            <a:avLst/>
          </a:prstGeom>
          <a:noFill/>
          <a:ln/>
        </p:spPr>
        <p:txBody>
          <a:bodyPr wrap="square" lIns="0" tIns="0" rIns="0" bIns="0" rtlCol="0" anchor="t"/>
          <a:lstStyle/>
          <a:p>
            <a:pPr algn="l" indent="0" marL="0">
              <a:buNone/>
            </a:pPr>
            <a:r>
              <a:rPr lang="en-US" sz="1700" b="1" dirty="0">
                <a:solidFill>
                  <a:srgbClr val="5C6C7B"/>
                </a:solidFill>
                <a:latin typeface="Barlow" pitchFamily="34" charset="0"/>
                <a:ea typeface="Barlow" pitchFamily="34" charset="-122"/>
                <a:cs typeface="Barlow" pitchFamily="34" charset="-120"/>
              </a:rPr>
              <a:t>Nếu chỉ là sponsorship</a:t>
            </a:r>
            <a:endParaRPr lang="en-US" sz="1700" dirty="0"/>
          </a:p>
        </p:txBody>
      </p:sp>
      <p:sp>
        <p:nvSpPr>
          <p:cNvPr id="8" name="Text 5"/>
          <p:cNvSpPr/>
          <p:nvPr/>
        </p:nvSpPr>
        <p:spPr>
          <a:xfrm>
            <a:off x="1078992" y="2761488"/>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Nhận biết cao trong ngắn hạn nhưng khó sở hữu ý nghĩa.</a:t>
            </a:r>
            <a:endParaRPr lang="en-US" sz="1120" dirty="0"/>
          </a:p>
        </p:txBody>
      </p:sp>
      <p:sp>
        <p:nvSpPr>
          <p:cNvPr id="9" name="Text 6"/>
          <p:cNvSpPr/>
          <p:nvPr/>
        </p:nvSpPr>
        <p:spPr>
          <a:xfrm>
            <a:off x="1078992" y="3163824"/>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Hình ảnh sự kiện trôi qua sau ngày đua.</a:t>
            </a:r>
            <a:endParaRPr lang="en-US" sz="1120" dirty="0"/>
          </a:p>
        </p:txBody>
      </p:sp>
      <p:sp>
        <p:nvSpPr>
          <p:cNvPr id="10" name="Text 7"/>
          <p:cNvSpPr/>
          <p:nvPr/>
        </p:nvSpPr>
        <p:spPr>
          <a:xfrm>
            <a:off x="1078992" y="3566160"/>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Khó tạo premium thương hiệu hay động lực quay lại năm sau.</a:t>
            </a:r>
            <a:endParaRPr lang="en-US" sz="1120" dirty="0"/>
          </a:p>
        </p:txBody>
      </p:sp>
      <p:sp>
        <p:nvSpPr>
          <p:cNvPr id="11" name="Shape 8"/>
          <p:cNvSpPr/>
          <p:nvPr/>
        </p:nvSpPr>
        <p:spPr>
          <a:xfrm>
            <a:off x="6382512" y="2048256"/>
            <a:ext cx="5001768" cy="3072384"/>
          </a:xfrm>
          <a:prstGeom prst="roundRect">
            <a:avLst>
              <a:gd name="adj" fmla="val 1488"/>
            </a:avLst>
          </a:prstGeom>
          <a:solidFill>
            <a:srgbClr val="EEF5FB"/>
          </a:solidFill>
          <a:ln w="12700">
            <a:solidFill>
              <a:srgbClr val="D8E0E8"/>
            </a:solidFill>
            <a:prstDash val="solid"/>
          </a:ln>
        </p:spPr>
      </p:sp>
      <p:sp>
        <p:nvSpPr>
          <p:cNvPr id="12" name="Text 9"/>
          <p:cNvSpPr/>
          <p:nvPr/>
        </p:nvSpPr>
        <p:spPr>
          <a:xfrm>
            <a:off x="6638544" y="2322576"/>
            <a:ext cx="2926080" cy="182880"/>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Nếu là cultural brand platform</a:t>
            </a:r>
            <a:endParaRPr lang="en-US" sz="1700" dirty="0"/>
          </a:p>
        </p:txBody>
      </p:sp>
      <p:sp>
        <p:nvSpPr>
          <p:cNvPr id="13" name="Text 10"/>
          <p:cNvSpPr/>
          <p:nvPr/>
        </p:nvSpPr>
        <p:spPr>
          <a:xfrm>
            <a:off x="6638544" y="2761488"/>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Sở hữu một biểu tượng cảm xúc gắn với gia đình Việt.</a:t>
            </a:r>
            <a:endParaRPr lang="en-US" sz="1120" dirty="0"/>
          </a:p>
        </p:txBody>
      </p:sp>
      <p:sp>
        <p:nvSpPr>
          <p:cNvPr id="14" name="Text 11"/>
          <p:cNvSpPr/>
          <p:nvPr/>
        </p:nvSpPr>
        <p:spPr>
          <a:xfrm>
            <a:off x="6638544" y="3163824"/>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Tạo nghi lễ và visual signature có thể lặp lại hàng năm.</a:t>
            </a:r>
            <a:endParaRPr lang="en-US" sz="1120" dirty="0"/>
          </a:p>
        </p:txBody>
      </p:sp>
      <p:sp>
        <p:nvSpPr>
          <p:cNvPr id="15" name="Text 12"/>
          <p:cNvSpPr/>
          <p:nvPr/>
        </p:nvSpPr>
        <p:spPr>
          <a:xfrm>
            <a:off x="6638544" y="3566160"/>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Gắn awareness với trust, earned media và commercial momentum.</a:t>
            </a:r>
            <a:endParaRPr lang="en-US" sz="1120" dirty="0"/>
          </a:p>
        </p:txBody>
      </p:sp>
      <p:sp>
        <p:nvSpPr>
          <p:cNvPr id="16" name="Shape 13"/>
          <p:cNvSpPr/>
          <p:nvPr/>
        </p:nvSpPr>
        <p:spPr>
          <a:xfrm>
            <a:off x="6638544" y="4663440"/>
            <a:ext cx="3337560" cy="310896"/>
          </a:xfrm>
          <a:prstGeom prst="roundRect">
            <a:avLst>
              <a:gd name="adj" fmla="val 23529"/>
            </a:avLst>
          </a:prstGeom>
          <a:solidFill>
            <a:srgbClr val="C99211">
              <a:alpha val="92000"/>
            </a:srgbClr>
          </a:solidFill>
          <a:ln w="12700">
            <a:solidFill>
              <a:srgbClr val="C99211"/>
            </a:solidFill>
            <a:prstDash val="solid"/>
          </a:ln>
        </p:spPr>
      </p:sp>
      <p:sp>
        <p:nvSpPr>
          <p:cNvPr id="17" name="Text 14"/>
          <p:cNvSpPr/>
          <p:nvPr/>
        </p:nvSpPr>
        <p:spPr>
          <a:xfrm>
            <a:off x="6693408" y="4736592"/>
            <a:ext cx="322783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FROM SPONSOR TO CULTURAL CUSTODIAN</a:t>
            </a:r>
            <a:endParaRPr lang="en-US" sz="92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CULTURAL CONTEXT</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53" b="1" dirty="0">
                <a:solidFill>
                  <a:srgbClr val="114A7A"/>
                </a:solidFill>
                <a:latin typeface="Barlow" pitchFamily="34" charset="0"/>
                <a:ea typeface="Barlow" pitchFamily="34" charset="-122"/>
                <a:cs typeface="Barlow" pitchFamily="34" charset="-120"/>
              </a:rPr>
              <a:t>Huế không chỉ là bối cảnh. Huế chính là linh hồn của đề xuất.</a:t>
            </a:r>
            <a:endParaRPr lang="en-US" sz="2153"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Ở Huế, dòng sông không chỉ để đi qua. Dòng sông là ký ức, là nếp sống và là nơi truyền thống tiếp tục được gìn giữ.</a:t>
            </a:r>
            <a:endParaRPr lang="en-US" sz="1100" dirty="0"/>
          </a:p>
        </p:txBody>
      </p:sp>
      <p:sp>
        <p:nvSpPr>
          <p:cNvPr id="6" name="Shape 3"/>
          <p:cNvSpPr/>
          <p:nvPr/>
        </p:nvSpPr>
        <p:spPr>
          <a:xfrm>
            <a:off x="822960" y="1993392"/>
            <a:ext cx="5074920" cy="3584448"/>
          </a:xfrm>
          <a:prstGeom prst="roundRect">
            <a:avLst>
              <a:gd name="adj" fmla="val 1276"/>
            </a:avLst>
          </a:prstGeom>
          <a:solidFill>
            <a:srgbClr val="FFFFFF"/>
          </a:solidFill>
          <a:ln w="12700">
            <a:solidFill>
              <a:srgbClr val="D8E0E8"/>
            </a:solidFill>
            <a:prstDash val="solid"/>
          </a:ln>
        </p:spPr>
      </p:sp>
      <p:sp>
        <p:nvSpPr>
          <p:cNvPr id="7" name="Text 4"/>
          <p:cNvSpPr/>
          <p:nvPr/>
        </p:nvSpPr>
        <p:spPr>
          <a:xfrm>
            <a:off x="1060704" y="2286000"/>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CHIỀU SÂU VĂN HÓA</a:t>
            </a:r>
            <a:endParaRPr lang="en-US" sz="950" dirty="0"/>
          </a:p>
        </p:txBody>
      </p:sp>
      <p:sp>
        <p:nvSpPr>
          <p:cNvPr id="8" name="Text 5"/>
          <p:cNvSpPr/>
          <p:nvPr/>
        </p:nvSpPr>
        <p:spPr>
          <a:xfrm>
            <a:off x="1060704" y="2578608"/>
            <a:ext cx="4069080" cy="457200"/>
          </a:xfrm>
          <a:prstGeom prst="rect">
            <a:avLst/>
          </a:prstGeom>
          <a:noFill/>
          <a:ln/>
        </p:spPr>
        <p:txBody>
          <a:bodyPr wrap="square" lIns="0" tIns="0" rIns="0" bIns="0" rtlCol="0" anchor="t"/>
          <a:lstStyle/>
          <a:p>
            <a:pPr algn="l" indent="0" marL="0">
              <a:buNone/>
            </a:pPr>
            <a:r>
              <a:rPr lang="en-US" sz="2100" b="1" dirty="0">
                <a:solidFill>
                  <a:srgbClr val="114A7A"/>
                </a:solidFill>
                <a:latin typeface="Barlow" pitchFamily="34" charset="0"/>
                <a:ea typeface="Barlow" pitchFamily="34" charset="-122"/>
                <a:cs typeface="Barlow" pitchFamily="34" charset="-120"/>
              </a:rPr>
              <a:t>Huế là thành phố của ký ức và sự kế thừa.</a:t>
            </a:r>
            <a:endParaRPr lang="en-US" sz="2100" dirty="0"/>
          </a:p>
        </p:txBody>
      </p:sp>
      <p:sp>
        <p:nvSpPr>
          <p:cNvPr id="9" name="Text 6"/>
          <p:cNvSpPr/>
          <p:nvPr/>
        </p:nvSpPr>
        <p:spPr>
          <a:xfrm>
            <a:off x="1060704" y="3236976"/>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Sông Hương, Phu Văn Lâu, Trường Tiền tạo nên một phông nền di sản có thật.</a:t>
            </a:r>
            <a:endParaRPr lang="en-US" sz="1110" dirty="0"/>
          </a:p>
        </p:txBody>
      </p:sp>
      <p:sp>
        <p:nvSpPr>
          <p:cNvPr id="10" name="Text 7"/>
          <p:cNvSpPr/>
          <p:nvPr/>
        </p:nvSpPr>
        <p:spPr>
          <a:xfrm>
            <a:off x="1060704" y="3639312"/>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Gia phong, nề nếp và sự gìn giữ giúp ngôn ngữ 'bảo vệ' trở nên tự nhiên.</a:t>
            </a:r>
            <a:endParaRPr lang="en-US" sz="1110" dirty="0"/>
          </a:p>
        </p:txBody>
      </p:sp>
      <p:sp>
        <p:nvSpPr>
          <p:cNvPr id="11" name="Text 8"/>
          <p:cNvSpPr/>
          <p:nvPr/>
        </p:nvSpPr>
        <p:spPr>
          <a:xfrm>
            <a:off x="1060704" y="4041648"/>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Mọi thứ ở Huế đều đẹp hơn khi được làm bằng sự chuẩn mực và restraint.</a:t>
            </a:r>
            <a:endParaRPr lang="en-US" sz="1110" dirty="0"/>
          </a:p>
        </p:txBody>
      </p:sp>
      <p:sp>
        <p:nvSpPr>
          <p:cNvPr id="12" name="Shape 9"/>
          <p:cNvSpPr/>
          <p:nvPr/>
        </p:nvSpPr>
        <p:spPr>
          <a:xfrm>
            <a:off x="6309360" y="1993392"/>
            <a:ext cx="5074920" cy="3584448"/>
          </a:xfrm>
          <a:prstGeom prst="roundRect">
            <a:avLst>
              <a:gd name="adj" fmla="val 1276"/>
            </a:avLst>
          </a:prstGeom>
          <a:solidFill>
            <a:srgbClr val="F6F8FB"/>
          </a:solidFill>
          <a:ln w="12700">
            <a:solidFill>
              <a:srgbClr val="D8E0E8"/>
            </a:solidFill>
            <a:prstDash val="solid"/>
          </a:ln>
        </p:spPr>
      </p:sp>
      <p:sp>
        <p:nvSpPr>
          <p:cNvPr id="13" name="Text 10"/>
          <p:cNvSpPr/>
          <p:nvPr/>
        </p:nvSpPr>
        <p:spPr>
          <a:xfrm>
            <a:off x="6547104" y="2286000"/>
            <a:ext cx="137160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NGHI LỄ SỐNG</a:t>
            </a:r>
            <a:endParaRPr lang="en-US" sz="950" dirty="0"/>
          </a:p>
        </p:txBody>
      </p:sp>
      <p:sp>
        <p:nvSpPr>
          <p:cNvPr id="14" name="Text 11"/>
          <p:cNvSpPr/>
          <p:nvPr/>
        </p:nvSpPr>
        <p:spPr>
          <a:xfrm>
            <a:off x="6547104" y="2578608"/>
            <a:ext cx="4160520" cy="457200"/>
          </a:xfrm>
          <a:prstGeom prst="rect">
            <a:avLst/>
          </a:prstGeom>
          <a:noFill/>
          <a:ln/>
        </p:spPr>
        <p:txBody>
          <a:bodyPr wrap="square" lIns="0" tIns="0" rIns="0" bIns="0" rtlCol="0" anchor="t"/>
          <a:lstStyle/>
          <a:p>
            <a:pPr algn="l" indent="0" marL="0">
              <a:buNone/>
            </a:pPr>
            <a:r>
              <a:rPr lang="en-US" sz="2100" b="1" dirty="0">
                <a:solidFill>
                  <a:srgbClr val="114A7A"/>
                </a:solidFill>
                <a:latin typeface="Barlow" pitchFamily="34" charset="0"/>
                <a:ea typeface="Barlow" pitchFamily="34" charset="-122"/>
                <a:cs typeface="Barlow" pitchFamily="34" charset="-120"/>
              </a:rPr>
              <a:t>Đua ghe là một nghi lễ cộng đồng chứ không chỉ là môn thi.</a:t>
            </a:r>
            <a:endParaRPr lang="en-US" sz="2100" dirty="0"/>
          </a:p>
        </p:txBody>
      </p:sp>
      <p:sp>
        <p:nvSpPr>
          <p:cNvPr id="15" name="Text 12"/>
          <p:cNvSpPr/>
          <p:nvPr/>
        </p:nvSpPr>
        <p:spPr>
          <a:xfrm>
            <a:off x="6547104" y="3236976"/>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Mỗi ghe vận hành như một gia đình: cùng nhịp, cùng gánh, cùng vượt sóng.</a:t>
            </a:r>
            <a:endParaRPr lang="en-US" sz="1110" dirty="0"/>
          </a:p>
        </p:txBody>
      </p:sp>
      <p:sp>
        <p:nvSpPr>
          <p:cNvPr id="16" name="Text 13"/>
          <p:cNvSpPr/>
          <p:nvPr/>
        </p:nvSpPr>
        <p:spPr>
          <a:xfrm>
            <a:off x="6547104" y="3639312"/>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Người cầm lái là hình tượng trách nhiệm và dẫn dắt.</a:t>
            </a:r>
            <a:endParaRPr lang="en-US" sz="1110" dirty="0"/>
          </a:p>
        </p:txBody>
      </p:sp>
      <p:sp>
        <p:nvSpPr>
          <p:cNvPr id="17" name="Text 14"/>
          <p:cNvSpPr/>
          <p:nvPr/>
        </p:nvSpPr>
        <p:spPr>
          <a:xfrm>
            <a:off x="6547104" y="4041648"/>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Khán giả dọc hai bờ sông làm cho cuộc đua trở thành ký ức chung của cả cộng đồng.</a:t>
            </a:r>
            <a:endParaRPr lang="en-US" sz="111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INSIGHT</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Điều gia đình sợ nhất không phải sóng gió. Mà là hành trình bị dừng giữa dòng.</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Khi người giữ nhịp gặp biến cố, nỗi lo lớn nhất không nằm ở một khoảnh khắc khó khăn, mà nằm ở việc gia đình có còn đi tiếp được như trước hay không.</a:t>
            </a:r>
            <a:endParaRPr lang="en-US" sz="1400" dirty="0"/>
          </a:p>
        </p:txBody>
      </p:sp>
      <p:sp>
        <p:nvSpPr>
          <p:cNvPr id="8" name="Shape 5"/>
          <p:cNvSpPr/>
          <p:nvPr/>
        </p:nvSpPr>
        <p:spPr>
          <a:xfrm>
            <a:off x="1078992" y="4315968"/>
            <a:ext cx="1316736"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389120"/>
            <a:ext cx="120700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HUMAN TRUTH</a:t>
            </a:r>
            <a:endParaRPr lang="en-US" sz="920" dirty="0"/>
          </a:p>
        </p:txBody>
      </p:sp>
      <p:sp>
        <p:nvSpPr>
          <p:cNvPr id="10" name="Text 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INSIGHT FRAMEWORK</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Đua ghe là một ẩn dụ Việt Nam rất đắt cho câu chuyện bảo vệ gia đình</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Chỉ cần giải mã đúng biểu tượng, Bảo Việt Nhân Thọ sẽ có một ngôn ngữ cảm xúc vừa gần gũi, vừa sang trọng.</a:t>
            </a:r>
            <a:endParaRPr lang="en-US" sz="1100" dirty="0"/>
          </a:p>
        </p:txBody>
      </p:sp>
      <p:sp>
        <p:nvSpPr>
          <p:cNvPr id="6" name="Shape 3"/>
          <p:cNvSpPr/>
          <p:nvPr/>
        </p:nvSpPr>
        <p:spPr>
          <a:xfrm>
            <a:off x="822960" y="2011680"/>
            <a:ext cx="2331720" cy="822960"/>
          </a:xfrm>
          <a:prstGeom prst="roundRect">
            <a:avLst>
              <a:gd name="adj" fmla="val 5556"/>
            </a:avLst>
          </a:prstGeom>
          <a:solidFill>
            <a:srgbClr val="F8F3E8"/>
          </a:solidFill>
          <a:ln w="12700">
            <a:solidFill>
              <a:srgbClr val="D8E0E8"/>
            </a:solidFill>
            <a:prstDash val="solid"/>
          </a:ln>
        </p:spPr>
      </p:sp>
      <p:sp>
        <p:nvSpPr>
          <p:cNvPr id="7" name="Text 4"/>
          <p:cNvSpPr/>
          <p:nvPr/>
        </p:nvSpPr>
        <p:spPr>
          <a:xfrm>
            <a:off x="987552" y="2212848"/>
            <a:ext cx="822960" cy="128016"/>
          </a:xfrm>
          <a:prstGeom prst="rect">
            <a:avLst/>
          </a:prstGeom>
          <a:noFill/>
          <a:ln/>
        </p:spPr>
        <p:txBody>
          <a:bodyPr wrap="square" lIns="0" tIns="0" rIns="0" bIns="0" rtlCol="0" anchor="t"/>
          <a:lstStyle/>
          <a:p>
            <a:pPr algn="l" indent="0" marL="0">
              <a:buNone/>
            </a:pPr>
            <a:r>
              <a:rPr lang="en-US" sz="1000" b="1" dirty="0">
                <a:solidFill>
                  <a:srgbClr val="C99211"/>
                </a:solidFill>
                <a:latin typeface="Barlow" pitchFamily="34" charset="0"/>
                <a:ea typeface="Barlow" pitchFamily="34" charset="-122"/>
                <a:cs typeface="Barlow" pitchFamily="34" charset="-120"/>
              </a:rPr>
              <a:t>GHE</a:t>
            </a:r>
            <a:endParaRPr lang="en-US" sz="1000" dirty="0"/>
          </a:p>
        </p:txBody>
      </p:sp>
      <p:sp>
        <p:nvSpPr>
          <p:cNvPr id="8" name="Text 5"/>
          <p:cNvSpPr/>
          <p:nvPr/>
        </p:nvSpPr>
        <p:spPr>
          <a:xfrm>
            <a:off x="98755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Gia đình</a:t>
            </a:r>
            <a:endParaRPr lang="en-US" sz="1500" dirty="0"/>
          </a:p>
        </p:txBody>
      </p:sp>
      <p:sp>
        <p:nvSpPr>
          <p:cNvPr id="9" name="Shape 6"/>
          <p:cNvSpPr/>
          <p:nvPr/>
        </p:nvSpPr>
        <p:spPr>
          <a:xfrm>
            <a:off x="3474720" y="2011680"/>
            <a:ext cx="2331720" cy="822960"/>
          </a:xfrm>
          <a:prstGeom prst="roundRect">
            <a:avLst>
              <a:gd name="adj" fmla="val 5556"/>
            </a:avLst>
          </a:prstGeom>
          <a:solidFill>
            <a:srgbClr val="EEF5FB"/>
          </a:solidFill>
          <a:ln w="12700">
            <a:solidFill>
              <a:srgbClr val="D8E0E8"/>
            </a:solidFill>
            <a:prstDash val="solid"/>
          </a:ln>
        </p:spPr>
      </p:sp>
      <p:sp>
        <p:nvSpPr>
          <p:cNvPr id="10" name="Text 7"/>
          <p:cNvSpPr/>
          <p:nvPr/>
        </p:nvSpPr>
        <p:spPr>
          <a:xfrm>
            <a:off x="3639312" y="2212848"/>
            <a:ext cx="822960" cy="128016"/>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MÁI CHÈO</a:t>
            </a:r>
            <a:endParaRPr lang="en-US" sz="1000" dirty="0"/>
          </a:p>
        </p:txBody>
      </p:sp>
      <p:sp>
        <p:nvSpPr>
          <p:cNvPr id="11" name="Text 8"/>
          <p:cNvSpPr/>
          <p:nvPr/>
        </p:nvSpPr>
        <p:spPr>
          <a:xfrm>
            <a:off x="363931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Người trụ cột</a:t>
            </a:r>
            <a:endParaRPr lang="en-US" sz="1500" dirty="0"/>
          </a:p>
        </p:txBody>
      </p:sp>
      <p:sp>
        <p:nvSpPr>
          <p:cNvPr id="12" name="Shape 9"/>
          <p:cNvSpPr/>
          <p:nvPr/>
        </p:nvSpPr>
        <p:spPr>
          <a:xfrm>
            <a:off x="6126480" y="2011680"/>
            <a:ext cx="2331720" cy="822960"/>
          </a:xfrm>
          <a:prstGeom prst="roundRect">
            <a:avLst>
              <a:gd name="adj" fmla="val 5556"/>
            </a:avLst>
          </a:prstGeom>
          <a:solidFill>
            <a:srgbClr val="F8F3E8"/>
          </a:solidFill>
          <a:ln w="12700">
            <a:solidFill>
              <a:srgbClr val="D8E0E8"/>
            </a:solidFill>
            <a:prstDash val="solid"/>
          </a:ln>
        </p:spPr>
      </p:sp>
      <p:sp>
        <p:nvSpPr>
          <p:cNvPr id="13" name="Text 10"/>
          <p:cNvSpPr/>
          <p:nvPr/>
        </p:nvSpPr>
        <p:spPr>
          <a:xfrm>
            <a:off x="6291072" y="2212848"/>
            <a:ext cx="822960" cy="128016"/>
          </a:xfrm>
          <a:prstGeom prst="rect">
            <a:avLst/>
          </a:prstGeom>
          <a:noFill/>
          <a:ln/>
        </p:spPr>
        <p:txBody>
          <a:bodyPr wrap="square" lIns="0" tIns="0" rIns="0" bIns="0" rtlCol="0" anchor="t"/>
          <a:lstStyle/>
          <a:p>
            <a:pPr algn="l" indent="0" marL="0">
              <a:buNone/>
            </a:pPr>
            <a:r>
              <a:rPr lang="en-US" sz="1000" b="1" dirty="0">
                <a:solidFill>
                  <a:srgbClr val="C99211"/>
                </a:solidFill>
                <a:latin typeface="Barlow" pitchFamily="34" charset="0"/>
                <a:ea typeface="Barlow" pitchFamily="34" charset="-122"/>
                <a:cs typeface="Barlow" pitchFamily="34" charset="-120"/>
              </a:rPr>
              <a:t>DÒNG SÔNG</a:t>
            </a:r>
            <a:endParaRPr lang="en-US" sz="1000" dirty="0"/>
          </a:p>
        </p:txBody>
      </p:sp>
      <p:sp>
        <p:nvSpPr>
          <p:cNvPr id="14" name="Text 11"/>
          <p:cNvSpPr/>
          <p:nvPr/>
        </p:nvSpPr>
        <p:spPr>
          <a:xfrm>
            <a:off x="629107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Cuộc đời</a:t>
            </a:r>
            <a:endParaRPr lang="en-US" sz="1500" dirty="0"/>
          </a:p>
        </p:txBody>
      </p:sp>
      <p:sp>
        <p:nvSpPr>
          <p:cNvPr id="15" name="Shape 12"/>
          <p:cNvSpPr/>
          <p:nvPr/>
        </p:nvSpPr>
        <p:spPr>
          <a:xfrm>
            <a:off x="8778240" y="2011680"/>
            <a:ext cx="2331720" cy="822960"/>
          </a:xfrm>
          <a:prstGeom prst="roundRect">
            <a:avLst>
              <a:gd name="adj" fmla="val 5556"/>
            </a:avLst>
          </a:prstGeom>
          <a:solidFill>
            <a:srgbClr val="EEF5FB"/>
          </a:solidFill>
          <a:ln w="12700">
            <a:solidFill>
              <a:srgbClr val="D8E0E8"/>
            </a:solidFill>
            <a:prstDash val="solid"/>
          </a:ln>
        </p:spPr>
      </p:sp>
      <p:sp>
        <p:nvSpPr>
          <p:cNvPr id="16" name="Text 13"/>
          <p:cNvSpPr/>
          <p:nvPr/>
        </p:nvSpPr>
        <p:spPr>
          <a:xfrm>
            <a:off x="8942832" y="2212848"/>
            <a:ext cx="822960" cy="128016"/>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SÓNG GIÓ</a:t>
            </a:r>
            <a:endParaRPr lang="en-US" sz="1000" dirty="0"/>
          </a:p>
        </p:txBody>
      </p:sp>
      <p:sp>
        <p:nvSpPr>
          <p:cNvPr id="17" name="Text 14"/>
          <p:cNvSpPr/>
          <p:nvPr/>
        </p:nvSpPr>
        <p:spPr>
          <a:xfrm>
            <a:off x="894283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Rủi ro</a:t>
            </a:r>
            <a:endParaRPr lang="en-US" sz="1500" dirty="0"/>
          </a:p>
        </p:txBody>
      </p:sp>
      <p:sp>
        <p:nvSpPr>
          <p:cNvPr id="18" name="Shape 15"/>
          <p:cNvSpPr/>
          <p:nvPr/>
        </p:nvSpPr>
        <p:spPr>
          <a:xfrm>
            <a:off x="822960" y="3108960"/>
            <a:ext cx="6583680" cy="1828800"/>
          </a:xfrm>
          <a:prstGeom prst="roundRect">
            <a:avLst>
              <a:gd name="adj" fmla="val 2500"/>
            </a:avLst>
          </a:prstGeom>
          <a:solidFill>
            <a:srgbClr val="114A7A"/>
          </a:solidFill>
          <a:ln w="12700">
            <a:solidFill>
              <a:srgbClr val="114A7A"/>
            </a:solidFill>
            <a:prstDash val="solid"/>
          </a:ln>
        </p:spPr>
      </p:sp>
      <p:sp>
        <p:nvSpPr>
          <p:cNvPr id="19" name="Text 16"/>
          <p:cNvSpPr/>
          <p:nvPr/>
        </p:nvSpPr>
        <p:spPr>
          <a:xfrm>
            <a:off x="1060704" y="3328416"/>
            <a:ext cx="6108192" cy="1517904"/>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Khi một nhịp chèo chậm lại, cả con ghe đều bị ảnh hưởng. Đó chính là lý do bảo hiểm nhân thọ không chỉ là tài chính, mà là lời hứa giữ cho hành trình gia đình không ngắt mạch.</a:t>
            </a:r>
            <a:endParaRPr lang="en-US" sz="2000" dirty="0"/>
          </a:p>
        </p:txBody>
      </p:sp>
      <p:sp>
        <p:nvSpPr>
          <p:cNvPr id="20" name="Shape 17"/>
          <p:cNvSpPr/>
          <p:nvPr/>
        </p:nvSpPr>
        <p:spPr>
          <a:xfrm>
            <a:off x="7626096" y="3108960"/>
            <a:ext cx="3758184" cy="1828800"/>
          </a:xfrm>
          <a:prstGeom prst="roundRect">
            <a:avLst>
              <a:gd name="adj" fmla="val 2500"/>
            </a:avLst>
          </a:prstGeom>
          <a:solidFill>
            <a:srgbClr val="FFFFFF"/>
          </a:solidFill>
          <a:ln w="12700">
            <a:solidFill>
              <a:srgbClr val="D8E0E8"/>
            </a:solidFill>
            <a:prstDash val="solid"/>
          </a:ln>
        </p:spPr>
      </p:sp>
      <p:sp>
        <p:nvSpPr>
          <p:cNvPr id="21" name="Text 18"/>
          <p:cNvSpPr/>
          <p:nvPr/>
        </p:nvSpPr>
        <p:spPr>
          <a:xfrm>
            <a:off x="7863840" y="3364992"/>
            <a:ext cx="201168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Ý nghĩa với thương hiệu</a:t>
            </a:r>
            <a:endParaRPr lang="en-US" sz="950" dirty="0"/>
          </a:p>
        </p:txBody>
      </p:sp>
      <p:sp>
        <p:nvSpPr>
          <p:cNvPr id="22" name="Text 19"/>
          <p:cNvSpPr/>
          <p:nvPr/>
        </p:nvSpPr>
        <p:spPr>
          <a:xfrm>
            <a:off x="7845552" y="3694176"/>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Bảo Việt Nhân Thọ là thương hiệu giữ cho hành trình tiếp tục.</a:t>
            </a:r>
            <a:endParaRPr lang="en-US" sz="1120" dirty="0"/>
          </a:p>
        </p:txBody>
      </p:sp>
      <p:sp>
        <p:nvSpPr>
          <p:cNvPr id="23" name="Text 20"/>
          <p:cNvSpPr/>
          <p:nvPr/>
        </p:nvSpPr>
        <p:spPr>
          <a:xfrm>
            <a:off x="7845552" y="4041648"/>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Ngôn ngữ event trở thành ngôn ngữ thương hiệu một cách tự nhiên.</a:t>
            </a:r>
            <a:endParaRPr lang="en-US" sz="1120" dirty="0"/>
          </a:p>
        </p:txBody>
      </p:sp>
      <p:sp>
        <p:nvSpPr>
          <p:cNvPr id="24" name="Text 21"/>
          <p:cNvSpPr/>
          <p:nvPr/>
        </p:nvSpPr>
        <p:spPr>
          <a:xfrm>
            <a:off x="7845552" y="4389120"/>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Insight này đủ giàu để phát triển thành platform nhiều năm.</a:t>
            </a:r>
            <a:endParaRPr lang="en-US" sz="1120" dirty="0"/>
          </a:p>
        </p:txBody>
      </p:sp>
      <p:sp>
        <p:nvSpPr>
          <p:cNvPr id="25" name="Text 2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PROBLEM + OPPORTUNITY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Bài toán không phải tìm chỗ đặt logo. Bài toán là tạo nơi để niềm tin được cảm nhận.</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Thương hiệu bảo hiểm thường đúng về lý lẽ, nhưng thiếu những khoảnh khắc văn hóa đủ mạnh để được nhớ bằng cảm xúc.</a:t>
            </a:r>
            <a:endParaRPr lang="en-US" sz="1100" dirty="0"/>
          </a:p>
        </p:txBody>
      </p:sp>
      <p:sp>
        <p:nvSpPr>
          <p:cNvPr id="6" name="Shape 3"/>
          <p:cNvSpPr/>
          <p:nvPr/>
        </p:nvSpPr>
        <p:spPr>
          <a:xfrm>
            <a:off x="822960" y="2048256"/>
            <a:ext cx="4983480" cy="2999232"/>
          </a:xfrm>
          <a:prstGeom prst="roundRect">
            <a:avLst>
              <a:gd name="adj" fmla="val 1524"/>
            </a:avLst>
          </a:prstGeom>
          <a:solidFill>
            <a:srgbClr val="FFFFFF"/>
          </a:solidFill>
          <a:ln w="12700">
            <a:solidFill>
              <a:srgbClr val="D8E0E8"/>
            </a:solidFill>
            <a:prstDash val="solid"/>
          </a:ln>
        </p:spPr>
      </p:sp>
      <p:sp>
        <p:nvSpPr>
          <p:cNvPr id="7" name="Text 4"/>
          <p:cNvSpPr/>
          <p:nvPr/>
        </p:nvSpPr>
        <p:spPr>
          <a:xfrm>
            <a:off x="1078992" y="2322576"/>
            <a:ext cx="1645920" cy="146304"/>
          </a:xfrm>
          <a:prstGeom prst="rect">
            <a:avLst/>
          </a:prstGeom>
          <a:noFill/>
          <a:ln/>
        </p:spPr>
        <p:txBody>
          <a:bodyPr wrap="square" lIns="0" tIns="0" rIns="0" bIns="0" rtlCol="0" anchor="t"/>
          <a:lstStyle/>
          <a:p>
            <a:pPr algn="l" indent="0" marL="0">
              <a:buNone/>
            </a:pPr>
            <a:r>
              <a:rPr lang="en-US" sz="950" b="1" dirty="0">
                <a:solidFill>
                  <a:srgbClr val="5C6C7B"/>
                </a:solidFill>
                <a:latin typeface="Barlow" pitchFamily="34" charset="0"/>
                <a:ea typeface="Barlow" pitchFamily="34" charset="-122"/>
                <a:cs typeface="Barlow" pitchFamily="34" charset="-120"/>
              </a:rPr>
              <a:t>BRAND PROBLEM</a:t>
            </a:r>
            <a:endParaRPr lang="en-US" sz="950" dirty="0"/>
          </a:p>
        </p:txBody>
      </p:sp>
      <p:sp>
        <p:nvSpPr>
          <p:cNvPr id="8" name="Text 5"/>
          <p:cNvSpPr/>
          <p:nvPr/>
        </p:nvSpPr>
        <p:spPr>
          <a:xfrm>
            <a:off x="1078992" y="2615184"/>
            <a:ext cx="4114800" cy="438912"/>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Thông điệp bảo vệ gia đình đúng, nhưng nghe đã quen.</a:t>
            </a:r>
            <a:endParaRPr lang="en-US" sz="2000" dirty="0"/>
          </a:p>
        </p:txBody>
      </p:sp>
      <p:sp>
        <p:nvSpPr>
          <p:cNvPr id="9" name="Text 6"/>
          <p:cNvSpPr/>
          <p:nvPr/>
        </p:nvSpPr>
        <p:spPr>
          <a:xfrm>
            <a:off x="1078992" y="3273552"/>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Truyền thông ngắn hạn tạo reach nhưng hiếm khi tạo tài sản sở hữu lâu dài.</a:t>
            </a:r>
            <a:endParaRPr lang="en-US" sz="1110" dirty="0"/>
          </a:p>
        </p:txBody>
      </p:sp>
      <p:sp>
        <p:nvSpPr>
          <p:cNvPr id="10" name="Text 7"/>
          <p:cNvSpPr/>
          <p:nvPr/>
        </p:nvSpPr>
        <p:spPr>
          <a:xfrm>
            <a:off x="1078992" y="3657600"/>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Khách hàng cần cảm thấy thương hiệu đáng tin, không chỉ thấy thương hiệu xuất hiện.</a:t>
            </a:r>
            <a:endParaRPr lang="en-US" sz="1110" dirty="0"/>
          </a:p>
        </p:txBody>
      </p:sp>
      <p:sp>
        <p:nvSpPr>
          <p:cNvPr id="11" name="Text 8"/>
          <p:cNvSpPr/>
          <p:nvPr/>
        </p:nvSpPr>
        <p:spPr>
          <a:xfrm>
            <a:off x="1078992" y="4041648"/>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Cần một không gian để brand truth được trải nghiệm bằng văn hóa.</a:t>
            </a:r>
            <a:endParaRPr lang="en-US" sz="1110" dirty="0"/>
          </a:p>
        </p:txBody>
      </p:sp>
      <p:sp>
        <p:nvSpPr>
          <p:cNvPr id="12" name="Shape 9"/>
          <p:cNvSpPr/>
          <p:nvPr/>
        </p:nvSpPr>
        <p:spPr>
          <a:xfrm>
            <a:off x="6382512" y="2048256"/>
            <a:ext cx="5001768" cy="2999232"/>
          </a:xfrm>
          <a:prstGeom prst="roundRect">
            <a:avLst>
              <a:gd name="adj" fmla="val 1524"/>
            </a:avLst>
          </a:prstGeom>
          <a:solidFill>
            <a:srgbClr val="EEF5FB"/>
          </a:solidFill>
          <a:ln w="12700">
            <a:solidFill>
              <a:srgbClr val="D8E0E8"/>
            </a:solidFill>
            <a:prstDash val="solid"/>
          </a:ln>
        </p:spPr>
      </p:sp>
      <p:sp>
        <p:nvSpPr>
          <p:cNvPr id="13" name="Text 10"/>
          <p:cNvSpPr/>
          <p:nvPr/>
        </p:nvSpPr>
        <p:spPr>
          <a:xfrm>
            <a:off x="6638544" y="2322576"/>
            <a:ext cx="182880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BRAND OPPORTUNITY</a:t>
            </a:r>
            <a:endParaRPr lang="en-US" sz="950" dirty="0"/>
          </a:p>
        </p:txBody>
      </p:sp>
      <p:sp>
        <p:nvSpPr>
          <p:cNvPr id="14" name="Text 11"/>
          <p:cNvSpPr/>
          <p:nvPr/>
        </p:nvSpPr>
        <p:spPr>
          <a:xfrm>
            <a:off x="6638544" y="2615184"/>
            <a:ext cx="4206240" cy="493776"/>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Trở thành người giữ nhịp cho một nghi lễ cộng đồng được mong đợi.</a:t>
            </a:r>
            <a:endParaRPr lang="en-US" sz="2000" dirty="0"/>
          </a:p>
        </p:txBody>
      </p:sp>
      <p:sp>
        <p:nvSpPr>
          <p:cNvPr id="15" name="Text 12"/>
          <p:cNvSpPr/>
          <p:nvPr/>
        </p:nvSpPr>
        <p:spPr>
          <a:xfrm>
            <a:off x="6638544" y="3273552"/>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Đặt tên cho một chuẩn mực tổ chức mới của giải đua ghe Huế.</a:t>
            </a:r>
            <a:endParaRPr lang="en-US" sz="1110" dirty="0"/>
          </a:p>
        </p:txBody>
      </p:sp>
      <p:sp>
        <p:nvSpPr>
          <p:cNvPr id="16" name="Text 13"/>
          <p:cNvSpPr/>
          <p:nvPr/>
        </p:nvSpPr>
        <p:spPr>
          <a:xfrm>
            <a:off x="6638544" y="3657600"/>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Biến 'bảo vệ sự tiếp nối' thành trải nghiệm nhìn thấy và chạm được.</a:t>
            </a:r>
            <a:endParaRPr lang="en-US" sz="1110" dirty="0"/>
          </a:p>
        </p:txBody>
      </p:sp>
      <p:sp>
        <p:nvSpPr>
          <p:cNvPr id="17" name="Text 14"/>
          <p:cNvSpPr/>
          <p:nvPr/>
        </p:nvSpPr>
        <p:spPr>
          <a:xfrm>
            <a:off x="6638544" y="4041648"/>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Mở ra hệ IMC đủ lớn để kể chuyện thương hiệu ở quy mô quốc gia.</a:t>
            </a:r>
            <a:endParaRPr lang="en-US" sz="111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ROLE</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44" b="1" dirty="0">
                <a:solidFill>
                  <a:srgbClr val="114A7A"/>
                </a:solidFill>
                <a:latin typeface="Barlow" pitchFamily="34" charset="0"/>
                <a:ea typeface="Barlow" pitchFamily="34" charset="-122"/>
                <a:cs typeface="Barlow" pitchFamily="34" charset="-120"/>
              </a:rPr>
              <a:t>Vai trò của Bảo Việt Nhân Thọ phải lớn hơn một title sponsor.</a:t>
            </a:r>
            <a:endParaRPr lang="en-US" sz="2144"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Thương hiệu không chỉ hiện diện ở giải đấu. Thương hiệu hiện diện ở chính ý nghĩa làm cho giải đấu đáng nhớ hơn.</a:t>
            </a:r>
            <a:endParaRPr lang="en-US" sz="1100" dirty="0"/>
          </a:p>
        </p:txBody>
      </p:sp>
      <p:sp>
        <p:nvSpPr>
          <p:cNvPr id="6" name="Shape 3"/>
          <p:cNvSpPr/>
          <p:nvPr/>
        </p:nvSpPr>
        <p:spPr>
          <a:xfrm>
            <a:off x="822960" y="2103120"/>
            <a:ext cx="3310128" cy="2999232"/>
          </a:xfrm>
          <a:prstGeom prst="roundRect">
            <a:avLst>
              <a:gd name="adj" fmla="val 1524"/>
            </a:avLst>
          </a:prstGeom>
          <a:solidFill>
            <a:srgbClr val="FFFFFF"/>
          </a:solidFill>
          <a:ln w="12700">
            <a:solidFill>
              <a:srgbClr val="D8E0E8"/>
            </a:solidFill>
            <a:prstDash val="solid"/>
          </a:ln>
        </p:spPr>
      </p:sp>
      <p:sp>
        <p:nvSpPr>
          <p:cNvPr id="7" name="Shape 4"/>
          <p:cNvSpPr/>
          <p:nvPr/>
        </p:nvSpPr>
        <p:spPr>
          <a:xfrm>
            <a:off x="969264" y="2249424"/>
            <a:ext cx="3017520" cy="45720"/>
          </a:xfrm>
          <a:prstGeom prst="rect">
            <a:avLst/>
          </a:prstGeom>
          <a:solidFill>
            <a:srgbClr val="0B6CB8"/>
          </a:solidFill>
          <a:ln w="12700">
            <a:solidFill>
              <a:srgbClr val="0B6CB8"/>
            </a:solidFill>
            <a:prstDash val="solid"/>
          </a:ln>
        </p:spPr>
      </p:sp>
      <p:sp>
        <p:nvSpPr>
          <p:cNvPr id="8" name="Text 5"/>
          <p:cNvSpPr/>
          <p:nvPr/>
        </p:nvSpPr>
        <p:spPr>
          <a:xfrm>
            <a:off x="1024128" y="2377440"/>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01 | ROLE</a:t>
            </a:r>
            <a:endParaRPr lang="en-US" sz="920" dirty="0"/>
          </a:p>
        </p:txBody>
      </p:sp>
      <p:sp>
        <p:nvSpPr>
          <p:cNvPr id="9" name="Text 6"/>
          <p:cNvSpPr/>
          <p:nvPr/>
        </p:nvSpPr>
        <p:spPr>
          <a:xfrm>
            <a:off x="1024128" y="2633472"/>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Title sponsor of a new standard</a:t>
            </a:r>
            <a:endParaRPr lang="en-US" sz="1700" dirty="0"/>
          </a:p>
        </p:txBody>
      </p:sp>
      <p:sp>
        <p:nvSpPr>
          <p:cNvPr id="10" name="Text 7"/>
          <p:cNvSpPr/>
          <p:nvPr/>
        </p:nvSpPr>
        <p:spPr>
          <a:xfrm>
            <a:off x="1024128" y="3035808"/>
            <a:ext cx="2907792"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Đặt tên cho giải đấu, cúp vô địch và toàn bộ chuẩn mực tổ chức mới của sự kiện.</a:t>
            </a:r>
            <a:endParaRPr lang="en-US" sz="1080" dirty="0"/>
          </a:p>
        </p:txBody>
      </p:sp>
      <p:sp>
        <p:nvSpPr>
          <p:cNvPr id="11" name="Shape 8"/>
          <p:cNvSpPr/>
          <p:nvPr/>
        </p:nvSpPr>
        <p:spPr>
          <a:xfrm>
            <a:off x="4443984" y="2103120"/>
            <a:ext cx="3310128" cy="2999232"/>
          </a:xfrm>
          <a:prstGeom prst="roundRect">
            <a:avLst>
              <a:gd name="adj" fmla="val 1524"/>
            </a:avLst>
          </a:prstGeom>
          <a:solidFill>
            <a:srgbClr val="F8F3E8"/>
          </a:solidFill>
          <a:ln w="12700">
            <a:solidFill>
              <a:srgbClr val="D8E0E8"/>
            </a:solidFill>
            <a:prstDash val="solid"/>
          </a:ln>
        </p:spPr>
      </p:sp>
      <p:sp>
        <p:nvSpPr>
          <p:cNvPr id="12" name="Shape 9"/>
          <p:cNvSpPr/>
          <p:nvPr/>
        </p:nvSpPr>
        <p:spPr>
          <a:xfrm>
            <a:off x="4590288" y="2249424"/>
            <a:ext cx="3017520" cy="45720"/>
          </a:xfrm>
          <a:prstGeom prst="rect">
            <a:avLst/>
          </a:prstGeom>
          <a:solidFill>
            <a:srgbClr val="C99211"/>
          </a:solidFill>
          <a:ln w="12700">
            <a:solidFill>
              <a:srgbClr val="C99211"/>
            </a:solidFill>
            <a:prstDash val="solid"/>
          </a:ln>
        </p:spPr>
      </p:sp>
      <p:sp>
        <p:nvSpPr>
          <p:cNvPr id="13" name="Text 10"/>
          <p:cNvSpPr/>
          <p:nvPr/>
        </p:nvSpPr>
        <p:spPr>
          <a:xfrm>
            <a:off x="4645152" y="2377440"/>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02 | ROLE</a:t>
            </a:r>
            <a:endParaRPr lang="en-US" sz="920" dirty="0"/>
          </a:p>
        </p:txBody>
      </p:sp>
      <p:sp>
        <p:nvSpPr>
          <p:cNvPr id="14" name="Text 11"/>
          <p:cNvSpPr/>
          <p:nvPr/>
        </p:nvSpPr>
        <p:spPr>
          <a:xfrm>
            <a:off x="4645152" y="2633472"/>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Guardian of continuity</a:t>
            </a:r>
            <a:endParaRPr lang="en-US" sz="1700" dirty="0"/>
          </a:p>
        </p:txBody>
      </p:sp>
      <p:sp>
        <p:nvSpPr>
          <p:cNvPr id="15" name="Text 12"/>
          <p:cNvSpPr/>
          <p:nvPr/>
        </p:nvSpPr>
        <p:spPr>
          <a:xfrm>
            <a:off x="4645152" y="3035808"/>
            <a:ext cx="2907792"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Đại diện cho lời hứa giữ cho hành trình gia đình, cộng đồng và di sản không ngừng lại.</a:t>
            </a:r>
            <a:endParaRPr lang="en-US" sz="1080" dirty="0"/>
          </a:p>
        </p:txBody>
      </p:sp>
      <p:sp>
        <p:nvSpPr>
          <p:cNvPr id="16" name="Shape 13"/>
          <p:cNvSpPr/>
          <p:nvPr/>
        </p:nvSpPr>
        <p:spPr>
          <a:xfrm>
            <a:off x="8065008" y="2103120"/>
            <a:ext cx="3319272" cy="2999232"/>
          </a:xfrm>
          <a:prstGeom prst="roundRect">
            <a:avLst>
              <a:gd name="adj" fmla="val 1524"/>
            </a:avLst>
          </a:prstGeom>
          <a:solidFill>
            <a:srgbClr val="FFFFFF"/>
          </a:solidFill>
          <a:ln w="12700">
            <a:solidFill>
              <a:srgbClr val="D8E0E8"/>
            </a:solidFill>
            <a:prstDash val="solid"/>
          </a:ln>
        </p:spPr>
      </p:sp>
      <p:sp>
        <p:nvSpPr>
          <p:cNvPr id="17" name="Shape 14"/>
          <p:cNvSpPr/>
          <p:nvPr/>
        </p:nvSpPr>
        <p:spPr>
          <a:xfrm>
            <a:off x="8211312" y="2249424"/>
            <a:ext cx="3026664" cy="45720"/>
          </a:xfrm>
          <a:prstGeom prst="rect">
            <a:avLst/>
          </a:prstGeom>
          <a:solidFill>
            <a:srgbClr val="0B6CB8"/>
          </a:solidFill>
          <a:ln w="12700">
            <a:solidFill>
              <a:srgbClr val="0B6CB8"/>
            </a:solidFill>
            <a:prstDash val="solid"/>
          </a:ln>
        </p:spPr>
      </p:sp>
      <p:sp>
        <p:nvSpPr>
          <p:cNvPr id="18" name="Text 15"/>
          <p:cNvSpPr/>
          <p:nvPr/>
        </p:nvSpPr>
        <p:spPr>
          <a:xfrm>
            <a:off x="8266176" y="2377440"/>
            <a:ext cx="291693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03 | ROLE</a:t>
            </a:r>
            <a:endParaRPr lang="en-US" sz="920" dirty="0"/>
          </a:p>
        </p:txBody>
      </p:sp>
      <p:sp>
        <p:nvSpPr>
          <p:cNvPr id="19" name="Text 16"/>
          <p:cNvSpPr/>
          <p:nvPr/>
        </p:nvSpPr>
        <p:spPr>
          <a:xfrm>
            <a:off x="8266176" y="2633472"/>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Curator of cultural pride</a:t>
            </a:r>
            <a:endParaRPr lang="en-US" sz="1700" dirty="0"/>
          </a:p>
        </p:txBody>
      </p:sp>
      <p:sp>
        <p:nvSpPr>
          <p:cNvPr id="20" name="Text 17"/>
          <p:cNvSpPr/>
          <p:nvPr/>
        </p:nvSpPr>
        <p:spPr>
          <a:xfrm>
            <a:off x="8266176" y="3035808"/>
            <a:ext cx="2916936"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Tôn vinh Huế bằng cách nâng nghi lễ truyền thống thành một trải nghiệm có sức lan tỏa quốc gia.</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STRATEGIC PLATFORM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Lãnh thổ chiến lược trung tâm</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BẢO VIỆT GIỮ CHO DÒNG CHẢY GIA ĐÌNH KHÔNG NGỪNG LẠI</a:t>
            </a:r>
            <a:endParaRPr lang="en-US" sz="1100" dirty="0"/>
          </a:p>
        </p:txBody>
      </p:sp>
      <p:sp>
        <p:nvSpPr>
          <p:cNvPr id="6" name="Shape 3"/>
          <p:cNvSpPr/>
          <p:nvPr/>
        </p:nvSpPr>
        <p:spPr>
          <a:xfrm>
            <a:off x="822960" y="2029968"/>
            <a:ext cx="10561320" cy="1426464"/>
          </a:xfrm>
          <a:prstGeom prst="roundRect">
            <a:avLst>
              <a:gd name="adj" fmla="val 3205"/>
            </a:avLst>
          </a:prstGeom>
          <a:solidFill>
            <a:srgbClr val="114A7A"/>
          </a:solidFill>
          <a:ln w="12700">
            <a:solidFill>
              <a:srgbClr val="114A7A"/>
            </a:solidFill>
            <a:prstDash val="solid"/>
          </a:ln>
        </p:spPr>
      </p:sp>
      <p:sp>
        <p:nvSpPr>
          <p:cNvPr id="7" name="Text 4"/>
          <p:cNvSpPr/>
          <p:nvPr/>
        </p:nvSpPr>
        <p:spPr>
          <a:xfrm>
            <a:off x="1060704" y="2249424"/>
            <a:ext cx="10085832" cy="111556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Một platform đủ rộng để kể về bảo vệ gia đình, đủ sâu để chạm vào văn hóa Huế, và đủ linh hoạt để trở thành tài sản thương hiệu thường niên.</a:t>
            </a:r>
            <a:endParaRPr lang="en-US" sz="2000" dirty="0"/>
          </a:p>
        </p:txBody>
      </p:sp>
      <p:sp>
        <p:nvSpPr>
          <p:cNvPr id="8" name="Shape 5"/>
          <p:cNvSpPr/>
          <p:nvPr/>
        </p:nvSpPr>
        <p:spPr>
          <a:xfrm>
            <a:off x="822960" y="3730752"/>
            <a:ext cx="3310128" cy="1572768"/>
          </a:xfrm>
          <a:prstGeom prst="roundRect">
            <a:avLst>
              <a:gd name="adj" fmla="val 2907"/>
            </a:avLst>
          </a:prstGeom>
          <a:solidFill>
            <a:srgbClr val="F8F3E8"/>
          </a:solidFill>
          <a:ln w="12700">
            <a:solidFill>
              <a:srgbClr val="D8E0E8"/>
            </a:solidFill>
            <a:prstDash val="solid"/>
          </a:ln>
        </p:spPr>
      </p:sp>
      <p:sp>
        <p:nvSpPr>
          <p:cNvPr id="9" name="Shape 6"/>
          <p:cNvSpPr/>
          <p:nvPr/>
        </p:nvSpPr>
        <p:spPr>
          <a:xfrm>
            <a:off x="969264" y="3877056"/>
            <a:ext cx="3017520" cy="45720"/>
          </a:xfrm>
          <a:prstGeom prst="rect">
            <a:avLst/>
          </a:prstGeom>
          <a:solidFill>
            <a:srgbClr val="C99211"/>
          </a:solidFill>
          <a:ln w="12700">
            <a:solidFill>
              <a:srgbClr val="C99211"/>
            </a:solidFill>
            <a:prstDash val="solid"/>
          </a:ln>
        </p:spPr>
      </p:sp>
      <p:sp>
        <p:nvSpPr>
          <p:cNvPr id="10" name="Text 7"/>
          <p:cNvSpPr/>
          <p:nvPr/>
        </p:nvSpPr>
        <p:spPr>
          <a:xfrm>
            <a:off x="1024128" y="4005072"/>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BRAND TRUTH</a:t>
            </a:r>
            <a:endParaRPr lang="en-US" sz="920" dirty="0"/>
          </a:p>
        </p:txBody>
      </p:sp>
      <p:sp>
        <p:nvSpPr>
          <p:cNvPr id="11" name="Text 8"/>
          <p:cNvSpPr/>
          <p:nvPr/>
        </p:nvSpPr>
        <p:spPr>
          <a:xfrm>
            <a:off x="1024128" y="426110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Bảo Việt Nhân Thọ bảo vệ sự tiếp nối</a:t>
            </a:r>
            <a:endParaRPr lang="en-US" sz="1700" dirty="0"/>
          </a:p>
        </p:txBody>
      </p:sp>
      <p:sp>
        <p:nvSpPr>
          <p:cNvPr id="12" name="Text 9"/>
          <p:cNvSpPr/>
          <p:nvPr/>
        </p:nvSpPr>
        <p:spPr>
          <a:xfrm>
            <a:off x="1024128" y="4663440"/>
            <a:ext cx="2907792"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Giữ cho gia đình đi tiếp qua biến động.</a:t>
            </a:r>
            <a:endParaRPr lang="en-US" sz="1080" dirty="0"/>
          </a:p>
        </p:txBody>
      </p:sp>
      <p:sp>
        <p:nvSpPr>
          <p:cNvPr id="13" name="Shape 10"/>
          <p:cNvSpPr/>
          <p:nvPr/>
        </p:nvSpPr>
        <p:spPr>
          <a:xfrm>
            <a:off x="4443984" y="3730752"/>
            <a:ext cx="3310128" cy="1572768"/>
          </a:xfrm>
          <a:prstGeom prst="roundRect">
            <a:avLst>
              <a:gd name="adj" fmla="val 2907"/>
            </a:avLst>
          </a:prstGeom>
          <a:solidFill>
            <a:srgbClr val="EEF5FB"/>
          </a:solidFill>
          <a:ln w="12700">
            <a:solidFill>
              <a:srgbClr val="D8E0E8"/>
            </a:solidFill>
            <a:prstDash val="solid"/>
          </a:ln>
        </p:spPr>
      </p:sp>
      <p:sp>
        <p:nvSpPr>
          <p:cNvPr id="14" name="Shape 11"/>
          <p:cNvSpPr/>
          <p:nvPr/>
        </p:nvSpPr>
        <p:spPr>
          <a:xfrm>
            <a:off x="4590288" y="3877056"/>
            <a:ext cx="3017520" cy="45720"/>
          </a:xfrm>
          <a:prstGeom prst="rect">
            <a:avLst/>
          </a:prstGeom>
          <a:solidFill>
            <a:srgbClr val="0B6CB8"/>
          </a:solidFill>
          <a:ln w="12700">
            <a:solidFill>
              <a:srgbClr val="0B6CB8"/>
            </a:solidFill>
            <a:prstDash val="solid"/>
          </a:ln>
        </p:spPr>
      </p:sp>
      <p:sp>
        <p:nvSpPr>
          <p:cNvPr id="15" name="Text 12"/>
          <p:cNvSpPr/>
          <p:nvPr/>
        </p:nvSpPr>
        <p:spPr>
          <a:xfrm>
            <a:off x="4645152" y="4005072"/>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HUMAN TRUTH</a:t>
            </a:r>
            <a:endParaRPr lang="en-US" sz="920" dirty="0"/>
          </a:p>
        </p:txBody>
      </p:sp>
      <p:sp>
        <p:nvSpPr>
          <p:cNvPr id="16" name="Text 13"/>
          <p:cNvSpPr/>
          <p:nvPr/>
        </p:nvSpPr>
        <p:spPr>
          <a:xfrm>
            <a:off x="4645152" y="426110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Gia đình luôn cần một điểm tựa</a:t>
            </a:r>
            <a:endParaRPr lang="en-US" sz="1700" dirty="0"/>
          </a:p>
        </p:txBody>
      </p:sp>
      <p:sp>
        <p:nvSpPr>
          <p:cNvPr id="17" name="Text 14"/>
          <p:cNvSpPr/>
          <p:nvPr/>
        </p:nvSpPr>
        <p:spPr>
          <a:xfrm>
            <a:off x="4645152" y="4663440"/>
            <a:ext cx="2907792"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Điều được bảo vệ không chỉ là tài chính, mà là nhịp sống.</a:t>
            </a:r>
            <a:endParaRPr lang="en-US" sz="1080" dirty="0"/>
          </a:p>
        </p:txBody>
      </p:sp>
      <p:sp>
        <p:nvSpPr>
          <p:cNvPr id="18" name="Shape 15"/>
          <p:cNvSpPr/>
          <p:nvPr/>
        </p:nvSpPr>
        <p:spPr>
          <a:xfrm>
            <a:off x="8065008" y="3730752"/>
            <a:ext cx="3319272" cy="1572768"/>
          </a:xfrm>
          <a:prstGeom prst="roundRect">
            <a:avLst>
              <a:gd name="adj" fmla="val 2907"/>
            </a:avLst>
          </a:prstGeom>
          <a:solidFill>
            <a:srgbClr val="F8F3E8"/>
          </a:solidFill>
          <a:ln w="12700">
            <a:solidFill>
              <a:srgbClr val="D8E0E8"/>
            </a:solidFill>
            <a:prstDash val="solid"/>
          </a:ln>
        </p:spPr>
      </p:sp>
      <p:sp>
        <p:nvSpPr>
          <p:cNvPr id="19" name="Shape 16"/>
          <p:cNvSpPr/>
          <p:nvPr/>
        </p:nvSpPr>
        <p:spPr>
          <a:xfrm>
            <a:off x="8211312" y="3877056"/>
            <a:ext cx="3026664" cy="45720"/>
          </a:xfrm>
          <a:prstGeom prst="rect">
            <a:avLst/>
          </a:prstGeom>
          <a:solidFill>
            <a:srgbClr val="C99211"/>
          </a:solidFill>
          <a:ln w="12700">
            <a:solidFill>
              <a:srgbClr val="C99211"/>
            </a:solidFill>
            <a:prstDash val="solid"/>
          </a:ln>
        </p:spPr>
      </p:sp>
      <p:sp>
        <p:nvSpPr>
          <p:cNvPr id="20" name="Text 17"/>
          <p:cNvSpPr/>
          <p:nvPr/>
        </p:nvSpPr>
        <p:spPr>
          <a:xfrm>
            <a:off x="8266176" y="4005072"/>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CULTURAL TRUTH</a:t>
            </a:r>
            <a:endParaRPr lang="en-US" sz="920" dirty="0"/>
          </a:p>
        </p:txBody>
      </p:sp>
      <p:sp>
        <p:nvSpPr>
          <p:cNvPr id="21" name="Text 18"/>
          <p:cNvSpPr/>
          <p:nvPr/>
        </p:nvSpPr>
        <p:spPr>
          <a:xfrm>
            <a:off x="8266176" y="4261104"/>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Huế tôn vinh sự gìn giữ</a:t>
            </a:r>
            <a:endParaRPr lang="en-US" sz="1700" dirty="0"/>
          </a:p>
        </p:txBody>
      </p:sp>
      <p:sp>
        <p:nvSpPr>
          <p:cNvPr id="22" name="Text 19"/>
          <p:cNvSpPr/>
          <p:nvPr/>
        </p:nvSpPr>
        <p:spPr>
          <a:xfrm>
            <a:off x="8266176" y="4663440"/>
            <a:ext cx="2916936"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Nơi ký ức và truyền đời luôn có giá trị đặc biệt.</a:t>
            </a:r>
            <a:endParaRPr lang="en-US" sz="108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BIG IDEA</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3396" b="1" dirty="0">
                <a:solidFill>
                  <a:srgbClr val="FFFFFF"/>
                </a:solidFill>
                <a:latin typeface="Barlow" pitchFamily="34" charset="0"/>
                <a:ea typeface="Barlow" pitchFamily="34" charset="-122"/>
                <a:cs typeface="Barlow" pitchFamily="34" charset="-120"/>
              </a:rPr>
              <a:t>GIỮ MÁI CHÈO DI SẢN</a:t>
            </a:r>
            <a:endParaRPr lang="en-US" sz="3396"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Một câu nói gói được cả người trụ cột, gia đình, Huế, và vai trò bảo vệ của thương hiệu.</a:t>
            </a:r>
            <a:endParaRPr lang="en-US" sz="1400" dirty="0"/>
          </a:p>
        </p:txBody>
      </p:sp>
      <p:sp>
        <p:nvSpPr>
          <p:cNvPr id="8" name="Shape 5"/>
          <p:cNvSpPr/>
          <p:nvPr/>
        </p:nvSpPr>
        <p:spPr>
          <a:xfrm>
            <a:off x="1078992" y="4297680"/>
            <a:ext cx="1572768"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370832"/>
            <a:ext cx="146304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BIG IDEA REVEAL</a:t>
            </a:r>
            <a:endParaRPr lang="en-US" sz="920" dirty="0"/>
          </a:p>
        </p:txBody>
      </p:sp>
      <p:sp>
        <p:nvSpPr>
          <p:cNvPr id="10" name="Shape 7"/>
          <p:cNvSpPr/>
          <p:nvPr/>
        </p:nvSpPr>
        <p:spPr>
          <a:xfrm>
            <a:off x="1078992" y="4736592"/>
            <a:ext cx="4206240" cy="566928"/>
          </a:xfrm>
          <a:prstGeom prst="roundRect">
            <a:avLst>
              <a:gd name="adj" fmla="val 8065"/>
            </a:avLst>
          </a:prstGeom>
          <a:solidFill>
            <a:srgbClr val="EEF3F8"/>
          </a:solidFill>
          <a:ln w="12700">
            <a:solidFill>
              <a:srgbClr val="D8E0E8"/>
            </a:solidFill>
            <a:prstDash val="solid"/>
          </a:ln>
        </p:spPr>
      </p:sp>
      <p:sp>
        <p:nvSpPr>
          <p:cNvPr id="11" name="Text 8"/>
          <p:cNvSpPr/>
          <p:nvPr/>
        </p:nvSpPr>
        <p:spPr>
          <a:xfrm>
            <a:off x="1261872" y="4928616"/>
            <a:ext cx="3840480" cy="146304"/>
          </a:xfrm>
          <a:prstGeom prst="rect">
            <a:avLst/>
          </a:prstGeom>
          <a:noFill/>
          <a:ln/>
        </p:spPr>
        <p:txBody>
          <a:bodyPr wrap="square" lIns="0" tIns="0" rIns="0" bIns="0" rtlCol="0" anchor="t"/>
          <a:lstStyle/>
          <a:p>
            <a:pPr algn="l" indent="0" marL="0">
              <a:buNone/>
            </a:pPr>
            <a:r>
              <a:rPr lang="en-US" sz="1160" b="1" dirty="0">
                <a:solidFill>
                  <a:srgbClr val="114A7A"/>
                </a:solidFill>
                <a:latin typeface="Barlow" pitchFamily="34" charset="0"/>
                <a:ea typeface="Barlow" pitchFamily="34" charset="-122"/>
                <a:cs typeface="Barlow" pitchFamily="34" charset="-120"/>
              </a:rPr>
              <a:t>Bảo Việt Nhân Thọ - Giữ mái chèo hôm nay, chở che muôn thế hệ mai sau.</a:t>
            </a:r>
            <a:endParaRPr lang="en-US" sz="1160" dirty="0"/>
          </a:p>
        </p:txBody>
      </p:sp>
      <p:sp>
        <p:nvSpPr>
          <p:cNvPr id="12" name="Text 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WHY THIS IDEA WORKS</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Big Idea mạnh phải đúng với thương hiệu, đúng với văn hóa và đủ lớn để tích lũy qua nhiều năm.</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'Giữ Mái Chèo Di Sản' chiến thắng vì vừa có hình ảnh mạnh, vừa có chiều sâu ngữ nghĩa và quyền sở hữu thương hiệu.</a:t>
            </a:r>
            <a:endParaRPr lang="en-US" sz="1100" dirty="0"/>
          </a:p>
        </p:txBody>
      </p:sp>
      <p:sp>
        <p:nvSpPr>
          <p:cNvPr id="6" name="Shape 3"/>
          <p:cNvSpPr/>
          <p:nvPr/>
        </p:nvSpPr>
        <p:spPr>
          <a:xfrm>
            <a:off x="822960" y="2029968"/>
            <a:ext cx="3310128" cy="1755648"/>
          </a:xfrm>
          <a:prstGeom prst="roundRect">
            <a:avLst>
              <a:gd name="adj" fmla="val 2604"/>
            </a:avLst>
          </a:prstGeom>
          <a:solidFill>
            <a:srgbClr val="F8F3E8"/>
          </a:solidFill>
          <a:ln w="12700">
            <a:solidFill>
              <a:srgbClr val="D8E0E8"/>
            </a:solidFill>
            <a:prstDash val="solid"/>
          </a:ln>
        </p:spPr>
      </p:sp>
      <p:sp>
        <p:nvSpPr>
          <p:cNvPr id="7" name="Shape 4"/>
          <p:cNvSpPr/>
          <p:nvPr/>
        </p:nvSpPr>
        <p:spPr>
          <a:xfrm>
            <a:off x="969264" y="2176272"/>
            <a:ext cx="3017520" cy="45720"/>
          </a:xfrm>
          <a:prstGeom prst="rect">
            <a:avLst/>
          </a:prstGeom>
          <a:solidFill>
            <a:srgbClr val="C99211"/>
          </a:solidFill>
          <a:ln w="12700">
            <a:solidFill>
              <a:srgbClr val="C99211"/>
            </a:solidFill>
            <a:prstDash val="solid"/>
          </a:ln>
        </p:spPr>
      </p:sp>
      <p:sp>
        <p:nvSpPr>
          <p:cNvPr id="8" name="Text 5"/>
          <p:cNvSpPr/>
          <p:nvPr/>
        </p:nvSpPr>
        <p:spPr>
          <a:xfrm>
            <a:off x="1024128" y="2304288"/>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01 | EMOTIONAL</a:t>
            </a:r>
            <a:endParaRPr lang="en-US" sz="920" dirty="0"/>
          </a:p>
        </p:txBody>
      </p:sp>
      <p:sp>
        <p:nvSpPr>
          <p:cNvPr id="9" name="Text 6"/>
          <p:cNvSpPr/>
          <p:nvPr/>
        </p:nvSpPr>
        <p:spPr>
          <a:xfrm>
            <a:off x="1024128" y="256032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Chạm vào người giữ nhịp</a:t>
            </a:r>
            <a:endParaRPr lang="en-US" sz="1700" dirty="0"/>
          </a:p>
        </p:txBody>
      </p:sp>
      <p:sp>
        <p:nvSpPr>
          <p:cNvPr id="10" name="Text 7"/>
          <p:cNvSpPr/>
          <p:nvPr/>
        </p:nvSpPr>
        <p:spPr>
          <a:xfrm>
            <a:off x="1024128" y="2962656"/>
            <a:ext cx="2907792"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Mái chèo là biểu tượng của trách nhiệm, bền bỉ và dẫn dắt gia đình.</a:t>
            </a:r>
            <a:endParaRPr lang="en-US" sz="1080" dirty="0"/>
          </a:p>
        </p:txBody>
      </p:sp>
      <p:sp>
        <p:nvSpPr>
          <p:cNvPr id="11" name="Shape 8"/>
          <p:cNvSpPr/>
          <p:nvPr/>
        </p:nvSpPr>
        <p:spPr>
          <a:xfrm>
            <a:off x="4443984" y="2029968"/>
            <a:ext cx="3310128" cy="1755648"/>
          </a:xfrm>
          <a:prstGeom prst="roundRect">
            <a:avLst>
              <a:gd name="adj" fmla="val 2604"/>
            </a:avLst>
          </a:prstGeom>
          <a:solidFill>
            <a:srgbClr val="EEF5FB"/>
          </a:solidFill>
          <a:ln w="12700">
            <a:solidFill>
              <a:srgbClr val="D8E0E8"/>
            </a:solidFill>
            <a:prstDash val="solid"/>
          </a:ln>
        </p:spPr>
      </p:sp>
      <p:sp>
        <p:nvSpPr>
          <p:cNvPr id="12" name="Shape 9"/>
          <p:cNvSpPr/>
          <p:nvPr/>
        </p:nvSpPr>
        <p:spPr>
          <a:xfrm>
            <a:off x="4590288" y="2176272"/>
            <a:ext cx="3017520" cy="45720"/>
          </a:xfrm>
          <a:prstGeom prst="rect">
            <a:avLst/>
          </a:prstGeom>
          <a:solidFill>
            <a:srgbClr val="0B6CB8"/>
          </a:solidFill>
          <a:ln w="12700">
            <a:solidFill>
              <a:srgbClr val="0B6CB8"/>
            </a:solidFill>
            <a:prstDash val="solid"/>
          </a:ln>
        </p:spPr>
      </p:sp>
      <p:sp>
        <p:nvSpPr>
          <p:cNvPr id="13" name="Text 10"/>
          <p:cNvSpPr/>
          <p:nvPr/>
        </p:nvSpPr>
        <p:spPr>
          <a:xfrm>
            <a:off x="4645152" y="2304288"/>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02 | CULTURAL</a:t>
            </a:r>
            <a:endParaRPr lang="en-US" sz="920" dirty="0"/>
          </a:p>
        </p:txBody>
      </p:sp>
      <p:sp>
        <p:nvSpPr>
          <p:cNvPr id="14" name="Text 11"/>
          <p:cNvSpPr/>
          <p:nvPr/>
        </p:nvSpPr>
        <p:spPr>
          <a:xfrm>
            <a:off x="4645152" y="256032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Gắn với Huế một cách tự nhiên</a:t>
            </a:r>
            <a:endParaRPr lang="en-US" sz="1700" dirty="0"/>
          </a:p>
        </p:txBody>
      </p:sp>
      <p:sp>
        <p:nvSpPr>
          <p:cNvPr id="15" name="Text 12"/>
          <p:cNvSpPr/>
          <p:nvPr/>
        </p:nvSpPr>
        <p:spPr>
          <a:xfrm>
            <a:off x="4645152" y="2962656"/>
            <a:ext cx="2907792"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Di sản mở từ di sản cố đô sang di sản gia đình, không khiên cưỡng.</a:t>
            </a:r>
            <a:endParaRPr lang="en-US" sz="1080" dirty="0"/>
          </a:p>
        </p:txBody>
      </p:sp>
      <p:sp>
        <p:nvSpPr>
          <p:cNvPr id="16" name="Shape 13"/>
          <p:cNvSpPr/>
          <p:nvPr/>
        </p:nvSpPr>
        <p:spPr>
          <a:xfrm>
            <a:off x="8065008" y="2029968"/>
            <a:ext cx="3319272" cy="1755648"/>
          </a:xfrm>
          <a:prstGeom prst="roundRect">
            <a:avLst>
              <a:gd name="adj" fmla="val 2604"/>
            </a:avLst>
          </a:prstGeom>
          <a:solidFill>
            <a:srgbClr val="F8F3E8"/>
          </a:solidFill>
          <a:ln w="12700">
            <a:solidFill>
              <a:srgbClr val="D8E0E8"/>
            </a:solidFill>
            <a:prstDash val="solid"/>
          </a:ln>
        </p:spPr>
      </p:sp>
      <p:sp>
        <p:nvSpPr>
          <p:cNvPr id="17" name="Shape 14"/>
          <p:cNvSpPr/>
          <p:nvPr/>
        </p:nvSpPr>
        <p:spPr>
          <a:xfrm>
            <a:off x="8211312" y="2176272"/>
            <a:ext cx="3026664" cy="45720"/>
          </a:xfrm>
          <a:prstGeom prst="rect">
            <a:avLst/>
          </a:prstGeom>
          <a:solidFill>
            <a:srgbClr val="C99211"/>
          </a:solidFill>
          <a:ln w="12700">
            <a:solidFill>
              <a:srgbClr val="C99211"/>
            </a:solidFill>
            <a:prstDash val="solid"/>
          </a:ln>
        </p:spPr>
      </p:sp>
      <p:sp>
        <p:nvSpPr>
          <p:cNvPr id="18" name="Text 15"/>
          <p:cNvSpPr/>
          <p:nvPr/>
        </p:nvSpPr>
        <p:spPr>
          <a:xfrm>
            <a:off x="8266176" y="2304288"/>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03 | BRAND FIT</a:t>
            </a:r>
            <a:endParaRPr lang="en-US" sz="920" dirty="0"/>
          </a:p>
        </p:txBody>
      </p:sp>
      <p:sp>
        <p:nvSpPr>
          <p:cNvPr id="19" name="Text 16"/>
          <p:cNvSpPr/>
          <p:nvPr/>
        </p:nvSpPr>
        <p:spPr>
          <a:xfrm>
            <a:off x="8266176" y="2560320"/>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Ngôn ngữ sang và đúng chất BVNT</a:t>
            </a:r>
            <a:endParaRPr lang="en-US" sz="1700" dirty="0"/>
          </a:p>
        </p:txBody>
      </p:sp>
      <p:sp>
        <p:nvSpPr>
          <p:cNvPr id="20" name="Text 17"/>
          <p:cNvSpPr/>
          <p:nvPr/>
        </p:nvSpPr>
        <p:spPr>
          <a:xfrm>
            <a:off x="8266176" y="2962656"/>
            <a:ext cx="2916936"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Chữ 'giữ' gần với vai trò cốt lõi của bảo hiểm nhân thọ.</a:t>
            </a:r>
            <a:endParaRPr lang="en-US" sz="1080" dirty="0"/>
          </a:p>
        </p:txBody>
      </p:sp>
      <p:sp>
        <p:nvSpPr>
          <p:cNvPr id="21" name="Shape 18"/>
          <p:cNvSpPr/>
          <p:nvPr/>
        </p:nvSpPr>
        <p:spPr>
          <a:xfrm>
            <a:off x="822960" y="4224528"/>
            <a:ext cx="10561320" cy="950976"/>
          </a:xfrm>
          <a:prstGeom prst="roundRect">
            <a:avLst>
              <a:gd name="adj" fmla="val 4808"/>
            </a:avLst>
          </a:prstGeom>
          <a:solidFill>
            <a:srgbClr val="EEF5FB"/>
          </a:solidFill>
          <a:ln w="12700">
            <a:solidFill>
              <a:srgbClr val="EEF5FB"/>
            </a:solidFill>
            <a:prstDash val="solid"/>
          </a:ln>
        </p:spPr>
      </p:sp>
      <p:sp>
        <p:nvSpPr>
          <p:cNvPr id="22" name="Text 19"/>
          <p:cNvSpPr/>
          <p:nvPr/>
        </p:nvSpPr>
        <p:spPr>
          <a:xfrm>
            <a:off x="1060704" y="4443984"/>
            <a:ext cx="10085832" cy="640080"/>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Không chỉ là idea cho năm 2026. Đây là một territory có thể mở rộng thành signature property nhiều mùa.</a:t>
            </a:r>
            <a:endParaRPr lang="en-US" sz="200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MESSAGE SYSTEM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09" b="1" dirty="0">
                <a:solidFill>
                  <a:srgbClr val="114A7A"/>
                </a:solidFill>
                <a:latin typeface="Barlow" pitchFamily="34" charset="0"/>
                <a:ea typeface="Barlow" pitchFamily="34" charset="-122"/>
                <a:cs typeface="Barlow" pitchFamily="34" charset="-120"/>
              </a:rPr>
              <a:t>Hệ thống thông điệp cần rõ tầng, dễ nhớ và dễ triển khai.</a:t>
            </a:r>
            <a:endParaRPr lang="en-US" sz="2309"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Từ boardroom statement đến social hashtag, mọi lớp thông điệp phải dẫn về cùng một vai trò thương hiệu.</a:t>
            </a:r>
            <a:endParaRPr lang="en-US" sz="1100" dirty="0"/>
          </a:p>
        </p:txBody>
      </p:sp>
      <p:sp>
        <p:nvSpPr>
          <p:cNvPr id="6" name="Shape 3"/>
          <p:cNvSpPr/>
          <p:nvPr/>
        </p:nvSpPr>
        <p:spPr>
          <a:xfrm>
            <a:off x="822960" y="2029968"/>
            <a:ext cx="10561320" cy="1225296"/>
          </a:xfrm>
          <a:prstGeom prst="roundRect">
            <a:avLst>
              <a:gd name="adj" fmla="val 3731"/>
            </a:avLst>
          </a:prstGeom>
          <a:solidFill>
            <a:srgbClr val="114A7A"/>
          </a:solidFill>
          <a:ln w="12700">
            <a:solidFill>
              <a:srgbClr val="114A7A"/>
            </a:solidFill>
            <a:prstDash val="solid"/>
          </a:ln>
        </p:spPr>
      </p:sp>
      <p:sp>
        <p:nvSpPr>
          <p:cNvPr id="7" name="Text 4"/>
          <p:cNvSpPr/>
          <p:nvPr/>
        </p:nvSpPr>
        <p:spPr>
          <a:xfrm>
            <a:off x="1060704" y="2249424"/>
            <a:ext cx="10085832" cy="914400"/>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Bảo Việt giữ cho dòng chảy gia đình không ngừng lại</a:t>
            </a:r>
            <a:endParaRPr lang="en-US" sz="2000" dirty="0"/>
          </a:p>
        </p:txBody>
      </p:sp>
      <p:sp>
        <p:nvSpPr>
          <p:cNvPr id="8" name="Shape 5"/>
          <p:cNvSpPr/>
          <p:nvPr/>
        </p:nvSpPr>
        <p:spPr>
          <a:xfrm>
            <a:off x="822960" y="3584448"/>
            <a:ext cx="3310128" cy="1700784"/>
          </a:xfrm>
          <a:prstGeom prst="roundRect">
            <a:avLst>
              <a:gd name="adj" fmla="val 2688"/>
            </a:avLst>
          </a:prstGeom>
          <a:solidFill>
            <a:srgbClr val="F8F3E8"/>
          </a:solidFill>
          <a:ln w="12700">
            <a:solidFill>
              <a:srgbClr val="D8E0E8"/>
            </a:solidFill>
            <a:prstDash val="solid"/>
          </a:ln>
        </p:spPr>
      </p:sp>
      <p:sp>
        <p:nvSpPr>
          <p:cNvPr id="9" name="Shape 6"/>
          <p:cNvSpPr/>
          <p:nvPr/>
        </p:nvSpPr>
        <p:spPr>
          <a:xfrm>
            <a:off x="969264" y="3730752"/>
            <a:ext cx="3017520" cy="45720"/>
          </a:xfrm>
          <a:prstGeom prst="rect">
            <a:avLst/>
          </a:prstGeom>
          <a:solidFill>
            <a:srgbClr val="C99211"/>
          </a:solidFill>
          <a:ln w="12700">
            <a:solidFill>
              <a:srgbClr val="C99211"/>
            </a:solidFill>
            <a:prstDash val="solid"/>
          </a:ln>
        </p:spPr>
      </p:sp>
      <p:sp>
        <p:nvSpPr>
          <p:cNvPr id="10" name="Text 7"/>
          <p:cNvSpPr/>
          <p:nvPr/>
        </p:nvSpPr>
        <p:spPr>
          <a:xfrm>
            <a:off x="1024128" y="3858768"/>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BIG IDEA</a:t>
            </a:r>
            <a:endParaRPr lang="en-US" sz="920" dirty="0"/>
          </a:p>
        </p:txBody>
      </p:sp>
      <p:sp>
        <p:nvSpPr>
          <p:cNvPr id="11" name="Text 8"/>
          <p:cNvSpPr/>
          <p:nvPr/>
        </p:nvSpPr>
        <p:spPr>
          <a:xfrm>
            <a:off x="1024128" y="411480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Giữ mái chèo di sản</a:t>
            </a:r>
            <a:endParaRPr lang="en-US" sz="1700" dirty="0"/>
          </a:p>
        </p:txBody>
      </p:sp>
      <p:sp>
        <p:nvSpPr>
          <p:cNvPr id="12" name="Text 9"/>
          <p:cNvSpPr/>
          <p:nvPr/>
        </p:nvSpPr>
        <p:spPr>
          <a:xfrm>
            <a:off x="1024128" y="4517136"/>
            <a:ext cx="2907792"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event title frame, key visual, teaser và PR headline.</a:t>
            </a:r>
            <a:endParaRPr lang="en-US" sz="1080" dirty="0"/>
          </a:p>
        </p:txBody>
      </p:sp>
      <p:sp>
        <p:nvSpPr>
          <p:cNvPr id="13" name="Shape 10"/>
          <p:cNvSpPr/>
          <p:nvPr/>
        </p:nvSpPr>
        <p:spPr>
          <a:xfrm>
            <a:off x="4443984" y="3584448"/>
            <a:ext cx="3310128" cy="1700784"/>
          </a:xfrm>
          <a:prstGeom prst="roundRect">
            <a:avLst>
              <a:gd name="adj" fmla="val 2688"/>
            </a:avLst>
          </a:prstGeom>
          <a:solidFill>
            <a:srgbClr val="EEF5FB"/>
          </a:solidFill>
          <a:ln w="12700">
            <a:solidFill>
              <a:srgbClr val="D8E0E8"/>
            </a:solidFill>
            <a:prstDash val="solid"/>
          </a:ln>
        </p:spPr>
      </p:sp>
      <p:sp>
        <p:nvSpPr>
          <p:cNvPr id="14" name="Shape 11"/>
          <p:cNvSpPr/>
          <p:nvPr/>
        </p:nvSpPr>
        <p:spPr>
          <a:xfrm>
            <a:off x="4590288" y="3730752"/>
            <a:ext cx="3017520" cy="45720"/>
          </a:xfrm>
          <a:prstGeom prst="rect">
            <a:avLst/>
          </a:prstGeom>
          <a:solidFill>
            <a:srgbClr val="0B6CB8"/>
          </a:solidFill>
          <a:ln w="12700">
            <a:solidFill>
              <a:srgbClr val="0B6CB8"/>
            </a:solidFill>
            <a:prstDash val="solid"/>
          </a:ln>
        </p:spPr>
      </p:sp>
      <p:sp>
        <p:nvSpPr>
          <p:cNvPr id="15" name="Text 12"/>
          <p:cNvSpPr/>
          <p:nvPr/>
        </p:nvSpPr>
        <p:spPr>
          <a:xfrm>
            <a:off x="4645152" y="3858768"/>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SIGN-OFF</a:t>
            </a:r>
            <a:endParaRPr lang="en-US" sz="920" dirty="0"/>
          </a:p>
        </p:txBody>
      </p:sp>
      <p:sp>
        <p:nvSpPr>
          <p:cNvPr id="16" name="Text 13"/>
          <p:cNvSpPr/>
          <p:nvPr/>
        </p:nvSpPr>
        <p:spPr>
          <a:xfrm>
            <a:off x="4645152" y="411480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Giữ mái chèo hôm nay, chở che muôn thế hệ mai sau</a:t>
            </a:r>
            <a:endParaRPr lang="en-US" sz="1700" dirty="0"/>
          </a:p>
        </p:txBody>
      </p:sp>
      <p:sp>
        <p:nvSpPr>
          <p:cNvPr id="17" name="Text 14"/>
          <p:cNvSpPr/>
          <p:nvPr/>
        </p:nvSpPr>
        <p:spPr>
          <a:xfrm>
            <a:off x="4645152" y="4517136"/>
            <a:ext cx="2907792"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Lớp ngôn ngữ giàu cảm xúc cho film, lễ tôn vinh và closing.</a:t>
            </a:r>
            <a:endParaRPr lang="en-US" sz="1080" dirty="0"/>
          </a:p>
        </p:txBody>
      </p:sp>
      <p:sp>
        <p:nvSpPr>
          <p:cNvPr id="18" name="Shape 15"/>
          <p:cNvSpPr/>
          <p:nvPr/>
        </p:nvSpPr>
        <p:spPr>
          <a:xfrm>
            <a:off x="8065008" y="3584448"/>
            <a:ext cx="3319272" cy="1700784"/>
          </a:xfrm>
          <a:prstGeom prst="roundRect">
            <a:avLst>
              <a:gd name="adj" fmla="val 2688"/>
            </a:avLst>
          </a:prstGeom>
          <a:solidFill>
            <a:srgbClr val="F8F3E8"/>
          </a:solidFill>
          <a:ln w="12700">
            <a:solidFill>
              <a:srgbClr val="D8E0E8"/>
            </a:solidFill>
            <a:prstDash val="solid"/>
          </a:ln>
        </p:spPr>
      </p:sp>
      <p:sp>
        <p:nvSpPr>
          <p:cNvPr id="19" name="Shape 16"/>
          <p:cNvSpPr/>
          <p:nvPr/>
        </p:nvSpPr>
        <p:spPr>
          <a:xfrm>
            <a:off x="8211312" y="3730752"/>
            <a:ext cx="3026664" cy="45720"/>
          </a:xfrm>
          <a:prstGeom prst="rect">
            <a:avLst/>
          </a:prstGeom>
          <a:solidFill>
            <a:srgbClr val="C99211"/>
          </a:solidFill>
          <a:ln w="12700">
            <a:solidFill>
              <a:srgbClr val="C99211"/>
            </a:solidFill>
            <a:prstDash val="solid"/>
          </a:ln>
        </p:spPr>
      </p:sp>
      <p:sp>
        <p:nvSpPr>
          <p:cNvPr id="20" name="Text 17"/>
          <p:cNvSpPr/>
          <p:nvPr/>
        </p:nvSpPr>
        <p:spPr>
          <a:xfrm>
            <a:off x="8266176" y="3858768"/>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SOCIAL SYSTEM</a:t>
            </a:r>
            <a:endParaRPr lang="en-US" sz="920" dirty="0"/>
          </a:p>
        </p:txBody>
      </p:sp>
      <p:sp>
        <p:nvSpPr>
          <p:cNvPr id="21" name="Text 18"/>
          <p:cNvSpPr/>
          <p:nvPr/>
        </p:nvSpPr>
        <p:spPr>
          <a:xfrm>
            <a:off x="8266176" y="4114800"/>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#GiuMaiCheoDiSan  #DongChayKhongNgungLai</a:t>
            </a:r>
            <a:endParaRPr lang="en-US" sz="1700" dirty="0"/>
          </a:p>
        </p:txBody>
      </p:sp>
      <p:sp>
        <p:nvSpPr>
          <p:cNvPr id="22" name="Text 19"/>
          <p:cNvSpPr/>
          <p:nvPr/>
        </p:nvSpPr>
        <p:spPr>
          <a:xfrm>
            <a:off x="8266176" y="4517136"/>
            <a:ext cx="2916936"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UGC, challenge và realtime conversation.</a:t>
            </a:r>
            <a:endParaRPr lang="en-US" sz="108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WHY IT WILL WIN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đề xuất thắng lớn phải chạm đúng ba tầng: ý nghĩa, hình ảnh và khả năng sở hữu.</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Đây là loại ý tưởng vừa có thể thuyết phục lãnh đạo, vừa đủ mạnh để báo chí và công chúng tự lan truyền.</a:t>
            </a:r>
            <a:endParaRPr lang="en-US" sz="1100" dirty="0"/>
          </a:p>
        </p:txBody>
      </p:sp>
      <p:sp>
        <p:nvSpPr>
          <p:cNvPr id="6" name="Shape 3"/>
          <p:cNvSpPr/>
          <p:nvPr/>
        </p:nvSpPr>
        <p:spPr>
          <a:xfrm>
            <a:off x="822960" y="2048256"/>
            <a:ext cx="5148072" cy="1389888"/>
          </a:xfrm>
          <a:prstGeom prst="roundRect">
            <a:avLst>
              <a:gd name="adj" fmla="val 3289"/>
            </a:avLst>
          </a:prstGeom>
          <a:solidFill>
            <a:srgbClr val="FFFFFF"/>
          </a:solidFill>
          <a:ln w="12700">
            <a:solidFill>
              <a:srgbClr val="D8E0E8"/>
            </a:solidFill>
            <a:prstDash val="solid"/>
          </a:ln>
        </p:spPr>
      </p:sp>
      <p:sp>
        <p:nvSpPr>
          <p:cNvPr id="7" name="Shape 4"/>
          <p:cNvSpPr/>
          <p:nvPr/>
        </p:nvSpPr>
        <p:spPr>
          <a:xfrm>
            <a:off x="969264" y="2194560"/>
            <a:ext cx="4855464" cy="45720"/>
          </a:xfrm>
          <a:prstGeom prst="rect">
            <a:avLst/>
          </a:prstGeom>
          <a:solidFill>
            <a:srgbClr val="0B6CB8"/>
          </a:solidFill>
          <a:ln w="12700">
            <a:solidFill>
              <a:srgbClr val="0B6CB8"/>
            </a:solidFill>
            <a:prstDash val="solid"/>
          </a:ln>
        </p:spPr>
      </p:sp>
      <p:sp>
        <p:nvSpPr>
          <p:cNvPr id="8" name="Text 5"/>
          <p:cNvSpPr/>
          <p:nvPr/>
        </p:nvSpPr>
        <p:spPr>
          <a:xfrm>
            <a:off x="1024128" y="2578608"/>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Ý nghĩa rõ ràng</a:t>
            </a:r>
            <a:endParaRPr lang="en-US" sz="1700" dirty="0"/>
          </a:p>
        </p:txBody>
      </p:sp>
      <p:sp>
        <p:nvSpPr>
          <p:cNvPr id="9" name="Text 6"/>
          <p:cNvSpPr/>
          <p:nvPr/>
        </p:nvSpPr>
        <p:spPr>
          <a:xfrm>
            <a:off x="1024128" y="2980944"/>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Liên kết tự nhiên giữa đua ghe, người trụ cột và bảo vệ gia đình.</a:t>
            </a:r>
            <a:endParaRPr lang="en-US" sz="1080" dirty="0"/>
          </a:p>
        </p:txBody>
      </p:sp>
      <p:sp>
        <p:nvSpPr>
          <p:cNvPr id="10" name="Shape 7"/>
          <p:cNvSpPr/>
          <p:nvPr/>
        </p:nvSpPr>
        <p:spPr>
          <a:xfrm>
            <a:off x="6236208" y="2048256"/>
            <a:ext cx="5148072" cy="1389888"/>
          </a:xfrm>
          <a:prstGeom prst="roundRect">
            <a:avLst>
              <a:gd name="adj" fmla="val 3289"/>
            </a:avLst>
          </a:prstGeom>
          <a:solidFill>
            <a:srgbClr val="EEF5FB"/>
          </a:solidFill>
          <a:ln w="12700">
            <a:solidFill>
              <a:srgbClr val="D8E0E8"/>
            </a:solidFill>
            <a:prstDash val="solid"/>
          </a:ln>
        </p:spPr>
      </p:sp>
      <p:sp>
        <p:nvSpPr>
          <p:cNvPr id="11" name="Shape 8"/>
          <p:cNvSpPr/>
          <p:nvPr/>
        </p:nvSpPr>
        <p:spPr>
          <a:xfrm>
            <a:off x="6382512" y="2194560"/>
            <a:ext cx="4855464" cy="45720"/>
          </a:xfrm>
          <a:prstGeom prst="rect">
            <a:avLst/>
          </a:prstGeom>
          <a:solidFill>
            <a:srgbClr val="C99211"/>
          </a:solidFill>
          <a:ln w="12700">
            <a:solidFill>
              <a:srgbClr val="C99211"/>
            </a:solidFill>
            <a:prstDash val="solid"/>
          </a:ln>
        </p:spPr>
      </p:sp>
      <p:sp>
        <p:nvSpPr>
          <p:cNvPr id="12" name="Text 9"/>
          <p:cNvSpPr/>
          <p:nvPr/>
        </p:nvSpPr>
        <p:spPr>
          <a:xfrm>
            <a:off x="6437376" y="2578608"/>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Hình ảnh đủ mạnh</a:t>
            </a:r>
            <a:endParaRPr lang="en-US" sz="1700" dirty="0"/>
          </a:p>
        </p:txBody>
      </p:sp>
      <p:sp>
        <p:nvSpPr>
          <p:cNvPr id="13" name="Text 10"/>
          <p:cNvSpPr/>
          <p:nvPr/>
        </p:nvSpPr>
        <p:spPr>
          <a:xfrm>
            <a:off x="6437376" y="2980944"/>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Đồng loạt mái chèo, sông ánh sáng, drone tribute, lời nhắn truyền đời.</a:t>
            </a:r>
            <a:endParaRPr lang="en-US" sz="1080" dirty="0"/>
          </a:p>
        </p:txBody>
      </p:sp>
      <p:sp>
        <p:nvSpPr>
          <p:cNvPr id="14" name="Shape 11"/>
          <p:cNvSpPr/>
          <p:nvPr/>
        </p:nvSpPr>
        <p:spPr>
          <a:xfrm>
            <a:off x="822960" y="3822192"/>
            <a:ext cx="5148072" cy="1389888"/>
          </a:xfrm>
          <a:prstGeom prst="roundRect">
            <a:avLst>
              <a:gd name="adj" fmla="val 3289"/>
            </a:avLst>
          </a:prstGeom>
          <a:solidFill>
            <a:srgbClr val="F8F3E8"/>
          </a:solidFill>
          <a:ln w="12700">
            <a:solidFill>
              <a:srgbClr val="D8E0E8"/>
            </a:solidFill>
            <a:prstDash val="solid"/>
          </a:ln>
        </p:spPr>
      </p:sp>
      <p:sp>
        <p:nvSpPr>
          <p:cNvPr id="15" name="Shape 12"/>
          <p:cNvSpPr/>
          <p:nvPr/>
        </p:nvSpPr>
        <p:spPr>
          <a:xfrm>
            <a:off x="969264" y="3968496"/>
            <a:ext cx="4855464" cy="45720"/>
          </a:xfrm>
          <a:prstGeom prst="rect">
            <a:avLst/>
          </a:prstGeom>
          <a:solidFill>
            <a:srgbClr val="C99211"/>
          </a:solidFill>
          <a:ln w="12700">
            <a:solidFill>
              <a:srgbClr val="C99211"/>
            </a:solidFill>
            <a:prstDash val="solid"/>
          </a:ln>
        </p:spPr>
      </p:sp>
      <p:sp>
        <p:nvSpPr>
          <p:cNvPr id="16" name="Text 13"/>
          <p:cNvSpPr/>
          <p:nvPr/>
        </p:nvSpPr>
        <p:spPr>
          <a:xfrm>
            <a:off x="1024128" y="4352544"/>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Khả năng sở hữu</a:t>
            </a:r>
            <a:endParaRPr lang="en-US" sz="1700" dirty="0"/>
          </a:p>
        </p:txBody>
      </p:sp>
      <p:sp>
        <p:nvSpPr>
          <p:cNvPr id="17" name="Text 14"/>
          <p:cNvSpPr/>
          <p:nvPr/>
        </p:nvSpPr>
        <p:spPr>
          <a:xfrm>
            <a:off x="1024128" y="4754880"/>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Naming rights và các nghi lễ độc quyền giúp thương hiệu giữ tài sản.</a:t>
            </a:r>
            <a:endParaRPr lang="en-US" sz="1080" dirty="0"/>
          </a:p>
        </p:txBody>
      </p:sp>
      <p:sp>
        <p:nvSpPr>
          <p:cNvPr id="18" name="Shape 15"/>
          <p:cNvSpPr/>
          <p:nvPr/>
        </p:nvSpPr>
        <p:spPr>
          <a:xfrm>
            <a:off x="6236208" y="3822192"/>
            <a:ext cx="5148072" cy="1389888"/>
          </a:xfrm>
          <a:prstGeom prst="roundRect">
            <a:avLst>
              <a:gd name="adj" fmla="val 3289"/>
            </a:avLst>
          </a:prstGeom>
          <a:solidFill>
            <a:srgbClr val="FFFFFF"/>
          </a:solidFill>
          <a:ln w="12700">
            <a:solidFill>
              <a:srgbClr val="D8E0E8"/>
            </a:solidFill>
            <a:prstDash val="solid"/>
          </a:ln>
        </p:spPr>
      </p:sp>
      <p:sp>
        <p:nvSpPr>
          <p:cNvPr id="19" name="Shape 16"/>
          <p:cNvSpPr/>
          <p:nvPr/>
        </p:nvSpPr>
        <p:spPr>
          <a:xfrm>
            <a:off x="6382512" y="3968496"/>
            <a:ext cx="4855464" cy="45720"/>
          </a:xfrm>
          <a:prstGeom prst="rect">
            <a:avLst/>
          </a:prstGeom>
          <a:solidFill>
            <a:srgbClr val="0B6CB8"/>
          </a:solidFill>
          <a:ln w="12700">
            <a:solidFill>
              <a:srgbClr val="0B6CB8"/>
            </a:solidFill>
            <a:prstDash val="solid"/>
          </a:ln>
        </p:spPr>
      </p:sp>
      <p:sp>
        <p:nvSpPr>
          <p:cNvPr id="20" name="Text 17"/>
          <p:cNvSpPr/>
          <p:nvPr/>
        </p:nvSpPr>
        <p:spPr>
          <a:xfrm>
            <a:off x="6437376" y="4352544"/>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Khả năng tích lũy</a:t>
            </a:r>
            <a:endParaRPr lang="en-US" sz="1700" dirty="0"/>
          </a:p>
        </p:txBody>
      </p:sp>
      <p:sp>
        <p:nvSpPr>
          <p:cNvPr id="21" name="Text 18"/>
          <p:cNvSpPr/>
          <p:nvPr/>
        </p:nvSpPr>
        <p:spPr>
          <a:xfrm>
            <a:off x="6437376" y="4754880"/>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Mỗi mùa giải cộng dồn thêm content, dữ liệu và thiện cảm thương hiệu.</a:t>
            </a:r>
            <a:endParaRPr lang="en-US" sz="108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TẦM NHÌN SỰ KIỆN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Từ cuộc đua trên sông thành một hiện tượng văn hóa đương đại.</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Thiết kế lại toàn bộ trải nghiệm như một ritual premium: có nghi thức, có spectacle, có lớp nội dung khiến công chúng muốn xem và muốn kể lại.</a:t>
            </a:r>
            <a:endParaRPr lang="en-US" sz="1400" dirty="0"/>
          </a:p>
        </p:txBody>
      </p:sp>
      <p:sp>
        <p:nvSpPr>
          <p:cNvPr id="8" name="Text 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EVENT VISION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Không tổ chức một race day. Tổ chức một cultural show day trên mặt nước.</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Từ nghi thức mở màn đến khoảnh khắc trao cúp, mọi phần của ngày đua đều cần được dàn dựng như một trải nghiệm đáng nhớ chứ không chỉ là lịch thi đấu.</a:t>
            </a:r>
            <a:endParaRPr lang="en-US" sz="1400" dirty="0"/>
          </a:p>
        </p:txBody>
      </p:sp>
      <p:sp>
        <p:nvSpPr>
          <p:cNvPr id="8" name="Shape 5"/>
          <p:cNvSpPr/>
          <p:nvPr/>
        </p:nvSpPr>
        <p:spPr>
          <a:xfrm>
            <a:off x="1078992" y="4443984"/>
            <a:ext cx="914400"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517136"/>
            <a:ext cx="80467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RITUAL</a:t>
            </a:r>
            <a:endParaRPr lang="en-US" sz="920" dirty="0"/>
          </a:p>
        </p:txBody>
      </p:sp>
      <p:sp>
        <p:nvSpPr>
          <p:cNvPr id="10" name="Shape 7"/>
          <p:cNvSpPr/>
          <p:nvPr/>
        </p:nvSpPr>
        <p:spPr>
          <a:xfrm>
            <a:off x="2139696" y="4443984"/>
            <a:ext cx="1133856" cy="310896"/>
          </a:xfrm>
          <a:prstGeom prst="roundRect">
            <a:avLst>
              <a:gd name="adj" fmla="val 23529"/>
            </a:avLst>
          </a:prstGeom>
          <a:solidFill>
            <a:srgbClr val="0B6CB8">
              <a:alpha val="92000"/>
            </a:srgbClr>
          </a:solidFill>
          <a:ln w="12700">
            <a:solidFill>
              <a:srgbClr val="0B6CB8"/>
            </a:solidFill>
            <a:prstDash val="solid"/>
          </a:ln>
        </p:spPr>
      </p:sp>
      <p:sp>
        <p:nvSpPr>
          <p:cNvPr id="11" name="Text 8"/>
          <p:cNvSpPr/>
          <p:nvPr/>
        </p:nvSpPr>
        <p:spPr>
          <a:xfrm>
            <a:off x="2194560" y="4517136"/>
            <a:ext cx="102412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SPECTACLE</a:t>
            </a:r>
            <a:endParaRPr lang="en-US" sz="920" dirty="0"/>
          </a:p>
        </p:txBody>
      </p:sp>
      <p:sp>
        <p:nvSpPr>
          <p:cNvPr id="12" name="Shape 9"/>
          <p:cNvSpPr/>
          <p:nvPr/>
        </p:nvSpPr>
        <p:spPr>
          <a:xfrm>
            <a:off x="3419856" y="4443984"/>
            <a:ext cx="1024128" cy="310896"/>
          </a:xfrm>
          <a:prstGeom prst="roundRect">
            <a:avLst>
              <a:gd name="adj" fmla="val 23529"/>
            </a:avLst>
          </a:prstGeom>
          <a:solidFill>
            <a:srgbClr val="C99211">
              <a:alpha val="92000"/>
            </a:srgbClr>
          </a:solidFill>
          <a:ln w="12700">
            <a:solidFill>
              <a:srgbClr val="C99211"/>
            </a:solidFill>
            <a:prstDash val="solid"/>
          </a:ln>
        </p:spPr>
      </p:sp>
      <p:sp>
        <p:nvSpPr>
          <p:cNvPr id="13" name="Text 10"/>
          <p:cNvSpPr/>
          <p:nvPr/>
        </p:nvSpPr>
        <p:spPr>
          <a:xfrm>
            <a:off x="3474720" y="4517136"/>
            <a:ext cx="91440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CONTENT</a:t>
            </a:r>
            <a:endParaRPr lang="en-US" sz="92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01</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Lễ Tôn Vinh Người Cầm Lái</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nghi thức mở màn giàu biểu tượng, đủ sang trọng để trở thành visual signature của giải đấu.</a:t>
            </a:r>
            <a:endParaRPr lang="en-US" sz="1100" dirty="0"/>
          </a:p>
        </p:txBody>
      </p:sp>
      <p:sp>
        <p:nvSpPr>
          <p:cNvPr id="6" name="Shape 3"/>
          <p:cNvSpPr/>
          <p:nvPr/>
        </p:nvSpPr>
        <p:spPr>
          <a:xfrm>
            <a:off x="822960" y="2029968"/>
            <a:ext cx="6355080" cy="2066544"/>
          </a:xfrm>
          <a:prstGeom prst="roundRect">
            <a:avLst>
              <a:gd name="adj" fmla="val 2212"/>
            </a:avLst>
          </a:prstGeom>
          <a:solidFill>
            <a:srgbClr val="114A7A"/>
          </a:solidFill>
          <a:ln w="12700">
            <a:solidFill>
              <a:srgbClr val="114A7A"/>
            </a:solidFill>
            <a:prstDash val="solid"/>
          </a:ln>
        </p:spPr>
      </p:sp>
      <p:sp>
        <p:nvSpPr>
          <p:cNvPr id="7" name="Text 4"/>
          <p:cNvSpPr/>
          <p:nvPr/>
        </p:nvSpPr>
        <p:spPr>
          <a:xfrm>
            <a:off x="1060704" y="2249424"/>
            <a:ext cx="5879592" cy="175564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20 đội ghe đồng loạt dựng mái chèo và hướng về bờ danh dự - khoảnh khắc biến cuộc đua thành một lễ tôn vinh người giữ nhịp.</a:t>
            </a:r>
            <a:endParaRPr lang="en-US" sz="2000" dirty="0"/>
          </a:p>
        </p:txBody>
      </p:sp>
      <p:sp>
        <p:nvSpPr>
          <p:cNvPr id="8" name="Shape 5"/>
          <p:cNvSpPr/>
          <p:nvPr/>
        </p:nvSpPr>
        <p:spPr>
          <a:xfrm>
            <a:off x="7406640" y="2029968"/>
            <a:ext cx="3977640" cy="2066544"/>
          </a:xfrm>
          <a:prstGeom prst="roundRect">
            <a:avLst>
              <a:gd name="adj" fmla="val 2212"/>
            </a:avLst>
          </a:prstGeom>
          <a:solidFill>
            <a:srgbClr val="FFFFFF"/>
          </a:solidFill>
          <a:ln w="12700">
            <a:solidFill>
              <a:srgbClr val="D8E0E8"/>
            </a:solidFill>
            <a:prstDash val="solid"/>
          </a:ln>
        </p:spPr>
      </p:sp>
      <p:sp>
        <p:nvSpPr>
          <p:cNvPr id="9" name="Text 6"/>
          <p:cNvSpPr/>
          <p:nvPr/>
        </p:nvSpPr>
        <p:spPr>
          <a:xfrm>
            <a:off x="7662672" y="2286000"/>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Vì sao shareable</a:t>
            </a:r>
            <a:endParaRPr lang="en-US" sz="950" dirty="0"/>
          </a:p>
        </p:txBody>
      </p:sp>
      <p:sp>
        <p:nvSpPr>
          <p:cNvPr id="10" name="Text 7"/>
          <p:cNvSpPr/>
          <p:nvPr/>
        </p:nvSpPr>
        <p:spPr>
          <a:xfrm>
            <a:off x="7644384" y="2615184"/>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Tạo một hình ảnh mở màn đủ đẹp cho TV, báo chí và social.</a:t>
            </a:r>
            <a:endParaRPr lang="en-US" sz="1110" dirty="0"/>
          </a:p>
        </p:txBody>
      </p:sp>
      <p:sp>
        <p:nvSpPr>
          <p:cNvPr id="11" name="Text 8"/>
          <p:cNvSpPr/>
          <p:nvPr/>
        </p:nvSpPr>
        <p:spPr>
          <a:xfrm>
            <a:off x="7644384" y="2962656"/>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Đặt Bảo Việt Nhân Thọ vào vai trò tôn vinh người giữ nhịp.</a:t>
            </a:r>
            <a:endParaRPr lang="en-US" sz="1110" dirty="0"/>
          </a:p>
        </p:txBody>
      </p:sp>
      <p:sp>
        <p:nvSpPr>
          <p:cNvPr id="12" name="Text 9"/>
          <p:cNvSpPr/>
          <p:nvPr/>
        </p:nvSpPr>
        <p:spPr>
          <a:xfrm>
            <a:off x="7644384" y="3310128"/>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Dễ cắt thành short-form video giàu cảm xúc và niềm tự hào cộng đồng.</a:t>
            </a:r>
            <a:endParaRPr lang="en-US" sz="1110" dirty="0"/>
          </a:p>
        </p:txBody>
      </p:sp>
      <p:sp>
        <p:nvSpPr>
          <p:cNvPr id="13" name="Shape 10"/>
          <p:cNvSpPr/>
          <p:nvPr/>
        </p:nvSpPr>
        <p:spPr>
          <a:xfrm>
            <a:off x="822960" y="4407408"/>
            <a:ext cx="1609344" cy="310896"/>
          </a:xfrm>
          <a:prstGeom prst="roundRect">
            <a:avLst>
              <a:gd name="adj" fmla="val 23529"/>
            </a:avLst>
          </a:prstGeom>
          <a:solidFill>
            <a:srgbClr val="C99211">
              <a:alpha val="92000"/>
            </a:srgbClr>
          </a:solidFill>
          <a:ln w="12700">
            <a:solidFill>
              <a:srgbClr val="C99211"/>
            </a:solidFill>
            <a:prstDash val="solid"/>
          </a:ln>
        </p:spPr>
      </p:sp>
      <p:sp>
        <p:nvSpPr>
          <p:cNvPr id="14" name="Text 11"/>
          <p:cNvSpPr/>
          <p:nvPr/>
        </p:nvSpPr>
        <p:spPr>
          <a:xfrm>
            <a:off x="877824" y="4480560"/>
            <a:ext cx="149961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RITUAL OF RESPECT</a:t>
            </a:r>
            <a:endParaRPr lang="en-US" sz="920" dirty="0"/>
          </a:p>
        </p:txBody>
      </p:sp>
      <p:sp>
        <p:nvSpPr>
          <p:cNvPr id="15" name="Text 1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WOW MOMENT 02</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892" b="1" dirty="0">
                <a:solidFill>
                  <a:srgbClr val="FFFFFF"/>
                </a:solidFill>
                <a:latin typeface="Barlow" pitchFamily="34" charset="0"/>
                <a:ea typeface="Barlow" pitchFamily="34" charset="-122"/>
                <a:cs typeface="Barlow" pitchFamily="34" charset="-120"/>
              </a:rPr>
              <a:t>SÔNG HƯƠNG - DÒNG SÔNG ÁNH SÁNG</a:t>
            </a:r>
            <a:endParaRPr lang="en-US" sz="2892"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Đêm trước ngày đua hoặc thời khắc bế mạc, dòng sông trở thành một installation phát sáng của ký ức, lời nhắn và niềm tin.</a:t>
            </a:r>
            <a:endParaRPr lang="en-US" sz="1400" dirty="0"/>
          </a:p>
        </p:txBody>
      </p:sp>
      <p:sp>
        <p:nvSpPr>
          <p:cNvPr id="8" name="Shape 5"/>
          <p:cNvSpPr/>
          <p:nvPr/>
        </p:nvSpPr>
        <p:spPr>
          <a:xfrm>
            <a:off x="6784848" y="4133088"/>
            <a:ext cx="4370832" cy="1261872"/>
          </a:xfrm>
          <a:prstGeom prst="roundRect">
            <a:avLst>
              <a:gd name="adj" fmla="val 3623"/>
            </a:avLst>
          </a:prstGeom>
          <a:solidFill>
            <a:srgbClr val="FFFFFF"/>
          </a:solidFill>
          <a:ln w="12700">
            <a:solidFill>
              <a:srgbClr val="D8E0E8"/>
            </a:solidFill>
            <a:prstDash val="solid"/>
          </a:ln>
        </p:spPr>
      </p:sp>
      <p:sp>
        <p:nvSpPr>
          <p:cNvPr id="9" name="Text 6"/>
          <p:cNvSpPr/>
          <p:nvPr/>
        </p:nvSpPr>
        <p:spPr>
          <a:xfrm>
            <a:off x="7022592" y="4389120"/>
            <a:ext cx="1097280" cy="128016"/>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TRẢI NGHIỆM</a:t>
            </a:r>
            <a:endParaRPr lang="en-US" sz="950" dirty="0"/>
          </a:p>
        </p:txBody>
      </p:sp>
      <p:sp>
        <p:nvSpPr>
          <p:cNvPr id="10" name="Text 7"/>
          <p:cNvSpPr/>
          <p:nvPr/>
        </p:nvSpPr>
        <p:spPr>
          <a:xfrm>
            <a:off x="7004304" y="4681728"/>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Dải ánh sáng vàng - xanh tạo signature nhận diện trên mặt sông.</a:t>
            </a:r>
            <a:endParaRPr lang="en-US" sz="1080" dirty="0"/>
          </a:p>
        </p:txBody>
      </p:sp>
      <p:sp>
        <p:nvSpPr>
          <p:cNvPr id="11" name="Text 8"/>
          <p:cNvSpPr/>
          <p:nvPr/>
        </p:nvSpPr>
        <p:spPr>
          <a:xfrm>
            <a:off x="7004304" y="4901184"/>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Lời nhắn gia đình hiển thị trên màn hình bờ sông hoặc livestream ticker.</a:t>
            </a:r>
            <a:endParaRPr lang="en-US" sz="1080" dirty="0"/>
          </a:p>
        </p:txBody>
      </p:sp>
      <p:sp>
        <p:nvSpPr>
          <p:cNvPr id="12" name="Text 9"/>
          <p:cNvSpPr/>
          <p:nvPr/>
        </p:nvSpPr>
        <p:spPr>
          <a:xfrm>
            <a:off x="7004304" y="5120640"/>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Một visual đủ cinematic để social buzz vượt ra ngoài phạm vi Huế.</a:t>
            </a:r>
            <a:endParaRPr lang="en-US" sz="1080" dirty="0"/>
          </a:p>
        </p:txBody>
      </p:sp>
      <p:sp>
        <p:nvSpPr>
          <p:cNvPr id="13" name="Text 1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03</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Drone Tribute - Giữ Mái Chèo Di Sản</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biểu tượng trên bầu trời để tuyên bố rằng cuộc đua này đã bước sang đẳng cấp mới.</a:t>
            </a:r>
            <a:endParaRPr lang="en-US" sz="1100" dirty="0"/>
          </a:p>
        </p:txBody>
      </p:sp>
      <p:sp>
        <p:nvSpPr>
          <p:cNvPr id="6" name="Shape 3"/>
          <p:cNvSpPr/>
          <p:nvPr/>
        </p:nvSpPr>
        <p:spPr>
          <a:xfrm>
            <a:off x="822960" y="2066544"/>
            <a:ext cx="3200400" cy="2871216"/>
          </a:xfrm>
          <a:prstGeom prst="roundRect">
            <a:avLst>
              <a:gd name="adj" fmla="val 1592"/>
            </a:avLst>
          </a:prstGeom>
          <a:solidFill>
            <a:srgbClr val="F8F3E8"/>
          </a:solidFill>
          <a:ln w="12700">
            <a:solidFill>
              <a:srgbClr val="D8E0E8"/>
            </a:solidFill>
            <a:prstDash val="solid"/>
          </a:ln>
        </p:spPr>
      </p:sp>
      <p:sp>
        <p:nvSpPr>
          <p:cNvPr id="7" name="Shape 4"/>
          <p:cNvSpPr/>
          <p:nvPr/>
        </p:nvSpPr>
        <p:spPr>
          <a:xfrm>
            <a:off x="969264" y="2212848"/>
            <a:ext cx="2907792" cy="45720"/>
          </a:xfrm>
          <a:prstGeom prst="rect">
            <a:avLst/>
          </a:prstGeom>
          <a:solidFill>
            <a:srgbClr val="C99211"/>
          </a:solidFill>
          <a:ln w="12700">
            <a:solidFill>
              <a:srgbClr val="C99211"/>
            </a:solidFill>
            <a:prstDash val="solid"/>
          </a:ln>
        </p:spPr>
      </p:sp>
      <p:sp>
        <p:nvSpPr>
          <p:cNvPr id="8" name="Text 5"/>
          <p:cNvSpPr/>
          <p:nvPr/>
        </p:nvSpPr>
        <p:spPr>
          <a:xfrm>
            <a:off x="1024128" y="2340864"/>
            <a:ext cx="279806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SEQUENCE 01</a:t>
            </a:r>
            <a:endParaRPr lang="en-US" sz="920" dirty="0"/>
          </a:p>
        </p:txBody>
      </p:sp>
      <p:sp>
        <p:nvSpPr>
          <p:cNvPr id="9" name="Text 6"/>
          <p:cNvSpPr/>
          <p:nvPr/>
        </p:nvSpPr>
        <p:spPr>
          <a:xfrm>
            <a:off x="1024128" y="2596896"/>
            <a:ext cx="279806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Mái chèo</a:t>
            </a:r>
            <a:endParaRPr lang="en-US" sz="1700" dirty="0"/>
          </a:p>
        </p:txBody>
      </p:sp>
      <p:sp>
        <p:nvSpPr>
          <p:cNvPr id="10" name="Text 7"/>
          <p:cNvSpPr/>
          <p:nvPr/>
        </p:nvSpPr>
        <p:spPr>
          <a:xfrm>
            <a:off x="1024128" y="2999232"/>
            <a:ext cx="2798064"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Biểu tượng người giữ nhịp xuất hiện đầu tiên như lời chào của cả platform.</a:t>
            </a:r>
            <a:endParaRPr lang="en-US" sz="1080" dirty="0"/>
          </a:p>
        </p:txBody>
      </p:sp>
      <p:sp>
        <p:nvSpPr>
          <p:cNvPr id="11" name="Shape 8"/>
          <p:cNvSpPr/>
          <p:nvPr/>
        </p:nvSpPr>
        <p:spPr>
          <a:xfrm>
            <a:off x="4498848" y="2066544"/>
            <a:ext cx="3200400" cy="2871216"/>
          </a:xfrm>
          <a:prstGeom prst="roundRect">
            <a:avLst>
              <a:gd name="adj" fmla="val 1592"/>
            </a:avLst>
          </a:prstGeom>
          <a:solidFill>
            <a:srgbClr val="EEF5FB"/>
          </a:solidFill>
          <a:ln w="12700">
            <a:solidFill>
              <a:srgbClr val="D8E0E8"/>
            </a:solidFill>
            <a:prstDash val="solid"/>
          </a:ln>
        </p:spPr>
      </p:sp>
      <p:sp>
        <p:nvSpPr>
          <p:cNvPr id="12" name="Shape 9"/>
          <p:cNvSpPr/>
          <p:nvPr/>
        </p:nvSpPr>
        <p:spPr>
          <a:xfrm>
            <a:off x="4645152" y="2212848"/>
            <a:ext cx="2907792" cy="45720"/>
          </a:xfrm>
          <a:prstGeom prst="rect">
            <a:avLst/>
          </a:prstGeom>
          <a:solidFill>
            <a:srgbClr val="0B6CB8"/>
          </a:solidFill>
          <a:ln w="12700">
            <a:solidFill>
              <a:srgbClr val="0B6CB8"/>
            </a:solidFill>
            <a:prstDash val="solid"/>
          </a:ln>
        </p:spPr>
      </p:sp>
      <p:sp>
        <p:nvSpPr>
          <p:cNvPr id="13" name="Text 10"/>
          <p:cNvSpPr/>
          <p:nvPr/>
        </p:nvSpPr>
        <p:spPr>
          <a:xfrm>
            <a:off x="4700016" y="2340864"/>
            <a:ext cx="279806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SEQUENCE 02</a:t>
            </a:r>
            <a:endParaRPr lang="en-US" sz="920" dirty="0"/>
          </a:p>
        </p:txBody>
      </p:sp>
      <p:sp>
        <p:nvSpPr>
          <p:cNvPr id="14" name="Text 11"/>
          <p:cNvSpPr/>
          <p:nvPr/>
        </p:nvSpPr>
        <p:spPr>
          <a:xfrm>
            <a:off x="4700016" y="2596896"/>
            <a:ext cx="279806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Dòng chảy</a:t>
            </a:r>
            <a:endParaRPr lang="en-US" sz="1700" dirty="0"/>
          </a:p>
        </p:txBody>
      </p:sp>
      <p:sp>
        <p:nvSpPr>
          <p:cNvPr id="15" name="Text 12"/>
          <p:cNvSpPr/>
          <p:nvPr/>
        </p:nvSpPr>
        <p:spPr>
          <a:xfrm>
            <a:off x="4700016" y="2999232"/>
            <a:ext cx="2798064"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Từ con sông Huế mở ra ý niệm gia đình tiếp tục đi tới qua nhiều thế hệ.</a:t>
            </a:r>
            <a:endParaRPr lang="en-US" sz="1080" dirty="0"/>
          </a:p>
        </p:txBody>
      </p:sp>
      <p:sp>
        <p:nvSpPr>
          <p:cNvPr id="16" name="Shape 13"/>
          <p:cNvSpPr/>
          <p:nvPr/>
        </p:nvSpPr>
        <p:spPr>
          <a:xfrm>
            <a:off x="8174736" y="2066544"/>
            <a:ext cx="3209544" cy="2871216"/>
          </a:xfrm>
          <a:prstGeom prst="roundRect">
            <a:avLst>
              <a:gd name="adj" fmla="val 1592"/>
            </a:avLst>
          </a:prstGeom>
          <a:solidFill>
            <a:srgbClr val="F8F3E8"/>
          </a:solidFill>
          <a:ln w="12700">
            <a:solidFill>
              <a:srgbClr val="D8E0E8"/>
            </a:solidFill>
            <a:prstDash val="solid"/>
          </a:ln>
        </p:spPr>
      </p:sp>
      <p:sp>
        <p:nvSpPr>
          <p:cNvPr id="17" name="Shape 14"/>
          <p:cNvSpPr/>
          <p:nvPr/>
        </p:nvSpPr>
        <p:spPr>
          <a:xfrm>
            <a:off x="8321040" y="2212848"/>
            <a:ext cx="2916936" cy="45720"/>
          </a:xfrm>
          <a:prstGeom prst="rect">
            <a:avLst/>
          </a:prstGeom>
          <a:solidFill>
            <a:srgbClr val="C99211"/>
          </a:solidFill>
          <a:ln w="12700">
            <a:solidFill>
              <a:srgbClr val="C99211"/>
            </a:solidFill>
            <a:prstDash val="solid"/>
          </a:ln>
        </p:spPr>
      </p:sp>
      <p:sp>
        <p:nvSpPr>
          <p:cNvPr id="18" name="Text 15"/>
          <p:cNvSpPr/>
          <p:nvPr/>
        </p:nvSpPr>
        <p:spPr>
          <a:xfrm>
            <a:off x="8375904" y="2340864"/>
            <a:ext cx="2807208"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SEQUENCE 03</a:t>
            </a:r>
            <a:endParaRPr lang="en-US" sz="920" dirty="0"/>
          </a:p>
        </p:txBody>
      </p:sp>
      <p:sp>
        <p:nvSpPr>
          <p:cNvPr id="19" name="Text 16"/>
          <p:cNvSpPr/>
          <p:nvPr/>
        </p:nvSpPr>
        <p:spPr>
          <a:xfrm>
            <a:off x="8375904" y="2596896"/>
            <a:ext cx="2807208"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Cúp và lời hẹn mùa sau</a:t>
            </a:r>
            <a:endParaRPr lang="en-US" sz="1700" dirty="0"/>
          </a:p>
        </p:txBody>
      </p:sp>
      <p:sp>
        <p:nvSpPr>
          <p:cNvPr id="20" name="Text 17"/>
          <p:cNvSpPr/>
          <p:nvPr/>
        </p:nvSpPr>
        <p:spPr>
          <a:xfrm>
            <a:off x="8375904" y="2999232"/>
            <a:ext cx="2807208"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Khóa định vị cho năm đầu và mở lời hẹn cho signature property thường niên.</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EXPERIENCE JOURNEY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Ngày sự kiện cần được viết như một đường cong cảm xúc, không phải một bảng giờ thi đấu.</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Mỗi mốc thời gian đều phải có một vai trò rõ ràng: dựng ý nghĩa, tạo cao trào hoặc kéo dài ký ức.</a:t>
            </a:r>
            <a:endParaRPr lang="en-US" sz="1100" dirty="0"/>
          </a:p>
        </p:txBody>
      </p:sp>
      <p:sp>
        <p:nvSpPr>
          <p:cNvPr id="6" name="Shape 3"/>
          <p:cNvSpPr/>
          <p:nvPr/>
        </p:nvSpPr>
        <p:spPr>
          <a:xfrm>
            <a:off x="822960" y="2029968"/>
            <a:ext cx="10561320" cy="438912"/>
          </a:xfrm>
          <a:prstGeom prst="roundRect">
            <a:avLst>
              <a:gd name="adj" fmla="val 10417"/>
            </a:avLst>
          </a:prstGeom>
          <a:solidFill>
            <a:srgbClr val="FFFFFF"/>
          </a:solidFill>
          <a:ln w="12700">
            <a:solidFill>
              <a:srgbClr val="D8E0E8"/>
            </a:solidFill>
            <a:prstDash val="solid"/>
          </a:ln>
        </p:spPr>
      </p:sp>
      <p:sp>
        <p:nvSpPr>
          <p:cNvPr id="7" name="Text 4"/>
          <p:cNvSpPr/>
          <p:nvPr/>
        </p:nvSpPr>
        <p:spPr>
          <a:xfrm>
            <a:off x="1024128" y="2148840"/>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06:00</a:t>
            </a:r>
            <a:endParaRPr lang="en-US" sz="1240" dirty="0"/>
          </a:p>
        </p:txBody>
      </p:sp>
      <p:sp>
        <p:nvSpPr>
          <p:cNvPr id="8" name="Text 5"/>
          <p:cNvSpPr/>
          <p:nvPr/>
        </p:nvSpPr>
        <p:spPr>
          <a:xfrm>
            <a:off x="1828800" y="2139696"/>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Khởi động cộng đồng</a:t>
            </a:r>
            <a:endParaRPr lang="en-US" sz="1220" dirty="0"/>
          </a:p>
        </p:txBody>
      </p:sp>
      <p:sp>
        <p:nvSpPr>
          <p:cNvPr id="9" name="Text 6"/>
          <p:cNvSpPr/>
          <p:nvPr/>
        </p:nvSpPr>
        <p:spPr>
          <a:xfrm>
            <a:off x="4919472" y="2139696"/>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Check-in bờ sông, media warm-up, activation đầu ngày</a:t>
            </a:r>
            <a:endParaRPr lang="en-US" sz="1100" dirty="0"/>
          </a:p>
        </p:txBody>
      </p:sp>
      <p:sp>
        <p:nvSpPr>
          <p:cNvPr id="10" name="Shape 7"/>
          <p:cNvSpPr/>
          <p:nvPr/>
        </p:nvSpPr>
        <p:spPr>
          <a:xfrm>
            <a:off x="822960" y="2596896"/>
            <a:ext cx="10561320" cy="438912"/>
          </a:xfrm>
          <a:prstGeom prst="roundRect">
            <a:avLst>
              <a:gd name="adj" fmla="val 10417"/>
            </a:avLst>
          </a:prstGeom>
          <a:solidFill>
            <a:srgbClr val="F6F8FB"/>
          </a:solidFill>
          <a:ln w="12700">
            <a:solidFill>
              <a:srgbClr val="D8E0E8"/>
            </a:solidFill>
            <a:prstDash val="solid"/>
          </a:ln>
        </p:spPr>
      </p:sp>
      <p:sp>
        <p:nvSpPr>
          <p:cNvPr id="11" name="Text 8"/>
          <p:cNvSpPr/>
          <p:nvPr/>
        </p:nvSpPr>
        <p:spPr>
          <a:xfrm>
            <a:off x="1024128" y="2715768"/>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07:00</a:t>
            </a:r>
            <a:endParaRPr lang="en-US" sz="1240" dirty="0"/>
          </a:p>
        </p:txBody>
      </p:sp>
      <p:sp>
        <p:nvSpPr>
          <p:cNvPr id="12" name="Text 9"/>
          <p:cNvSpPr/>
          <p:nvPr/>
        </p:nvSpPr>
        <p:spPr>
          <a:xfrm>
            <a:off x="1828800" y="2706624"/>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Lễ tôn vinh người cầm lái</a:t>
            </a:r>
            <a:endParaRPr lang="en-US" sz="1220" dirty="0"/>
          </a:p>
        </p:txBody>
      </p:sp>
      <p:sp>
        <p:nvSpPr>
          <p:cNvPr id="13" name="Text 10"/>
          <p:cNvSpPr/>
          <p:nvPr/>
        </p:nvSpPr>
        <p:spPr>
          <a:xfrm>
            <a:off x="4919472" y="2706624"/>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Mở màn bằng nghi thức và dignity</a:t>
            </a:r>
            <a:endParaRPr lang="en-US" sz="1100" dirty="0"/>
          </a:p>
        </p:txBody>
      </p:sp>
      <p:sp>
        <p:nvSpPr>
          <p:cNvPr id="14" name="Shape 11"/>
          <p:cNvSpPr/>
          <p:nvPr/>
        </p:nvSpPr>
        <p:spPr>
          <a:xfrm>
            <a:off x="822960" y="3163824"/>
            <a:ext cx="10561320" cy="438912"/>
          </a:xfrm>
          <a:prstGeom prst="roundRect">
            <a:avLst>
              <a:gd name="adj" fmla="val 10417"/>
            </a:avLst>
          </a:prstGeom>
          <a:solidFill>
            <a:srgbClr val="FFFFFF"/>
          </a:solidFill>
          <a:ln w="12700">
            <a:solidFill>
              <a:srgbClr val="D8E0E8"/>
            </a:solidFill>
            <a:prstDash val="solid"/>
          </a:ln>
        </p:spPr>
      </p:sp>
      <p:sp>
        <p:nvSpPr>
          <p:cNvPr id="15" name="Text 12"/>
          <p:cNvSpPr/>
          <p:nvPr/>
        </p:nvSpPr>
        <p:spPr>
          <a:xfrm>
            <a:off x="1024128" y="3282696"/>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08:00</a:t>
            </a:r>
            <a:endParaRPr lang="en-US" sz="1240" dirty="0"/>
          </a:p>
        </p:txBody>
      </p:sp>
      <p:sp>
        <p:nvSpPr>
          <p:cNvPr id="16" name="Text 13"/>
          <p:cNvSpPr/>
          <p:nvPr/>
        </p:nvSpPr>
        <p:spPr>
          <a:xfrm>
            <a:off x="1828800" y="3273552"/>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Đua vòng loại + kể chuyện trực tiếp</a:t>
            </a:r>
            <a:endParaRPr lang="en-US" sz="1220" dirty="0"/>
          </a:p>
        </p:txBody>
      </p:sp>
      <p:sp>
        <p:nvSpPr>
          <p:cNvPr id="17" name="Text 14"/>
          <p:cNvSpPr/>
          <p:nvPr/>
        </p:nvSpPr>
        <p:spPr>
          <a:xfrm>
            <a:off x="4919472" y="3273552"/>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Livestream layer thêm narrative thương hiệu</a:t>
            </a:r>
            <a:endParaRPr lang="en-US" sz="1100" dirty="0"/>
          </a:p>
        </p:txBody>
      </p:sp>
      <p:sp>
        <p:nvSpPr>
          <p:cNvPr id="18" name="Shape 15"/>
          <p:cNvSpPr/>
          <p:nvPr/>
        </p:nvSpPr>
        <p:spPr>
          <a:xfrm>
            <a:off x="822960" y="3730752"/>
            <a:ext cx="10561320" cy="438912"/>
          </a:xfrm>
          <a:prstGeom prst="roundRect">
            <a:avLst>
              <a:gd name="adj" fmla="val 10417"/>
            </a:avLst>
          </a:prstGeom>
          <a:solidFill>
            <a:srgbClr val="F6F8FB"/>
          </a:solidFill>
          <a:ln w="12700">
            <a:solidFill>
              <a:srgbClr val="D8E0E8"/>
            </a:solidFill>
            <a:prstDash val="solid"/>
          </a:ln>
        </p:spPr>
      </p:sp>
      <p:sp>
        <p:nvSpPr>
          <p:cNvPr id="19" name="Text 16"/>
          <p:cNvSpPr/>
          <p:nvPr/>
        </p:nvSpPr>
        <p:spPr>
          <a:xfrm>
            <a:off x="1024128" y="3849624"/>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10:30</a:t>
            </a:r>
            <a:endParaRPr lang="en-US" sz="1240" dirty="0"/>
          </a:p>
        </p:txBody>
      </p:sp>
      <p:sp>
        <p:nvSpPr>
          <p:cNvPr id="20" name="Text 17"/>
          <p:cNvSpPr/>
          <p:nvPr/>
        </p:nvSpPr>
        <p:spPr>
          <a:xfrm>
            <a:off x="1828800" y="3840480"/>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Activation cộng đồng</a:t>
            </a:r>
            <a:endParaRPr lang="en-US" sz="1220" dirty="0"/>
          </a:p>
        </p:txBody>
      </p:sp>
      <p:sp>
        <p:nvSpPr>
          <p:cNvPr id="21" name="Text 18"/>
          <p:cNvSpPr/>
          <p:nvPr/>
        </p:nvSpPr>
        <p:spPr>
          <a:xfrm>
            <a:off x="4919472" y="3840480"/>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Lời nhắn gia đình, social challenge, data capture</a:t>
            </a:r>
            <a:endParaRPr lang="en-US" sz="1100" dirty="0"/>
          </a:p>
        </p:txBody>
      </p:sp>
      <p:sp>
        <p:nvSpPr>
          <p:cNvPr id="22" name="Shape 19"/>
          <p:cNvSpPr/>
          <p:nvPr/>
        </p:nvSpPr>
        <p:spPr>
          <a:xfrm>
            <a:off x="822960" y="4297680"/>
            <a:ext cx="10561320" cy="438912"/>
          </a:xfrm>
          <a:prstGeom prst="roundRect">
            <a:avLst>
              <a:gd name="adj" fmla="val 10417"/>
            </a:avLst>
          </a:prstGeom>
          <a:solidFill>
            <a:srgbClr val="FFFFFF"/>
          </a:solidFill>
          <a:ln w="12700">
            <a:solidFill>
              <a:srgbClr val="D8E0E8"/>
            </a:solidFill>
            <a:prstDash val="solid"/>
          </a:ln>
        </p:spPr>
      </p:sp>
      <p:sp>
        <p:nvSpPr>
          <p:cNvPr id="23" name="Text 20"/>
          <p:cNvSpPr/>
          <p:nvPr/>
        </p:nvSpPr>
        <p:spPr>
          <a:xfrm>
            <a:off x="1024128" y="4416552"/>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14:00</a:t>
            </a:r>
            <a:endParaRPr lang="en-US" sz="1240" dirty="0"/>
          </a:p>
        </p:txBody>
      </p:sp>
      <p:sp>
        <p:nvSpPr>
          <p:cNvPr id="24" name="Text 21"/>
          <p:cNvSpPr/>
          <p:nvPr/>
        </p:nvSpPr>
        <p:spPr>
          <a:xfrm>
            <a:off x="1828800" y="4407408"/>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Chung kết + trao cúp</a:t>
            </a:r>
            <a:endParaRPr lang="en-US" sz="1220" dirty="0"/>
          </a:p>
        </p:txBody>
      </p:sp>
      <p:sp>
        <p:nvSpPr>
          <p:cNvPr id="25" name="Text 22"/>
          <p:cNvSpPr/>
          <p:nvPr/>
        </p:nvSpPr>
        <p:spPr>
          <a:xfrm>
            <a:off x="4919472" y="4407408"/>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Cao trào cạnh tranh và vinh danh</a:t>
            </a:r>
            <a:endParaRPr lang="en-US" sz="1100" dirty="0"/>
          </a:p>
        </p:txBody>
      </p:sp>
      <p:sp>
        <p:nvSpPr>
          <p:cNvPr id="26" name="Shape 23"/>
          <p:cNvSpPr/>
          <p:nvPr/>
        </p:nvSpPr>
        <p:spPr>
          <a:xfrm>
            <a:off x="822960" y="4864608"/>
            <a:ext cx="10561320" cy="438912"/>
          </a:xfrm>
          <a:prstGeom prst="roundRect">
            <a:avLst>
              <a:gd name="adj" fmla="val 10417"/>
            </a:avLst>
          </a:prstGeom>
          <a:solidFill>
            <a:srgbClr val="F6F8FB"/>
          </a:solidFill>
          <a:ln w="12700">
            <a:solidFill>
              <a:srgbClr val="D8E0E8"/>
            </a:solidFill>
            <a:prstDash val="solid"/>
          </a:ln>
        </p:spPr>
      </p:sp>
      <p:sp>
        <p:nvSpPr>
          <p:cNvPr id="27" name="Text 24"/>
          <p:cNvSpPr/>
          <p:nvPr/>
        </p:nvSpPr>
        <p:spPr>
          <a:xfrm>
            <a:off x="1024128" y="4983480"/>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18:30</a:t>
            </a:r>
            <a:endParaRPr lang="en-US" sz="1240" dirty="0"/>
          </a:p>
        </p:txBody>
      </p:sp>
      <p:sp>
        <p:nvSpPr>
          <p:cNvPr id="28" name="Text 25"/>
          <p:cNvSpPr/>
          <p:nvPr/>
        </p:nvSpPr>
        <p:spPr>
          <a:xfrm>
            <a:off x="1828800" y="4974336"/>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Closing spectacle</a:t>
            </a:r>
            <a:endParaRPr lang="en-US" sz="1220" dirty="0"/>
          </a:p>
        </p:txBody>
      </p:sp>
      <p:sp>
        <p:nvSpPr>
          <p:cNvPr id="29" name="Text 26"/>
          <p:cNvSpPr/>
          <p:nvPr/>
        </p:nvSpPr>
        <p:spPr>
          <a:xfrm>
            <a:off x="4919472" y="4974336"/>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Ánh sáng, drone, lời hẹn mùa sau</a:t>
            </a:r>
            <a:endParaRPr lang="en-US" sz="1100" dirty="0"/>
          </a:p>
        </p:txBody>
      </p:sp>
      <p:sp>
        <p:nvSpPr>
          <p:cNvPr id="30" name="Text 2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arlow"/>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rlow"/>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Bảo Việt Nhân Thọ</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BVNT Hue Boat Race Proposal 2026 v3</dc:title>
  <dc:subject>BVNT Hue Boat Race Proposal v3</dc:subject>
  <dc:creator>OpenAI Codex</dc:creator>
  <cp:lastModifiedBy>OpenAI Codex</cp:lastModifiedBy>
  <cp:revision>1</cp:revision>
  <dcterms:created xsi:type="dcterms:W3CDTF">2026-03-18T04:17:19Z</dcterms:created>
  <dcterms:modified xsi:type="dcterms:W3CDTF">2026-03-18T04:17:19Z</dcterms:modified>
</cp:coreProperties>
</file>