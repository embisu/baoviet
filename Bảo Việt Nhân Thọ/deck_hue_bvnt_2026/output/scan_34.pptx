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sp>
        <p:nvSpPr>
          <p:cNvPr id="21" name="Shape 18"/>
          <p:cNvSpPr/>
          <p:nvPr/>
        </p:nvSpPr>
        <p:spPr>
          <a:xfrm>
            <a:off x="822960" y="3255264"/>
            <a:ext cx="5349240" cy="2148840"/>
          </a:xfrm>
          <a:prstGeom prst="roundRect">
            <a:avLst>
              <a:gd name="adj" fmla="val 2128"/>
            </a:avLst>
          </a:prstGeom>
          <a:solidFill>
            <a:srgbClr val="EEF5FB"/>
          </a:solidFill>
          <a:ln w="12700">
            <a:solidFill>
              <a:srgbClr val="D8E0E8"/>
            </a:solidFill>
            <a:prstDash val="solid"/>
          </a:ln>
        </p:spPr>
      </p:sp>
      <p:sp>
        <p:nvSpPr>
          <p:cNvPr id="22" name="Text 19"/>
          <p:cNvSpPr/>
          <p:nvPr/>
        </p:nvSpPr>
        <p:spPr>
          <a:xfrm>
            <a:off x="1078992" y="3511296"/>
            <a:ext cx="201168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IMPACT ACROSS THE FUNNEL</a:t>
            </a:r>
            <a:endParaRPr lang="en-US" sz="950" dirty="0"/>
          </a:p>
        </p:txBody>
      </p:sp>
      <p:sp>
        <p:nvSpPr>
          <p:cNvPr id="23" name="Text 20"/>
          <p:cNvSpPr/>
          <p:nvPr/>
        </p:nvSpPr>
        <p:spPr>
          <a:xfrm>
            <a:off x="1078992" y="3840480"/>
            <a:ext cx="4480560" cy="530352"/>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Awareness mạnh hơn. Trust sâu hơn. Relevance văn hóa rõ hơn.</a:t>
            </a:r>
            <a:endParaRPr lang="en-US" sz="2200" dirty="0"/>
          </a:p>
        </p:txBody>
      </p:sp>
      <p:sp>
        <p:nvSpPr>
          <p:cNvPr id="24" name="Text 21"/>
          <p:cNvSpPr/>
          <p:nvPr/>
        </p:nvSpPr>
        <p:spPr>
          <a:xfrm>
            <a:off x="1078992" y="4590288"/>
            <a:ext cx="4526280" cy="42062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Đề xuất này không chỉ tạo độ phủ cho ngày đua, mà còn giúp thương hiệu được nhớ bằng một vai trò có ý nghĩa và có khả năng tích lũy.</a:t>
            </a:r>
            <a:endParaRPr lang="en-US" sz="1110" dirty="0"/>
          </a:p>
        </p:txBody>
      </p:sp>
      <p:sp>
        <p:nvSpPr>
          <p:cNvPr id="25" name="Shape 22"/>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6" name="Text 23"/>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7" name="Text 24"/>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8" name="Text 25"/>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9" name="Text 26"/>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Đo theo ba lớp: sức lan tỏa, chất lượng cảm nhận và động lực kinh doanh.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KPI cần đủ executive để boardroom đọc nhanh, nhưng vẫn đủ rõ để đội triển khai bám vào.</a:t>
            </a:r>
            <a:endParaRPr lang="en-US" sz="1100" dirty="0"/>
          </a:p>
        </p:txBody>
      </p:sp>
      <p:sp>
        <p:nvSpPr>
          <p:cNvPr id="6" name="Shape 3"/>
          <p:cNvSpPr/>
          <p:nvPr/>
        </p:nvSpPr>
        <p:spPr>
          <a:xfrm>
            <a:off x="822960" y="2048256"/>
            <a:ext cx="5074920" cy="3328416"/>
          </a:xfrm>
          <a:prstGeom prst="roundRect">
            <a:avLst>
              <a:gd name="adj" fmla="val 1374"/>
            </a:avLst>
          </a:prstGeom>
          <a:solidFill>
            <a:srgbClr val="FFFFFF"/>
          </a:solidFill>
          <a:ln w="12700">
            <a:solidFill>
              <a:srgbClr val="D8E0E8"/>
            </a:solidFill>
            <a:prstDash val="solid"/>
          </a:ln>
        </p:spPr>
      </p:sp>
      <p:sp>
        <p:nvSpPr>
          <p:cNvPr id="7" name="Text 4"/>
          <p:cNvSpPr/>
          <p:nvPr/>
        </p:nvSpPr>
        <p:spPr>
          <a:xfrm>
            <a:off x="1060704" y="2304288"/>
            <a:ext cx="109728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KPI</a:t>
            </a:r>
            <a:endParaRPr lang="en-US" sz="1000" dirty="0"/>
          </a:p>
        </p:txBody>
      </p:sp>
      <p:sp>
        <p:nvSpPr>
          <p:cNvPr id="8" name="Shape 5"/>
          <p:cNvSpPr/>
          <p:nvPr/>
        </p:nvSpPr>
        <p:spPr>
          <a:xfrm>
            <a:off x="1060704" y="2651760"/>
            <a:ext cx="4599432" cy="621792"/>
          </a:xfrm>
          <a:prstGeom prst="roundRect">
            <a:avLst>
              <a:gd name="adj" fmla="val 7353"/>
            </a:avLst>
          </a:prstGeom>
          <a:solidFill>
            <a:srgbClr val="FFFFFF"/>
          </a:solidFill>
          <a:ln w="12700">
            <a:solidFill>
              <a:srgbClr val="D8E0E8"/>
            </a:solidFill>
            <a:prstDash val="solid"/>
          </a:ln>
        </p:spPr>
      </p:sp>
      <p:sp>
        <p:nvSpPr>
          <p:cNvPr id="9" name="Text 6"/>
          <p:cNvSpPr/>
          <p:nvPr/>
        </p:nvSpPr>
        <p:spPr>
          <a:xfrm>
            <a:off x="1261872" y="2798064"/>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Visibility</a:t>
            </a:r>
            <a:endParaRPr lang="en-US" sz="1300" dirty="0"/>
          </a:p>
        </p:txBody>
      </p:sp>
      <p:sp>
        <p:nvSpPr>
          <p:cNvPr id="10" name="Text 7"/>
          <p:cNvSpPr/>
          <p:nvPr/>
        </p:nvSpPr>
        <p:spPr>
          <a:xfrm>
            <a:off x="1261872" y="2999232"/>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Reach, impressions, PR mentions, livestream views</a:t>
            </a:r>
            <a:endParaRPr lang="en-US" sz="1060" dirty="0"/>
          </a:p>
        </p:txBody>
      </p:sp>
      <p:sp>
        <p:nvSpPr>
          <p:cNvPr id="11" name="Shape 8"/>
          <p:cNvSpPr/>
          <p:nvPr/>
        </p:nvSpPr>
        <p:spPr>
          <a:xfrm>
            <a:off x="1060704" y="3493008"/>
            <a:ext cx="4599432" cy="621792"/>
          </a:xfrm>
          <a:prstGeom prst="roundRect">
            <a:avLst>
              <a:gd name="adj" fmla="val 7353"/>
            </a:avLst>
          </a:prstGeom>
          <a:solidFill>
            <a:srgbClr val="EEF5FB"/>
          </a:solidFill>
          <a:ln w="12700">
            <a:solidFill>
              <a:srgbClr val="D8E0E8"/>
            </a:solidFill>
            <a:prstDash val="solid"/>
          </a:ln>
        </p:spPr>
      </p:sp>
      <p:sp>
        <p:nvSpPr>
          <p:cNvPr id="12" name="Text 9"/>
          <p:cNvSpPr/>
          <p:nvPr/>
        </p:nvSpPr>
        <p:spPr>
          <a:xfrm>
            <a:off x="1261872" y="3639312"/>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Trust &amp; message fit</a:t>
            </a:r>
            <a:endParaRPr lang="en-US" sz="1300" dirty="0"/>
          </a:p>
        </p:txBody>
      </p:sp>
      <p:sp>
        <p:nvSpPr>
          <p:cNvPr id="13" name="Text 10"/>
          <p:cNvSpPr/>
          <p:nvPr/>
        </p:nvSpPr>
        <p:spPr>
          <a:xfrm>
            <a:off x="1261872" y="3840480"/>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Sentiment, message association, share of positive voice</a:t>
            </a:r>
            <a:endParaRPr lang="en-US" sz="1060" dirty="0"/>
          </a:p>
        </p:txBody>
      </p:sp>
      <p:sp>
        <p:nvSpPr>
          <p:cNvPr id="14" name="Shape 11"/>
          <p:cNvSpPr/>
          <p:nvPr/>
        </p:nvSpPr>
        <p:spPr>
          <a:xfrm>
            <a:off x="1060704" y="4334256"/>
            <a:ext cx="4599432" cy="621792"/>
          </a:xfrm>
          <a:prstGeom prst="roundRect">
            <a:avLst>
              <a:gd name="adj" fmla="val 7353"/>
            </a:avLst>
          </a:prstGeom>
          <a:solidFill>
            <a:srgbClr val="FFFFFF"/>
          </a:solidFill>
          <a:ln w="12700">
            <a:solidFill>
              <a:srgbClr val="D8E0E8"/>
            </a:solidFill>
            <a:prstDash val="solid"/>
          </a:ln>
        </p:spPr>
      </p:sp>
      <p:sp>
        <p:nvSpPr>
          <p:cNvPr id="15" name="Text 12"/>
          <p:cNvSpPr/>
          <p:nvPr/>
        </p:nvSpPr>
        <p:spPr>
          <a:xfrm>
            <a:off x="1261872" y="4480560"/>
            <a:ext cx="146304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6" name="Text 13"/>
          <p:cNvSpPr/>
          <p:nvPr/>
        </p:nvSpPr>
        <p:spPr>
          <a:xfrm>
            <a:off x="1261872" y="4681728"/>
            <a:ext cx="356616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UGC volume, completion rate, dwell time, participation</a:t>
            </a:r>
            <a:endParaRPr lang="en-US" sz="1060" dirty="0"/>
          </a:p>
        </p:txBody>
      </p:sp>
      <p:sp>
        <p:nvSpPr>
          <p:cNvPr id="17" name="Shape 14"/>
          <p:cNvSpPr/>
          <p:nvPr/>
        </p:nvSpPr>
        <p:spPr>
          <a:xfrm>
            <a:off x="6236208" y="2048256"/>
            <a:ext cx="5148072" cy="3328416"/>
          </a:xfrm>
          <a:prstGeom prst="roundRect">
            <a:avLst>
              <a:gd name="adj" fmla="val 1374"/>
            </a:avLst>
          </a:prstGeom>
          <a:solidFill>
            <a:srgbClr val="EEF5FB"/>
          </a:solidFill>
          <a:ln w="12700">
            <a:solidFill>
              <a:srgbClr val="D8E0E8"/>
            </a:solidFill>
            <a:prstDash val="solid"/>
          </a:ln>
        </p:spPr>
      </p:sp>
      <p:sp>
        <p:nvSpPr>
          <p:cNvPr id="18" name="Text 15"/>
          <p:cNvSpPr/>
          <p:nvPr/>
        </p:nvSpPr>
        <p:spPr>
          <a:xfrm>
            <a:off x="6473952" y="2304288"/>
            <a:ext cx="182880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BUSINESS &amp; PROPERTY KPI</a:t>
            </a:r>
            <a:endParaRPr lang="en-US" sz="1000" dirty="0"/>
          </a:p>
        </p:txBody>
      </p:sp>
      <p:sp>
        <p:nvSpPr>
          <p:cNvPr id="19" name="Shape 16"/>
          <p:cNvSpPr/>
          <p:nvPr/>
        </p:nvSpPr>
        <p:spPr>
          <a:xfrm>
            <a:off x="6473952" y="2651760"/>
            <a:ext cx="4672584" cy="621792"/>
          </a:xfrm>
          <a:prstGeom prst="roundRect">
            <a:avLst>
              <a:gd name="adj" fmla="val 7353"/>
            </a:avLst>
          </a:prstGeom>
          <a:solidFill>
            <a:srgbClr val="FFFFFF"/>
          </a:solidFill>
          <a:ln w="12700">
            <a:solidFill>
              <a:srgbClr val="D8E0E8"/>
            </a:solidFill>
            <a:prstDash val="solid"/>
          </a:ln>
        </p:spPr>
      </p:sp>
      <p:sp>
        <p:nvSpPr>
          <p:cNvPr id="20" name="Text 17"/>
          <p:cNvSpPr/>
          <p:nvPr/>
        </p:nvSpPr>
        <p:spPr>
          <a:xfrm>
            <a:off x="6675120" y="2798064"/>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21" name="Text 18"/>
          <p:cNvSpPr/>
          <p:nvPr/>
        </p:nvSpPr>
        <p:spPr>
          <a:xfrm>
            <a:off x="6675120" y="2999232"/>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Lead capture, qualified lead, consultation request</a:t>
            </a:r>
            <a:endParaRPr lang="en-US" sz="1060" dirty="0"/>
          </a:p>
        </p:txBody>
      </p:sp>
      <p:sp>
        <p:nvSpPr>
          <p:cNvPr id="22" name="Shape 19"/>
          <p:cNvSpPr/>
          <p:nvPr/>
        </p:nvSpPr>
        <p:spPr>
          <a:xfrm>
            <a:off x="6473952" y="3493008"/>
            <a:ext cx="4672584" cy="621792"/>
          </a:xfrm>
          <a:prstGeom prst="roundRect">
            <a:avLst>
              <a:gd name="adj" fmla="val 7353"/>
            </a:avLst>
          </a:prstGeom>
          <a:solidFill>
            <a:srgbClr val="F8F3E8"/>
          </a:solidFill>
          <a:ln w="12700">
            <a:solidFill>
              <a:srgbClr val="D8E0E8"/>
            </a:solidFill>
            <a:prstDash val="solid"/>
          </a:ln>
        </p:spPr>
      </p:sp>
      <p:sp>
        <p:nvSpPr>
          <p:cNvPr id="23" name="Text 20"/>
          <p:cNvSpPr/>
          <p:nvPr/>
        </p:nvSpPr>
        <p:spPr>
          <a:xfrm>
            <a:off x="6675120" y="3639312"/>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4" name="Text 21"/>
          <p:cNvSpPr/>
          <p:nvPr/>
        </p:nvSpPr>
        <p:spPr>
          <a:xfrm>
            <a:off x="6675120" y="3840480"/>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Partner interest, return intent, year-2 sponsorship premium</a:t>
            </a:r>
            <a:endParaRPr lang="en-US" sz="1060" dirty="0"/>
          </a:p>
        </p:txBody>
      </p:sp>
      <p:sp>
        <p:nvSpPr>
          <p:cNvPr id="25" name="Shape 22"/>
          <p:cNvSpPr/>
          <p:nvPr/>
        </p:nvSpPr>
        <p:spPr>
          <a:xfrm>
            <a:off x="6473952" y="4334256"/>
            <a:ext cx="4672584" cy="621792"/>
          </a:xfrm>
          <a:prstGeom prst="roundRect">
            <a:avLst>
              <a:gd name="adj" fmla="val 7353"/>
            </a:avLst>
          </a:prstGeom>
          <a:solidFill>
            <a:srgbClr val="F8F3E8"/>
          </a:solidFill>
          <a:ln w="12700">
            <a:solidFill>
              <a:srgbClr val="D8E0E8"/>
            </a:solidFill>
            <a:prstDash val="solid"/>
          </a:ln>
        </p:spPr>
      </p:sp>
      <p:sp>
        <p:nvSpPr>
          <p:cNvPr id="26" name="Text 23"/>
          <p:cNvSpPr/>
          <p:nvPr/>
        </p:nvSpPr>
        <p:spPr>
          <a:xfrm>
            <a:off x="6675120" y="4480560"/>
            <a:ext cx="1828800" cy="146304"/>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Success definition</a:t>
            </a:r>
            <a:endParaRPr lang="en-US" sz="1300" dirty="0"/>
          </a:p>
        </p:txBody>
      </p:sp>
      <p:sp>
        <p:nvSpPr>
          <p:cNvPr id="27" name="Text 24"/>
          <p:cNvSpPr/>
          <p:nvPr/>
        </p:nvSpPr>
        <p:spPr>
          <a:xfrm>
            <a:off x="6675120" y="4681728"/>
            <a:ext cx="3840480" cy="146304"/>
          </a:xfrm>
          <a:prstGeom prst="rect">
            <a:avLst/>
          </a:prstGeom>
          <a:noFill/>
          <a:ln/>
        </p:spPr>
        <p:txBody>
          <a:bodyPr wrap="square" lIns="0" tIns="0" rIns="0" bIns="0" rtlCol="0" anchor="t"/>
          <a:lstStyle/>
          <a:p>
            <a:pPr algn="l" indent="0" marL="0">
              <a:buNone/>
            </a:pPr>
            <a:r>
              <a:rPr lang="en-US" sz="1060" dirty="0">
                <a:solidFill>
                  <a:srgbClr val="5C6C7B"/>
                </a:solidFill>
                <a:latin typeface="Barlow" pitchFamily="34" charset="0"/>
                <a:ea typeface="Barlow" pitchFamily="34" charset="-122"/>
                <a:cs typeface="Barlow" pitchFamily="34" charset="-120"/>
              </a:rPr>
              <a:t>Brand được gắn với vai trò giữ nhịp gia đình và tạo quan tâm thực sự</a:t>
            </a:r>
            <a:endParaRPr lang="en-US" sz="106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ANNUAL SIGNATURE PROPERTY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Nếu được xây đúng từ năm đầu, giải đua này có thể trở thành tài sản văn hóa thường niên mang tên Bảo Việt Nhân Thọ.</a:t>
            </a:r>
            <a:endParaRPr lang="en-US" sz="1100" dirty="0"/>
          </a:p>
        </p:txBody>
      </p:sp>
      <p:sp>
        <p:nvSpPr>
          <p:cNvPr id="6" name="Shape 3"/>
          <p:cNvSpPr/>
          <p:nvPr/>
        </p:nvSpPr>
        <p:spPr>
          <a:xfrm>
            <a:off x="822960" y="2139696"/>
            <a:ext cx="3246120"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86000"/>
            <a:ext cx="2953512" cy="45720"/>
          </a:xfrm>
          <a:prstGeom prst="rect">
            <a:avLst/>
          </a:prstGeom>
          <a:solidFill>
            <a:srgbClr val="C99211"/>
          </a:solidFill>
          <a:ln w="12700">
            <a:solidFill>
              <a:srgbClr val="C99211"/>
            </a:solidFill>
            <a:prstDash val="solid"/>
          </a:ln>
        </p:spPr>
      </p:sp>
      <p:sp>
        <p:nvSpPr>
          <p:cNvPr id="8" name="Text 5"/>
          <p:cNvSpPr/>
          <p:nvPr/>
        </p:nvSpPr>
        <p:spPr>
          <a:xfrm>
            <a:off x="10241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1</a:t>
            </a:r>
            <a:endParaRPr lang="en-US" sz="920" dirty="0"/>
          </a:p>
        </p:txBody>
      </p:sp>
      <p:sp>
        <p:nvSpPr>
          <p:cNvPr id="9" name="Text 6"/>
          <p:cNvSpPr/>
          <p:nvPr/>
        </p:nvSpPr>
        <p:spPr>
          <a:xfrm>
            <a:off x="10241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Birth</a:t>
            </a:r>
            <a:endParaRPr lang="en-US" sz="1700" dirty="0"/>
          </a:p>
        </p:txBody>
      </p:sp>
      <p:sp>
        <p:nvSpPr>
          <p:cNvPr id="10" name="Text 7"/>
          <p:cNvSpPr/>
          <p:nvPr/>
        </p:nvSpPr>
        <p:spPr>
          <a:xfrm>
            <a:off x="10241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naming rights, sinh ra Big Idea và 3 WOW moments, tạo cảm nhận rằng đây là cuộc chơi nghiêm túc và xứng tầm.</a:t>
            </a:r>
            <a:endParaRPr lang="en-US" sz="1080" dirty="0"/>
          </a:p>
        </p:txBody>
      </p:sp>
      <p:sp>
        <p:nvSpPr>
          <p:cNvPr id="11" name="Shape 8"/>
          <p:cNvSpPr/>
          <p:nvPr/>
        </p:nvSpPr>
        <p:spPr>
          <a:xfrm>
            <a:off x="4480560" y="2139696"/>
            <a:ext cx="3246120"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626864" y="2286000"/>
            <a:ext cx="2953512" cy="45720"/>
          </a:xfrm>
          <a:prstGeom prst="rect">
            <a:avLst/>
          </a:prstGeom>
          <a:solidFill>
            <a:srgbClr val="0B6CB8"/>
          </a:solidFill>
          <a:ln w="12700">
            <a:solidFill>
              <a:srgbClr val="0B6CB8"/>
            </a:solidFill>
            <a:prstDash val="solid"/>
          </a:ln>
        </p:spPr>
      </p:sp>
      <p:sp>
        <p:nvSpPr>
          <p:cNvPr id="13" name="Text 10"/>
          <p:cNvSpPr/>
          <p:nvPr/>
        </p:nvSpPr>
        <p:spPr>
          <a:xfrm>
            <a:off x="4681728" y="2414016"/>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YEAR 2</a:t>
            </a:r>
            <a:endParaRPr lang="en-US" sz="920" dirty="0"/>
          </a:p>
        </p:txBody>
      </p:sp>
      <p:sp>
        <p:nvSpPr>
          <p:cNvPr id="14" name="Text 11"/>
          <p:cNvSpPr/>
          <p:nvPr/>
        </p:nvSpPr>
        <p:spPr>
          <a:xfrm>
            <a:off x="46817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Scale</a:t>
            </a:r>
            <a:endParaRPr lang="en-US" sz="1700" dirty="0"/>
          </a:p>
        </p:txBody>
      </p:sp>
      <p:sp>
        <p:nvSpPr>
          <p:cNvPr id="15" name="Text 12"/>
          <p:cNvSpPr/>
          <p:nvPr/>
        </p:nvSpPr>
        <p:spPr>
          <a:xfrm>
            <a:off x="46817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Mở rộng thành cultural week, tourism tie-in, family content platform và định giá lại premium tài trợ.</a:t>
            </a:r>
            <a:endParaRPr lang="en-US" sz="1080" dirty="0"/>
          </a:p>
        </p:txBody>
      </p:sp>
      <p:sp>
        <p:nvSpPr>
          <p:cNvPr id="16" name="Shape 13"/>
          <p:cNvSpPr/>
          <p:nvPr/>
        </p:nvSpPr>
        <p:spPr>
          <a:xfrm>
            <a:off x="8138160" y="2139696"/>
            <a:ext cx="3246120"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84464" y="2286000"/>
            <a:ext cx="2953512" cy="45720"/>
          </a:xfrm>
          <a:prstGeom prst="rect">
            <a:avLst/>
          </a:prstGeom>
          <a:solidFill>
            <a:srgbClr val="C99211"/>
          </a:solidFill>
          <a:ln w="12700">
            <a:solidFill>
              <a:srgbClr val="C99211"/>
            </a:solidFill>
            <a:prstDash val="solid"/>
          </a:ln>
        </p:spPr>
      </p:sp>
      <p:sp>
        <p:nvSpPr>
          <p:cNvPr id="18" name="Text 15"/>
          <p:cNvSpPr/>
          <p:nvPr/>
        </p:nvSpPr>
        <p:spPr>
          <a:xfrm>
            <a:off x="8339328" y="2414016"/>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YEAR 3+</a:t>
            </a:r>
            <a:endParaRPr lang="en-US" sz="920" dirty="0"/>
          </a:p>
        </p:txBody>
      </p:sp>
      <p:sp>
        <p:nvSpPr>
          <p:cNvPr id="19" name="Text 16"/>
          <p:cNvSpPr/>
          <p:nvPr/>
        </p:nvSpPr>
        <p:spPr>
          <a:xfrm>
            <a:off x="8339328" y="2670048"/>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Own the ritual</a:t>
            </a:r>
            <a:endParaRPr lang="en-US" sz="1700" dirty="0"/>
          </a:p>
        </p:txBody>
      </p:sp>
      <p:sp>
        <p:nvSpPr>
          <p:cNvPr id="20" name="Text 17"/>
          <p:cNvSpPr/>
          <p:nvPr/>
        </p:nvSpPr>
        <p:spPr>
          <a:xfrm>
            <a:off x="8339328" y="3072384"/>
            <a:ext cx="2843784"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event thành nghi lễ văn hóa - thương hiệu mà công chúng chờ đợi mỗi mùa Quốc khánh.</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2026-03-18T04:19:12Z</dcterms:created>
  <dcterms:modified xsi:type="dcterms:W3CDTF">2026-03-18T04:19:12Z</dcterms:modified>
</cp:coreProperties>
</file>